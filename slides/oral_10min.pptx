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 (Title). ~30s.
Good [morning/afternoon]. I'm Zeming Liang, and with Xiying Chen and our collaborator we built an end-to-end ML system that predicts the 2020-21 Premier League from twenty-one seasons of self-collected data.
We picked football because the data is small, the variance is huge, and there is a sharp betting market that prices games for a living — so beating it, or even getting close, is a real test of every step of the pipeline. In ten minutes I'll walk you scraping → NLP → features → six models → results → live app. By the last slide you'll know what we built, the headline number, and how we read it honestly.
[~30s. Then click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 (The question). ~50s.
Picking up from the title — what does "predicting the Premier League" actually mean?
Three increasingly hard bars to clear. Beat random — 33% floor. Beat naive priors — always-pick-Home is already 46%. And beat the bookmakers, whose closing odds aggregate every sharp's bets right up to kickoff.
On the right, four interlinked targets. Match outcome: H/D/A with calibrated probabilities. Exact score: Dixon-Coles bivariate Poisson. Final standings: ten thousand Monte Carlo seasons. Beat-the-bookmaker: Kelly-fractional ROI on the hold-out. Same probabilistic engine drives all four — and a model can be well-calibrated on H/D/A yet produce a nonsense table, which is why we test all four.
[~50s. Click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3 (Why this is hard). ~50s.
Before I show what we built, expectations honestly. Football is one of the hardest sports to model, and 2020-21 is the worst-case version of it.
Tiny data: 380 matches per season, twenty-one seasons, under 8k rows. High variance: one deflected goal flips an outcome and the underlying skill didn't change. Sharp bookmakers: Pinnacle's closing odds are the closest thing to real-time market-priced probabilities outside finance. Distribution shift: Covid 2020-21 was played behind closed doors and home-win rate collapsed from 46% to 38% — textbook regime change on the hold-out.
Plus three promoted teams every August have zero Premier League history. We picked this season deliberately — even the bookmakers struggled with it.
[~50s. Click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4 (Data sources). ~50s.
Onto the data. No Kaggle — we scraped every byte ourselves from five independent sources. Big numbers on the left: 7,890 matches, 21 seasons, 45 engineered features.
Top of the table: football-data.co.uk gives results and the closing odds that become our hardest baseline. ClubElo gives daily Elo ratings since 2000. FBref via soccerdata gives advanced stats including expected goals, but only from 2017-18. Wikipedia gives manager and promotion context.
The coral row is the showpiece. BBC went JS-only mid-project, so we pivoted to Wikipedia season recaps — same NLP pipeline, seven leakage-safe columns. That's the unstructured-to-structured story on the next slide.
[~50s. Click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5 (Cleaning showcase). ~55s.
Onto the NLP pipeline — the slide I'm most proud of, because the rubric calls out unstructured data and most teams stop at CSVs.
Four stages along the top. Scrape: BBC and Guardian pages are JS-rendered, so we use a headless fetcher and pivot to the static Wikipedia recap on failure. Parse: BeautifulSoup pulls article text. NLP: spaCy NER for player mentions, VADER per-team sentiment via sentence attribution, regex tags for red cards, penalties, VAR. Twelve columns flow out.
Worked example. Input is one sentence calling Liverpool sloppy and noting a controversial VAR call. Output: negative home sentiment, mildly positive away, VAR count one, controversy flag fires.
Critically — the leakage guard in the banner — these NLP features are joined as PRIOR-season aggregates per team. A match report never describes its own match.
[~55s. Slow down — this is the rubric magnet.]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6 (EDA). ~50s.
Three EDA findings shaped how we built the model.
Big chart left: home-win rate by season. Twenty years flat around 46%, then 2020-21 falls off a cliff to 38% — the Covid empty-stadiums effect. The single most important fact about our test set.
Top right: PCA on team-season aggregate stats, K-means into four clusters. Pink Cluster 3 is the elite top-six like City and Liverpool, orange Cluster 1 is the relegation fight. Both the PC components and the cluster ID feed the supervised model — that's our unsupervised hook.
Bottom right: scoreline frequency heatmap. Mass clustered at 1-1, 1-0, 2-1, 2-0 — Poisson with a low-score correction, exactly what Dixon-Coles fits.
Banner takeaway: regime shift on test, Poisson-shaped joint.
[~50s. Click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7 (Feature engineering). ~55s.
Carrying EDA into features — six families on the left.
Form: rolling 3/5/10-match goals, points, xG. Strength: ClubElo + our own Elo, home minus away. Context: rest days, derby flag, manager tenure. Market: Pinnacle implied probabilities, vig removed. Unsupervised: PCA-2 + K-means cluster ID, our rubric hook (chart on right). NLP: per-team sentiment, event tags, controversy flag.
The bottom rail is the discipline story. Football's classic trap is random k-fold leaking the future. We never use it — walk-forward only, every rolling feature uses a strict as_of cutoff, and that invariant is unit-tested in CI on every push.
If you remember one thing from this slide: walk-forward CV is the hill we will die on — it is football modelling's classic mistake and the reason most public benchmarks overstate accuracy.
[~55s. Speed up if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8 (Models). ~50s.
With features set, the model zoo — three baselines, three models, plus Dixon-Coles, all on the same walk-forward CV.
Top to bottom. Always-Home: sanity floor that exposes log-loss penalties. Class-Prior: historical 46/25/29 frequencies — the calibration floor. Market-Implied: Pinnacle close, vig-removed — the hardest baseline. Multinomial LR: our interpretable workhorse for sanity-checks. Random Forest: non-linear, robust to noisy features. XGBoost: tabular state-of-the-art, tuned for log-loss. Dixon-Coles: bivariate Poisson — same fit gives exact scores and H/D/A by marginal.
Validation strip: walk-forward, train through 2018-19, validate 2019-20, hold out 2020-21. Every hyperparameter tuned for log-loss — proper scoring rule, three-class accuracy is too coarse.
[~50s. Click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9 (Results — PUNCH LINE). ~70s.
The most important slide of the talk. Also the most honest one.
Sorted by log-loss, the market-implied baseline leads — Pinnacle closing odds with the vig removed, log-loss 0.997. The chart on the right shows why: the market sits almost exactly on the diagonal. Essentially perfectly calibrated — when they say sixty percent, the home team wins about sixty percent. That is the ceiling.
Random Forest is second — log-loss 1.02, only 0.02 worse than the market. LR and XGBoost trail. The naive baselines both get 38% accuracy. Look at the always-home log-loss in coral: 22.4. That is what assigning probability one to the wrong class costs. Log-loss is a proper scoring rule and it punishes confident wrong predictions catastrophically — which is exactly why log-loss, not accuracy, is our headline metric.
The honest finding: the market is genuinely hard to beat. We get within touching distance using features the market presumably already prices. We are NOT going to spin that into "we beat the bookies" — knowing why we don't surpass them is the result.
[Full 70s. The moment of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10 (Bonus targets). ~45s.
Building on the per-match results, three bonus targets — all stress-tests of the same engine.
Exact score from Dixon-Coles. Bivariate Poisson with daily exponential decay plus the tau correction that fixes the under-prediction of low-low scorelines. Shipped.
Final standings via Monte Carlo. Ten thousand simulated 380-match seasons; aggregate gives title, top-four, relegation probabilities with bands. Chart on the right is the actual 2020-21 standings — the target. Shipped.
Beat-the-bookmaker. Kelly-fractional, capped at 5%, bet only on positive edge. ROI on hold-out is conviction in dollars. Scaffolded — betting harness runs in the app, back-test in the appendix.
All three targets share one engine — that is why calibration on H/D/A pays off everywhere else, and why the slide-9 ceiling is the upper bound on every bonus target too.
[~50s. Click to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11 (Live demo). ~60s — DEMO IS THE STAR.
Time to make this real — switching to the live Shiny app on Posit Connect Cloud.
Step one: click Predict tab, pick Liverpool vs Arsenal. Model probabilities and market probabilities side-by-side; coral marks any positive edge. Step two: show that on most matches the model and market agree within a couple of points — mirrors the leaderboard. Step three: hit Run season simulation. Ten thousand Monte Carlo seasons render in about three seconds; hover any team for title, top-four, and relegation probabilities with bands.
If the cloud breaks, fall back to the backup screenshots in figures/11_app_*.png — same three steps.
[~60s with the live transition. Click to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12 (Conclusion + team). ~45s.
Coming back from the demo — wrapping up.
The one line: we built an end-to-end pipeline that gets within 0.023 log-loss of the bookmaker on the 2020-21 hold-out, and we know exactly why we don't beat them. The last clause matters as much as the first — the closing market is nearly perfectly calibrated, so this ceiling is rational to respect, not to spin around.
Future work: in-play features (live xG, possession-by-half, lineup deltas), hierarchical Bayes for tighter cold-start on promoted clubs, and a stacked ensemble blending RF + Dixon-Coles + market.
Team contributions on the right. Zeming: coordination, scrapers, modelling, deployment. Elina: EDA, unsupervised features, NLP, report. Collaborator's contribution to be confirmed before submission. Code, leaderboard CSV, and companion report public on GitHub.
Thank you. Questions?
[~45s. Transition to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B9D9EB"/>
          </a:solidFill>
          <a:ln/>
        </p:spPr>
      </p:sp>
      <p:sp>
        <p:nvSpPr>
          <p:cNvPr id="3" name="Shape 1"/>
          <p:cNvSpPr/>
          <p:nvPr/>
        </p:nvSpPr>
        <p:spPr>
          <a:xfrm>
            <a:off x="274320" y="0"/>
            <a:ext cx="36576" cy="5143500"/>
          </a:xfrm>
          <a:prstGeom prst="rect">
            <a:avLst/>
          </a:prstGeom>
          <a:solidFill>
            <a:srgbClr val="7FB3D5"/>
          </a:solidFill>
          <a:ln/>
        </p:spPr>
      </p:sp>
      <p:sp>
        <p:nvSpPr>
          <p:cNvPr id="4" name="Shape 2"/>
          <p:cNvSpPr/>
          <p:nvPr/>
        </p:nvSpPr>
        <p:spPr>
          <a:xfrm>
            <a:off x="384048" y="0"/>
            <a:ext cx="18288" cy="5143500"/>
          </a:xfrm>
          <a:prstGeom prst="rect">
            <a:avLst/>
          </a:prstGeom>
          <a:solidFill>
            <a:srgbClr val="E07A5F"/>
          </a:solidFill>
          <a:ln/>
        </p:spPr>
      </p:sp>
      <p:sp>
        <p:nvSpPr>
          <p:cNvPr id="5" name="Shape 3"/>
          <p:cNvSpPr/>
          <p:nvPr/>
        </p:nvSpPr>
        <p:spPr>
          <a:xfrm>
            <a:off x="8979408" y="0"/>
            <a:ext cx="164592" cy="5143500"/>
          </a:xfrm>
          <a:prstGeom prst="rect">
            <a:avLst/>
          </a:prstGeom>
          <a:solidFill>
            <a:srgbClr val="13315C"/>
          </a:solidFill>
          <a:ln/>
        </p:spPr>
      </p:sp>
      <p:sp>
        <p:nvSpPr>
          <p:cNvPr id="6" name="Shape 4"/>
          <p:cNvSpPr/>
          <p:nvPr/>
        </p:nvSpPr>
        <p:spPr>
          <a:xfrm>
            <a:off x="9107424" y="0"/>
            <a:ext cx="36576" cy="5143500"/>
          </a:xfrm>
          <a:prstGeom prst="rect">
            <a:avLst/>
          </a:prstGeom>
          <a:solidFill>
            <a:srgbClr val="7FB3D5"/>
          </a:solidFill>
          <a:ln/>
        </p:spPr>
      </p:sp>
      <p:sp>
        <p:nvSpPr>
          <p:cNvPr id="7" name="Text 5"/>
          <p:cNvSpPr/>
          <p:nvPr/>
        </p:nvSpPr>
        <p:spPr>
          <a:xfrm>
            <a:off x="777240" y="457200"/>
            <a:ext cx="7589520" cy="274320"/>
          </a:xfrm>
          <a:prstGeom prst="rect">
            <a:avLst/>
          </a:prstGeom>
          <a:noFill/>
          <a:ln/>
        </p:spPr>
        <p:txBody>
          <a:bodyPr wrap="square" lIns="0" tIns="0" rIns="0" bIns="0" rtlCol="0" anchor="ctr"/>
          <a:lstStyle/>
          <a:p>
            <a:pPr indent="0" marL="0">
              <a:buNone/>
            </a:pPr>
            <a:r>
              <a:rPr lang="en-US" sz="1100" b="1" spc="500" kern="0" dirty="0">
                <a:solidFill>
                  <a:srgbClr val="B9D9EB"/>
                </a:solidFill>
                <a:latin typeface="Calibri" pitchFamily="34" charset="0"/>
                <a:ea typeface="Calibri" pitchFamily="34" charset="-122"/>
                <a:cs typeface="Calibri" pitchFamily="34" charset="-120"/>
              </a:rPr>
              <a:t>STAT 5243   ·   PROJECT 4 FINAL   ·   COLUMBIA UNIVERSITY</a:t>
            </a:r>
            <a:endParaRPr lang="en-US" sz="1100" dirty="0"/>
          </a:p>
        </p:txBody>
      </p:sp>
      <p:sp>
        <p:nvSpPr>
          <p:cNvPr id="8" name="Text 6"/>
          <p:cNvSpPr/>
          <p:nvPr/>
        </p:nvSpPr>
        <p:spPr>
          <a:xfrm>
            <a:off x="777240" y="777240"/>
            <a:ext cx="8229600" cy="365760"/>
          </a:xfrm>
          <a:prstGeom prst="rect">
            <a:avLst/>
          </a:prstGeom>
          <a:noFill/>
          <a:ln/>
        </p:spPr>
        <p:txBody>
          <a:bodyPr wrap="square" lIns="0" tIns="0" rIns="0" bIns="0" rtlCol="0" anchor="ctr"/>
          <a:lstStyle/>
          <a:p>
            <a:pPr indent="0" marL="0">
              <a:buNone/>
            </a:pPr>
            <a:r>
              <a:rPr lang="en-US" sz="1600" i="1" dirty="0">
                <a:solidFill>
                  <a:srgbClr val="B9D9EB"/>
                </a:solidFill>
                <a:latin typeface="Georgia" pitchFamily="34" charset="0"/>
                <a:ea typeface="Georgia" pitchFamily="34" charset="-122"/>
                <a:cs typeface="Georgia" pitchFamily="34" charset="-120"/>
              </a:rPr>
              <a:t>Can a student team predict 380 Premier League matches — and beat the bookmakers?</a:t>
            </a:r>
            <a:endParaRPr lang="en-US" sz="1600" dirty="0"/>
          </a:p>
        </p:txBody>
      </p:sp>
      <p:sp>
        <p:nvSpPr>
          <p:cNvPr id="9" name="Text 7"/>
          <p:cNvSpPr/>
          <p:nvPr/>
        </p:nvSpPr>
        <p:spPr>
          <a:xfrm>
            <a:off x="777240" y="1188720"/>
            <a:ext cx="8229600" cy="1600200"/>
          </a:xfrm>
          <a:prstGeom prst="rect">
            <a:avLst/>
          </a:prstGeom>
          <a:noFill/>
          <a:ln/>
        </p:spPr>
        <p:txBody>
          <a:bodyPr wrap="square" lIns="0" tIns="0" rIns="0" bIns="0" rtlCol="0" anchor="ctr"/>
          <a:lstStyle/>
          <a:p>
            <a:pPr indent="0" marL="0">
              <a:lnSpc>
                <a:spcPct val="105000"/>
              </a:lnSpc>
              <a:buNone/>
            </a:pPr>
            <a:r>
              <a:rPr lang="en-US" sz="3800" b="1" dirty="0">
                <a:solidFill>
                  <a:srgbClr val="FFFFFF"/>
                </a:solidFill>
                <a:latin typeface="Georgia" pitchFamily="34" charset="0"/>
                <a:ea typeface="Georgia" pitchFamily="34" charset="-122"/>
                <a:cs typeface="Georgia" pitchFamily="34" charset="-120"/>
              </a:rPr>
              <a:t>Predicting the 2020-21</a:t>
            </a:r>
            <a:endParaRPr lang="en-US" sz="3800" dirty="0"/>
          </a:p>
          <a:p>
            <a:pPr indent="0" marL="0">
              <a:lnSpc>
                <a:spcPct val="105000"/>
              </a:lnSpc>
              <a:buNone/>
            </a:pPr>
            <a:r>
              <a:rPr lang="en-US" sz="3800" b="1" dirty="0">
                <a:solidFill>
                  <a:srgbClr val="FFFFFF"/>
                </a:solidFill>
                <a:latin typeface="Georgia" pitchFamily="34" charset="0"/>
                <a:ea typeface="Georgia" pitchFamily="34" charset="-122"/>
                <a:cs typeface="Georgia" pitchFamily="34" charset="-120"/>
              </a:rPr>
              <a:t>Premier League</a:t>
            </a:r>
            <a:endParaRPr lang="en-US" sz="3800" dirty="0"/>
          </a:p>
        </p:txBody>
      </p:sp>
      <p:sp>
        <p:nvSpPr>
          <p:cNvPr id="10" name="Shape 8"/>
          <p:cNvSpPr/>
          <p:nvPr/>
        </p:nvSpPr>
        <p:spPr>
          <a:xfrm>
            <a:off x="777240" y="2834640"/>
            <a:ext cx="1280160" cy="54864"/>
          </a:xfrm>
          <a:prstGeom prst="rect">
            <a:avLst/>
          </a:prstGeom>
          <a:solidFill>
            <a:srgbClr val="E07A5F"/>
          </a:solidFill>
          <a:ln/>
        </p:spPr>
      </p:sp>
      <p:sp>
        <p:nvSpPr>
          <p:cNvPr id="11" name="Text 9"/>
          <p:cNvSpPr/>
          <p:nvPr/>
        </p:nvSpPr>
        <p:spPr>
          <a:xfrm>
            <a:off x="777240" y="2971800"/>
            <a:ext cx="7589520" cy="384048"/>
          </a:xfrm>
          <a:prstGeom prst="rect">
            <a:avLst/>
          </a:prstGeom>
          <a:noFill/>
          <a:ln/>
        </p:spPr>
        <p:txBody>
          <a:bodyPr wrap="square" lIns="0" tIns="0" rIns="0" bIns="0" rtlCol="0" anchor="ctr"/>
          <a:lstStyle/>
          <a:p>
            <a:pPr indent="0" marL="0">
              <a:buNone/>
            </a:pPr>
            <a:r>
              <a:rPr lang="en-US" sz="1600" i="1" dirty="0">
                <a:solidFill>
                  <a:srgbClr val="B9D9EB"/>
                </a:solidFill>
                <a:latin typeface="Georgia" pitchFamily="34" charset="0"/>
                <a:ea typeface="Georgia" pitchFamily="34" charset="-122"/>
                <a:cs typeface="Georgia" pitchFamily="34" charset="-120"/>
              </a:rPr>
              <a:t>Outcome  ·  exact score  ·  final table  ·  ROI — four targets, one probabilistic engine</a:t>
            </a:r>
            <a:endParaRPr lang="en-US" sz="1600" dirty="0"/>
          </a:p>
        </p:txBody>
      </p:sp>
      <p:sp>
        <p:nvSpPr>
          <p:cNvPr id="12" name="Text 10"/>
          <p:cNvSpPr/>
          <p:nvPr/>
        </p:nvSpPr>
        <p:spPr>
          <a:xfrm>
            <a:off x="777240" y="3611880"/>
            <a:ext cx="7589520" cy="960120"/>
          </a:xfrm>
          <a:prstGeom prst="rect">
            <a:avLst/>
          </a:prstGeom>
          <a:noFill/>
          <a:ln/>
        </p:spPr>
        <p:txBody>
          <a:bodyPr wrap="square" lIns="0" tIns="0" rIns="0" bIns="0" rtlCol="0" anchor="ctr"/>
          <a:lstStyle/>
          <a:p>
            <a:pPr indent="0" marL="0">
              <a:lnSpc>
                <a:spcPct val="125000"/>
              </a:lnSpc>
              <a:buNone/>
            </a:pPr>
            <a:r>
              <a:rPr lang="en-US" sz="1300" b="1" dirty="0">
                <a:solidFill>
                  <a:srgbClr val="FFFFFF"/>
                </a:solidFill>
                <a:latin typeface="Calibri" pitchFamily="34" charset="0"/>
                <a:ea typeface="Calibri" pitchFamily="34" charset="-122"/>
                <a:cs typeface="Calibri" pitchFamily="34" charset="-120"/>
              </a:rPr>
              <a:t>Zeming Liang</a:t>
            </a:r>
            <a:pPr indent="0" marL="0">
              <a:lnSpc>
                <a:spcPct val="125000"/>
              </a:lnSpc>
              <a:buNone/>
            </a:pPr>
            <a:r>
              <a:rPr lang="en-US" sz="1300" dirty="0">
                <a:solidFill>
                  <a:srgbClr val="B9D9EB"/>
                </a:solidFill>
                <a:latin typeface="Calibri" pitchFamily="34" charset="0"/>
                <a:ea typeface="Calibri" pitchFamily="34" charset="-122"/>
                <a:cs typeface="Calibri" pitchFamily="34" charset="-120"/>
              </a:rPr>
              <a:t>  zl3688
</a:t>
            </a:r>
            <a:pPr indent="0" marL="0">
              <a:lnSpc>
                <a:spcPct val="125000"/>
              </a:lnSpc>
              <a:buNone/>
            </a:pPr>
            <a:r>
              <a:rPr lang="en-US" sz="1300" b="1" dirty="0">
                <a:solidFill>
                  <a:srgbClr val="FFFFFF"/>
                </a:solidFill>
                <a:latin typeface="Calibri" pitchFamily="34" charset="0"/>
                <a:ea typeface="Calibri" pitchFamily="34" charset="-122"/>
                <a:cs typeface="Calibri" pitchFamily="34" charset="-120"/>
              </a:rPr>
              <a:t>Xiying (Elina) Chen</a:t>
            </a:r>
            <a:pPr indent="0" marL="0">
              <a:lnSpc>
                <a:spcPct val="125000"/>
              </a:lnSpc>
              <a:buNone/>
            </a:pPr>
            <a:r>
              <a:rPr lang="en-US" sz="1300" dirty="0">
                <a:solidFill>
                  <a:srgbClr val="B9D9EB"/>
                </a:solidFill>
                <a:latin typeface="Calibri" pitchFamily="34" charset="0"/>
                <a:ea typeface="Calibri" pitchFamily="34" charset="-122"/>
                <a:cs typeface="Calibri" pitchFamily="34" charset="-120"/>
              </a:rPr>
              <a:t>  xiyingchen
</a:t>
            </a:r>
            <a:pPr indent="0" marL="0">
              <a:lnSpc>
                <a:spcPct val="125000"/>
              </a:lnSpc>
              <a:buNone/>
            </a:pPr>
            <a:r>
              <a:rPr lang="en-US" sz="1300" b="1" dirty="0">
                <a:solidFill>
                  <a:srgbClr val="FFFFFF"/>
                </a:solidFill>
                <a:latin typeface="Calibri" pitchFamily="34" charset="0"/>
                <a:ea typeface="Calibri" pitchFamily="34" charset="-122"/>
                <a:cs typeface="Calibri" pitchFamily="34" charset="-120"/>
              </a:rPr>
              <a:t>Collaborator</a:t>
            </a:r>
            <a:pPr indent="0" marL="0">
              <a:lnSpc>
                <a:spcPct val="125000"/>
              </a:lnSpc>
              <a:buNone/>
            </a:pPr>
            <a:r>
              <a:rPr lang="en-US" sz="1300" dirty="0">
                <a:solidFill>
                  <a:srgbClr val="B9D9EB"/>
                </a:solidFill>
                <a:latin typeface="Calibri" pitchFamily="34" charset="0"/>
                <a:ea typeface="Calibri" pitchFamily="34" charset="-122"/>
                <a:cs typeface="Calibri" pitchFamily="34" charset="-120"/>
              </a:rPr>
              <a:t>  yh3945-cmd</a:t>
            </a:r>
            <a:endParaRPr lang="en-US" sz="1300" dirty="0"/>
          </a:p>
        </p:txBody>
      </p:sp>
      <p:sp>
        <p:nvSpPr>
          <p:cNvPr id="13" name="Text 11"/>
          <p:cNvSpPr/>
          <p:nvPr/>
        </p:nvSpPr>
        <p:spPr>
          <a:xfrm>
            <a:off x="777240" y="4663440"/>
            <a:ext cx="7589520" cy="274320"/>
          </a:xfrm>
          <a:prstGeom prst="rect">
            <a:avLst/>
          </a:prstGeom>
          <a:noFill/>
          <a:ln/>
        </p:spPr>
        <p:txBody>
          <a:bodyPr wrap="square" lIns="0" tIns="0" rIns="0" bIns="0" rtlCol="0" anchor="ctr"/>
          <a:lstStyle/>
          <a:p>
            <a:pPr indent="0" marL="0">
              <a:buNone/>
            </a:pPr>
            <a:r>
              <a:rPr lang="en-US" sz="1000" i="1" dirty="0">
                <a:solidFill>
                  <a:srgbClr val="7FB3D5"/>
                </a:solidFill>
                <a:latin typeface="Calibri" pitchFamily="34" charset="0"/>
                <a:ea typeface="Calibri" pitchFamily="34" charset="-122"/>
                <a:cs typeface="Calibri" pitchFamily="34" charset="-120"/>
              </a:rPr>
              <a:t>github.com/ZemingLiang/STAT5243-Project-4   ·   2026-05-05</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B9D9EB"/>
          </a:solidFill>
          <a:ln/>
        </p:spPr>
      </p:sp>
      <p:sp>
        <p:nvSpPr>
          <p:cNvPr id="3" name="Shape 1"/>
          <p:cNvSpPr/>
          <p:nvPr/>
        </p:nvSpPr>
        <p:spPr>
          <a:xfrm>
            <a:off x="457200" y="4759452"/>
            <a:ext cx="8229600" cy="10973"/>
          </a:xfrm>
          <a:prstGeom prst="rect">
            <a:avLst/>
          </a:prstGeom>
          <a:solidFill>
            <a:srgbClr val="D7DEE5"/>
          </a:solidFill>
          <a:ln/>
        </p:spPr>
      </p:sp>
      <p:sp>
        <p:nvSpPr>
          <p:cNvPr id="4" name="Text 2"/>
          <p:cNvSpPr/>
          <p:nvPr/>
        </p:nvSpPr>
        <p:spPr>
          <a:xfrm>
            <a:off x="457200" y="4814316"/>
            <a:ext cx="7772400" cy="256032"/>
          </a:xfrm>
          <a:prstGeom prst="rect">
            <a:avLst/>
          </a:prstGeom>
          <a:noFill/>
          <a:ln/>
        </p:spPr>
        <p:txBody>
          <a:bodyPr wrap="square" lIns="0" tIns="0" rIns="0" bIns="0" rtlCol="0" anchor="ctr"/>
          <a:lstStyle/>
          <a:p>
            <a:pPr algn="l" indent="0" marL="0">
              <a:buNone/>
            </a:pPr>
            <a:r>
              <a:rPr lang="en-US" sz="900" dirty="0">
                <a:solidFill>
                  <a:srgbClr val="5A6573"/>
                </a:solidFill>
                <a:latin typeface="Calibri" pitchFamily="34" charset="0"/>
                <a:ea typeface="Calibri" pitchFamily="34" charset="-122"/>
                <a:cs typeface="Calibri" pitchFamily="34" charset="-120"/>
              </a:rPr>
              <a:t>STAT 5243 Project 4   ·   Liang · Chen · Collaborator   ·   2026-05-05</a:t>
            </a:r>
            <a:endParaRPr lang="en-US" sz="900" dirty="0"/>
          </a:p>
        </p:txBody>
      </p:sp>
      <p:sp>
        <p:nvSpPr>
          <p:cNvPr id="5" name="Text 3"/>
          <p:cNvSpPr/>
          <p:nvPr/>
        </p:nvSpPr>
        <p:spPr>
          <a:xfrm>
            <a:off x="8046720" y="4814316"/>
            <a:ext cx="640080" cy="256032"/>
          </a:xfrm>
          <a:prstGeom prst="rect">
            <a:avLst/>
          </a:prstGeom>
          <a:noFill/>
          <a:ln/>
        </p:spPr>
        <p:txBody>
          <a:bodyPr wrap="square" lIns="0" tIns="0" rIns="0" bIns="0" rtlCol="0" anchor="ctr"/>
          <a:lstStyle/>
          <a:p>
            <a:pPr algn="r" indent="0" marL="0">
              <a:buNone/>
            </a:pPr>
            <a:r>
              <a:rPr lang="en-US" sz="900" dirty="0">
                <a:solidFill>
                  <a:srgbClr val="5A6573"/>
                </a:solidFill>
                <a:latin typeface="Calibri" pitchFamily="34" charset="0"/>
                <a:ea typeface="Calibri" pitchFamily="34" charset="-122"/>
                <a:cs typeface="Calibri" pitchFamily="34" charset="-120"/>
              </a:rPr>
              <a:t>2 / 12</a:t>
            </a:r>
            <a:endParaRPr lang="en-US" sz="900" dirty="0"/>
          </a:p>
        </p:txBody>
      </p:sp>
      <p:sp>
        <p:nvSpPr>
          <p:cNvPr id="6" name="Text 4"/>
          <p:cNvSpPr/>
          <p:nvPr/>
        </p:nvSpPr>
        <p:spPr>
          <a:xfrm>
            <a:off x="457200" y="274320"/>
            <a:ext cx="8229600" cy="274320"/>
          </a:xfrm>
          <a:prstGeom prst="rect">
            <a:avLst/>
          </a:prstGeom>
          <a:noFill/>
          <a:ln/>
        </p:spPr>
        <p:txBody>
          <a:bodyPr wrap="square" lIns="0" tIns="0" rIns="0" bIns="0" rtlCol="0" anchor="ctr"/>
          <a:lstStyle/>
          <a:p>
            <a:pPr indent="0" marL="0">
              <a:buNone/>
            </a:pPr>
            <a:r>
              <a:rPr lang="en-US" sz="1100" b="1" spc="400" kern="0" dirty="0">
                <a:solidFill>
                  <a:srgbClr val="7FB3D5"/>
                </a:solidFill>
                <a:latin typeface="Calibri" pitchFamily="34" charset="0"/>
                <a:ea typeface="Calibri" pitchFamily="34" charset="-122"/>
                <a:cs typeface="Calibri" pitchFamily="34" charset="-120"/>
              </a:rPr>
              <a:t>THE QUESTION</a:t>
            </a:r>
            <a:endParaRPr lang="en-US" sz="1100" dirty="0"/>
          </a:p>
        </p:txBody>
      </p:sp>
      <p:sp>
        <p:nvSpPr>
          <p:cNvPr id="7" name="Text 5"/>
          <p:cNvSpPr/>
          <p:nvPr/>
        </p:nvSpPr>
        <p:spPr>
          <a:xfrm>
            <a:off x="457200" y="548640"/>
            <a:ext cx="8229600" cy="868680"/>
          </a:xfrm>
          <a:prstGeom prst="rect">
            <a:avLst/>
          </a:prstGeom>
          <a:noFill/>
          <a:ln/>
        </p:spPr>
        <p:txBody>
          <a:bodyPr wrap="square" lIns="0" tIns="0" rIns="0" bIns="0" rtlCol="0" anchor="ctr"/>
          <a:lstStyle/>
          <a:p>
            <a:pPr indent="0" marL="0">
              <a:lnSpc>
                <a:spcPct val="105000"/>
              </a:lnSpc>
              <a:buNone/>
            </a:pPr>
            <a:r>
              <a:rPr lang="en-US" sz="2400" b="1" dirty="0">
                <a:solidFill>
                  <a:srgbClr val="0B2545"/>
                </a:solidFill>
                <a:latin typeface="Georgia" pitchFamily="34" charset="0"/>
                <a:ea typeface="Georgia" pitchFamily="34" charset="-122"/>
                <a:cs typeface="Georgia" pitchFamily="34" charset="-120"/>
              </a:rPr>
              <a:t>We chase four interlinked targets — not one.</a:t>
            </a:r>
            <a:endParaRPr lang="en-US" sz="2400" dirty="0"/>
          </a:p>
        </p:txBody>
      </p:sp>
      <p:sp>
        <p:nvSpPr>
          <p:cNvPr id="8" name="Text 6"/>
          <p:cNvSpPr/>
          <p:nvPr/>
        </p:nvSpPr>
        <p:spPr>
          <a:xfrm>
            <a:off x="457200" y="1508760"/>
            <a:ext cx="4937760" cy="292608"/>
          </a:xfrm>
          <a:prstGeom prst="rect">
            <a:avLst/>
          </a:prstGeom>
          <a:noFill/>
          <a:ln/>
        </p:spPr>
        <p:txBody>
          <a:bodyPr wrap="square" lIns="0" tIns="0" rIns="0" bIns="0" rtlCol="0" anchor="ctr"/>
          <a:lstStyle/>
          <a:p>
            <a:pPr indent="0" marL="0">
              <a:buNone/>
            </a:pPr>
            <a:r>
              <a:rPr lang="en-US" sz="1400" b="1" dirty="0">
                <a:solidFill>
                  <a:srgbClr val="1F2933"/>
                </a:solidFill>
                <a:latin typeface="Calibri" pitchFamily="34" charset="0"/>
                <a:ea typeface="Calibri" pitchFamily="34" charset="-122"/>
                <a:cs typeface="Calibri" pitchFamily="34" charset="-120"/>
              </a:rPr>
              <a:t>Three increasingly hard bars to clear:</a:t>
            </a:r>
            <a:endParaRPr lang="en-US" sz="1400" dirty="0"/>
          </a:p>
        </p:txBody>
      </p:sp>
      <p:sp>
        <p:nvSpPr>
          <p:cNvPr id="9" name="Text 7"/>
          <p:cNvSpPr/>
          <p:nvPr/>
        </p:nvSpPr>
        <p:spPr>
          <a:xfrm>
            <a:off x="457200" y="1874520"/>
            <a:ext cx="4937760" cy="1417320"/>
          </a:xfrm>
          <a:prstGeom prst="rect">
            <a:avLst/>
          </a:prstGeom>
          <a:noFill/>
          <a:ln/>
        </p:spPr>
        <p:txBody>
          <a:bodyPr wrap="square" lIns="0" tIns="0" rIns="0" bIns="0" rtlCol="0" anchor="ctr"/>
          <a:lstStyle/>
          <a:p>
            <a:pPr indent="0" marL="0">
              <a:lnSpc>
                <a:spcPct val="130000"/>
              </a:lnSpc>
              <a:spcAft>
                <a:spcPts val="800"/>
              </a:spcAft>
              <a:buNone/>
            </a:pPr>
            <a:r>
              <a:rPr lang="en-US" sz="1350" b="1" dirty="0">
                <a:solidFill>
                  <a:srgbClr val="1F2933"/>
                </a:solidFill>
                <a:latin typeface="Calibri" pitchFamily="34" charset="0"/>
                <a:ea typeface="Calibri" pitchFamily="34" charset="-122"/>
                <a:cs typeface="Calibri" pitchFamily="34" charset="-120"/>
              </a:rPr>
              <a:t>Better than random.   </a:t>
            </a:r>
            <a:pPr indent="0" marL="0">
              <a:lnSpc>
                <a:spcPct val="130000"/>
              </a:lnSpc>
              <a:spcAft>
                <a:spcPts val="800"/>
              </a:spcAft>
              <a:buNone/>
            </a:pPr>
            <a:r>
              <a:rPr lang="en-US" sz="1350" dirty="0">
                <a:solidFill>
                  <a:srgbClr val="5A6573"/>
                </a:solidFill>
                <a:latin typeface="Calibri" pitchFamily="34" charset="0"/>
                <a:ea typeface="Calibri" pitchFamily="34" charset="-122"/>
                <a:cs typeface="Calibri" pitchFamily="34" charset="-120"/>
              </a:rPr>
              <a:t>33% accuracy floor.
</a:t>
            </a:r>
            <a:pPr indent="0" marL="0">
              <a:lnSpc>
                <a:spcPct val="130000"/>
              </a:lnSpc>
              <a:spcAft>
                <a:spcPts val="800"/>
              </a:spcAft>
              <a:buNone/>
            </a:pPr>
            <a:r>
              <a:rPr lang="en-US" sz="1350" b="1" dirty="0">
                <a:solidFill>
                  <a:srgbClr val="1F2933"/>
                </a:solidFill>
                <a:latin typeface="Calibri" pitchFamily="34" charset="0"/>
                <a:ea typeface="Calibri" pitchFamily="34" charset="-122"/>
                <a:cs typeface="Calibri" pitchFamily="34" charset="-120"/>
              </a:rPr>
              <a:t>Better than naive priors.   </a:t>
            </a:r>
            <a:pPr indent="0" marL="0">
              <a:lnSpc>
                <a:spcPct val="130000"/>
              </a:lnSpc>
              <a:spcAft>
                <a:spcPts val="800"/>
              </a:spcAft>
              <a:buNone/>
            </a:pPr>
            <a:r>
              <a:rPr lang="en-US" sz="1350" dirty="0">
                <a:solidFill>
                  <a:srgbClr val="5A6573"/>
                </a:solidFill>
                <a:latin typeface="Calibri" pitchFamily="34" charset="0"/>
                <a:ea typeface="Calibri" pitchFamily="34" charset="-122"/>
                <a:cs typeface="Calibri" pitchFamily="34" charset="-120"/>
              </a:rPr>
              <a:t>Always-pick-Home ≈ 46%.
</a:t>
            </a:r>
            <a:pPr indent="0" marL="0">
              <a:lnSpc>
                <a:spcPct val="130000"/>
              </a:lnSpc>
              <a:spcAft>
                <a:spcPts val="800"/>
              </a:spcAft>
              <a:buNone/>
            </a:pPr>
            <a:r>
              <a:rPr lang="en-US" sz="1350" b="1" dirty="0">
                <a:solidFill>
                  <a:srgbClr val="1F2933"/>
                </a:solidFill>
                <a:latin typeface="Calibri" pitchFamily="34" charset="0"/>
                <a:ea typeface="Calibri" pitchFamily="34" charset="-122"/>
                <a:cs typeface="Calibri" pitchFamily="34" charset="-120"/>
              </a:rPr>
              <a:t>Better than the bookmakers.   </a:t>
            </a:r>
            <a:pPr indent="0" marL="0">
              <a:lnSpc>
                <a:spcPct val="130000"/>
              </a:lnSpc>
              <a:spcAft>
                <a:spcPts val="800"/>
              </a:spcAft>
              <a:buNone/>
            </a:pPr>
            <a:r>
              <a:rPr lang="en-US" sz="1350" dirty="0">
                <a:solidFill>
                  <a:srgbClr val="5A6573"/>
                </a:solidFill>
                <a:latin typeface="Calibri" pitchFamily="34" charset="0"/>
                <a:ea typeface="Calibri" pitchFamily="34" charset="-122"/>
                <a:cs typeface="Calibri" pitchFamily="34" charset="-120"/>
              </a:rPr>
              <a:t>Sharps are the hardest baseline of all.</a:t>
            </a:r>
            <a:endParaRPr lang="en-US" sz="1350" dirty="0"/>
          </a:p>
        </p:txBody>
      </p:sp>
      <p:sp>
        <p:nvSpPr>
          <p:cNvPr id="10" name="Text 8"/>
          <p:cNvSpPr/>
          <p:nvPr/>
        </p:nvSpPr>
        <p:spPr>
          <a:xfrm>
            <a:off x="457200" y="3383280"/>
            <a:ext cx="4937760" cy="274320"/>
          </a:xfrm>
          <a:prstGeom prst="rect">
            <a:avLst/>
          </a:prstGeom>
          <a:noFill/>
          <a:ln/>
        </p:spPr>
        <p:txBody>
          <a:bodyPr wrap="square" lIns="0" tIns="0" rIns="0" bIns="0" rtlCol="0" anchor="ctr"/>
          <a:lstStyle/>
          <a:p>
            <a:pPr indent="0" marL="0">
              <a:buNone/>
            </a:pPr>
            <a:r>
              <a:rPr lang="en-US" sz="1250" i="1" dirty="0">
                <a:solidFill>
                  <a:srgbClr val="13315C"/>
                </a:solidFill>
                <a:latin typeface="Georgia" pitchFamily="34" charset="0"/>
                <a:ea typeface="Georgia" pitchFamily="34" charset="-122"/>
                <a:cs typeface="Georgia" pitchFamily="34" charset="-120"/>
              </a:rPr>
              <a:t>Same probabilistic engine, four different stress tests.</a:t>
            </a:r>
            <a:endParaRPr lang="en-US" sz="1250" dirty="0"/>
          </a:p>
        </p:txBody>
      </p:sp>
      <p:sp>
        <p:nvSpPr>
          <p:cNvPr id="11" name="Shape 9"/>
          <p:cNvSpPr/>
          <p:nvPr/>
        </p:nvSpPr>
        <p:spPr>
          <a:xfrm>
            <a:off x="5577840" y="1463040"/>
            <a:ext cx="1508760" cy="1188720"/>
          </a:xfrm>
          <a:prstGeom prst="rect">
            <a:avLst/>
          </a:prstGeom>
          <a:solidFill>
            <a:srgbClr val="FFFFFF"/>
          </a:solidFill>
          <a:ln w="9525">
            <a:solidFill>
              <a:srgbClr val="D7DEE5"/>
            </a:solidFill>
            <a:prstDash val="solid"/>
          </a:ln>
          <a:effectLst>
            <a:outerShdw sx="100000" sy="100000" kx="0" ky="0" algn="bl" rotWithShape="0" blurRad="101600" dist="25400" dir="8100000">
              <a:srgbClr val="000000">
                <a:alpha val="10000"/>
              </a:srgbClr>
            </a:outerShdw>
          </a:effectLst>
        </p:spPr>
      </p:sp>
      <p:sp>
        <p:nvSpPr>
          <p:cNvPr id="12" name="Shape 10"/>
          <p:cNvSpPr/>
          <p:nvPr/>
        </p:nvSpPr>
        <p:spPr>
          <a:xfrm>
            <a:off x="5577840" y="1463040"/>
            <a:ext cx="1508760" cy="54864"/>
          </a:xfrm>
          <a:prstGeom prst="rect">
            <a:avLst/>
          </a:prstGeom>
          <a:solidFill>
            <a:srgbClr val="E07A5F"/>
          </a:solidFill>
          <a:ln/>
        </p:spPr>
      </p:sp>
      <p:sp>
        <p:nvSpPr>
          <p:cNvPr id="13" name="Text 11"/>
          <p:cNvSpPr/>
          <p:nvPr/>
        </p:nvSpPr>
        <p:spPr>
          <a:xfrm>
            <a:off x="5669280" y="1627632"/>
            <a:ext cx="1325880" cy="365760"/>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Match outcome</a:t>
            </a:r>
            <a:endParaRPr lang="en-US" sz="1150" dirty="0"/>
          </a:p>
        </p:txBody>
      </p:sp>
      <p:sp>
        <p:nvSpPr>
          <p:cNvPr id="14" name="Text 12"/>
          <p:cNvSpPr/>
          <p:nvPr/>
        </p:nvSpPr>
        <p:spPr>
          <a:xfrm>
            <a:off x="5669280" y="2011680"/>
            <a:ext cx="1325880" cy="594360"/>
          </a:xfrm>
          <a:prstGeom prst="rect">
            <a:avLst/>
          </a:prstGeom>
          <a:noFill/>
          <a:ln/>
        </p:spPr>
        <p:txBody>
          <a:bodyPr wrap="square" lIns="0" tIns="0" rIns="0" bIns="0" rtlCol="0" anchor="ctr"/>
          <a:lstStyle/>
          <a:p>
            <a:pPr indent="0" marL="0">
              <a:lnSpc>
                <a:spcPct val="120000"/>
              </a:lnSpc>
              <a:buNone/>
            </a:pPr>
            <a:r>
              <a:rPr lang="en-US" sz="950" dirty="0">
                <a:solidFill>
                  <a:srgbClr val="5A6573"/>
                </a:solidFill>
                <a:latin typeface="Calibri" pitchFamily="34" charset="0"/>
                <a:ea typeface="Calibri" pitchFamily="34" charset="-122"/>
                <a:cs typeface="Calibri" pitchFamily="34" charset="-120"/>
              </a:rPr>
              <a:t>Home / Draw / Away — 3-class probabilistic</a:t>
            </a:r>
            <a:endParaRPr lang="en-US" sz="950" dirty="0"/>
          </a:p>
        </p:txBody>
      </p:sp>
      <p:sp>
        <p:nvSpPr>
          <p:cNvPr id="15" name="Shape 13"/>
          <p:cNvSpPr/>
          <p:nvPr/>
        </p:nvSpPr>
        <p:spPr>
          <a:xfrm>
            <a:off x="7178040" y="1463040"/>
            <a:ext cx="1508760" cy="1188720"/>
          </a:xfrm>
          <a:prstGeom prst="rect">
            <a:avLst/>
          </a:prstGeom>
          <a:solidFill>
            <a:srgbClr val="FFFFFF"/>
          </a:solidFill>
          <a:ln w="9525">
            <a:solidFill>
              <a:srgbClr val="D7DEE5"/>
            </a:solidFill>
            <a:prstDash val="solid"/>
          </a:ln>
          <a:effectLst>
            <a:outerShdw sx="100000" sy="100000" kx="0" ky="0" algn="bl" rotWithShape="0" blurRad="101600" dist="25400" dir="8100000">
              <a:srgbClr val="000000">
                <a:alpha val="10000"/>
              </a:srgbClr>
            </a:outerShdw>
          </a:effectLst>
        </p:spPr>
      </p:sp>
      <p:sp>
        <p:nvSpPr>
          <p:cNvPr id="16" name="Shape 14"/>
          <p:cNvSpPr/>
          <p:nvPr/>
        </p:nvSpPr>
        <p:spPr>
          <a:xfrm>
            <a:off x="7178040" y="1463040"/>
            <a:ext cx="1508760" cy="54864"/>
          </a:xfrm>
          <a:prstGeom prst="rect">
            <a:avLst/>
          </a:prstGeom>
          <a:solidFill>
            <a:srgbClr val="E07A5F"/>
          </a:solidFill>
          <a:ln/>
        </p:spPr>
      </p:sp>
      <p:sp>
        <p:nvSpPr>
          <p:cNvPr id="17" name="Text 15"/>
          <p:cNvSpPr/>
          <p:nvPr/>
        </p:nvSpPr>
        <p:spPr>
          <a:xfrm>
            <a:off x="7269480" y="1627632"/>
            <a:ext cx="1325880" cy="365760"/>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Exact score</a:t>
            </a:r>
            <a:endParaRPr lang="en-US" sz="1150" dirty="0"/>
          </a:p>
        </p:txBody>
      </p:sp>
      <p:sp>
        <p:nvSpPr>
          <p:cNvPr id="18" name="Text 16"/>
          <p:cNvSpPr/>
          <p:nvPr/>
        </p:nvSpPr>
        <p:spPr>
          <a:xfrm>
            <a:off x="7269480" y="2011680"/>
            <a:ext cx="1325880" cy="594360"/>
          </a:xfrm>
          <a:prstGeom prst="rect">
            <a:avLst/>
          </a:prstGeom>
          <a:noFill/>
          <a:ln/>
        </p:spPr>
        <p:txBody>
          <a:bodyPr wrap="square" lIns="0" tIns="0" rIns="0" bIns="0" rtlCol="0" anchor="ctr"/>
          <a:lstStyle/>
          <a:p>
            <a:pPr indent="0" marL="0">
              <a:lnSpc>
                <a:spcPct val="120000"/>
              </a:lnSpc>
              <a:buNone/>
            </a:pPr>
            <a:r>
              <a:rPr lang="en-US" sz="950" dirty="0">
                <a:solidFill>
                  <a:srgbClr val="5A6573"/>
                </a:solidFill>
                <a:latin typeface="Calibri" pitchFamily="34" charset="0"/>
                <a:ea typeface="Calibri" pitchFamily="34" charset="-122"/>
                <a:cs typeface="Calibri" pitchFamily="34" charset="-120"/>
              </a:rPr>
              <a:t>Bivariate Poisson via Dixon-Coles</a:t>
            </a:r>
            <a:endParaRPr lang="en-US" sz="950" dirty="0"/>
          </a:p>
        </p:txBody>
      </p:sp>
      <p:sp>
        <p:nvSpPr>
          <p:cNvPr id="19" name="Shape 17"/>
          <p:cNvSpPr/>
          <p:nvPr/>
        </p:nvSpPr>
        <p:spPr>
          <a:xfrm>
            <a:off x="5577840" y="2743200"/>
            <a:ext cx="1508760" cy="1188720"/>
          </a:xfrm>
          <a:prstGeom prst="rect">
            <a:avLst/>
          </a:prstGeom>
          <a:solidFill>
            <a:srgbClr val="FFFFFF"/>
          </a:solidFill>
          <a:ln w="9525">
            <a:solidFill>
              <a:srgbClr val="D7DEE5"/>
            </a:solidFill>
            <a:prstDash val="solid"/>
          </a:ln>
          <a:effectLst>
            <a:outerShdw sx="100000" sy="100000" kx="0" ky="0" algn="bl" rotWithShape="0" blurRad="101600" dist="25400" dir="8100000">
              <a:srgbClr val="000000">
                <a:alpha val="10000"/>
              </a:srgbClr>
            </a:outerShdw>
          </a:effectLst>
        </p:spPr>
      </p:sp>
      <p:sp>
        <p:nvSpPr>
          <p:cNvPr id="20" name="Shape 18"/>
          <p:cNvSpPr/>
          <p:nvPr/>
        </p:nvSpPr>
        <p:spPr>
          <a:xfrm>
            <a:off x="5577840" y="2743200"/>
            <a:ext cx="1508760" cy="54864"/>
          </a:xfrm>
          <a:prstGeom prst="rect">
            <a:avLst/>
          </a:prstGeom>
          <a:solidFill>
            <a:srgbClr val="E07A5F"/>
          </a:solidFill>
          <a:ln/>
        </p:spPr>
      </p:sp>
      <p:sp>
        <p:nvSpPr>
          <p:cNvPr id="21" name="Text 19"/>
          <p:cNvSpPr/>
          <p:nvPr/>
        </p:nvSpPr>
        <p:spPr>
          <a:xfrm>
            <a:off x="5669280" y="2907792"/>
            <a:ext cx="1325880" cy="365760"/>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Final standings</a:t>
            </a:r>
            <a:endParaRPr lang="en-US" sz="1150" dirty="0"/>
          </a:p>
        </p:txBody>
      </p:sp>
      <p:sp>
        <p:nvSpPr>
          <p:cNvPr id="22" name="Text 20"/>
          <p:cNvSpPr/>
          <p:nvPr/>
        </p:nvSpPr>
        <p:spPr>
          <a:xfrm>
            <a:off x="5669280" y="3291840"/>
            <a:ext cx="1325880" cy="594360"/>
          </a:xfrm>
          <a:prstGeom prst="rect">
            <a:avLst/>
          </a:prstGeom>
          <a:noFill/>
          <a:ln/>
        </p:spPr>
        <p:txBody>
          <a:bodyPr wrap="square" lIns="0" tIns="0" rIns="0" bIns="0" rtlCol="0" anchor="ctr"/>
          <a:lstStyle/>
          <a:p>
            <a:pPr indent="0" marL="0">
              <a:lnSpc>
                <a:spcPct val="120000"/>
              </a:lnSpc>
              <a:buNone/>
            </a:pPr>
            <a:r>
              <a:rPr lang="en-US" sz="950" dirty="0">
                <a:solidFill>
                  <a:srgbClr val="5A6573"/>
                </a:solidFill>
                <a:latin typeface="Calibri" pitchFamily="34" charset="0"/>
                <a:ea typeface="Calibri" pitchFamily="34" charset="-122"/>
                <a:cs typeface="Calibri" pitchFamily="34" charset="-120"/>
              </a:rPr>
              <a:t>Monte Carlo simulation, 10k iterations</a:t>
            </a:r>
            <a:endParaRPr lang="en-US" sz="950" dirty="0"/>
          </a:p>
        </p:txBody>
      </p:sp>
      <p:sp>
        <p:nvSpPr>
          <p:cNvPr id="23" name="Shape 21"/>
          <p:cNvSpPr/>
          <p:nvPr/>
        </p:nvSpPr>
        <p:spPr>
          <a:xfrm>
            <a:off x="7178040" y="2743200"/>
            <a:ext cx="1508760" cy="1188720"/>
          </a:xfrm>
          <a:prstGeom prst="rect">
            <a:avLst/>
          </a:prstGeom>
          <a:solidFill>
            <a:srgbClr val="FFFFFF"/>
          </a:solidFill>
          <a:ln w="9525">
            <a:solidFill>
              <a:srgbClr val="D7DEE5"/>
            </a:solidFill>
            <a:prstDash val="solid"/>
          </a:ln>
          <a:effectLst>
            <a:outerShdw sx="100000" sy="100000" kx="0" ky="0" algn="bl" rotWithShape="0" blurRad="101600" dist="25400" dir="8100000">
              <a:srgbClr val="000000">
                <a:alpha val="10000"/>
              </a:srgbClr>
            </a:outerShdw>
          </a:effectLst>
        </p:spPr>
      </p:sp>
      <p:sp>
        <p:nvSpPr>
          <p:cNvPr id="24" name="Shape 22"/>
          <p:cNvSpPr/>
          <p:nvPr/>
        </p:nvSpPr>
        <p:spPr>
          <a:xfrm>
            <a:off x="7178040" y="2743200"/>
            <a:ext cx="1508760" cy="54864"/>
          </a:xfrm>
          <a:prstGeom prst="rect">
            <a:avLst/>
          </a:prstGeom>
          <a:solidFill>
            <a:srgbClr val="E07A5F"/>
          </a:solidFill>
          <a:ln/>
        </p:spPr>
      </p:sp>
      <p:sp>
        <p:nvSpPr>
          <p:cNvPr id="25" name="Text 23"/>
          <p:cNvSpPr/>
          <p:nvPr/>
        </p:nvSpPr>
        <p:spPr>
          <a:xfrm>
            <a:off x="7269480" y="2907792"/>
            <a:ext cx="1325880" cy="365760"/>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Beat the bookmaker</a:t>
            </a:r>
            <a:endParaRPr lang="en-US" sz="1150" dirty="0"/>
          </a:p>
        </p:txBody>
      </p:sp>
      <p:sp>
        <p:nvSpPr>
          <p:cNvPr id="26" name="Text 24"/>
          <p:cNvSpPr/>
          <p:nvPr/>
        </p:nvSpPr>
        <p:spPr>
          <a:xfrm>
            <a:off x="7269480" y="3291840"/>
            <a:ext cx="1325880" cy="594360"/>
          </a:xfrm>
          <a:prstGeom prst="rect">
            <a:avLst/>
          </a:prstGeom>
          <a:noFill/>
          <a:ln/>
        </p:spPr>
        <p:txBody>
          <a:bodyPr wrap="square" lIns="0" tIns="0" rIns="0" bIns="0" rtlCol="0" anchor="ctr"/>
          <a:lstStyle/>
          <a:p>
            <a:pPr indent="0" marL="0">
              <a:lnSpc>
                <a:spcPct val="120000"/>
              </a:lnSpc>
              <a:buNone/>
            </a:pPr>
            <a:r>
              <a:rPr lang="en-US" sz="950" dirty="0">
                <a:solidFill>
                  <a:srgbClr val="5A6573"/>
                </a:solidFill>
                <a:latin typeface="Calibri" pitchFamily="34" charset="0"/>
                <a:ea typeface="Calibri" pitchFamily="34" charset="-122"/>
                <a:cs typeface="Calibri" pitchFamily="34" charset="-120"/>
              </a:rPr>
              <a:t>Kelly-fractional ROI vs Pinnacle close</a:t>
            </a:r>
            <a:endParaRPr lang="en-US" sz="950" dirty="0"/>
          </a:p>
        </p:txBody>
      </p:sp>
      <p:sp>
        <p:nvSpPr>
          <p:cNvPr id="27" name="Text 25"/>
          <p:cNvSpPr/>
          <p:nvPr/>
        </p:nvSpPr>
        <p:spPr>
          <a:xfrm>
            <a:off x="5577840" y="1188720"/>
            <a:ext cx="3108960" cy="237744"/>
          </a:xfrm>
          <a:prstGeom prst="rect">
            <a:avLst/>
          </a:prstGeom>
          <a:noFill/>
          <a:ln/>
        </p:spPr>
        <p:txBody>
          <a:bodyPr wrap="square" lIns="0" tIns="0" rIns="0" bIns="0" rtlCol="0" anchor="ctr"/>
          <a:lstStyle/>
          <a:p>
            <a:pPr indent="0" marL="0">
              <a:buNone/>
            </a:pPr>
            <a:r>
              <a:rPr lang="en-US" sz="1000" b="1" spc="400" kern="0" dirty="0">
                <a:solidFill>
                  <a:srgbClr val="13315C"/>
                </a:solidFill>
                <a:latin typeface="Calibri" pitchFamily="34" charset="0"/>
                <a:ea typeface="Calibri" pitchFamily="34" charset="-122"/>
                <a:cs typeface="Calibri" pitchFamily="34" charset="-120"/>
              </a:rPr>
              <a:t>FOUR TARGETS</a:t>
            </a:r>
            <a:endParaRPr lang="en-US" sz="1000" dirty="0"/>
          </a:p>
        </p:txBody>
      </p:sp>
      <p:sp>
        <p:nvSpPr>
          <p:cNvPr id="28" name="Shape 26"/>
          <p:cNvSpPr/>
          <p:nvPr/>
        </p:nvSpPr>
        <p:spPr>
          <a:xfrm>
            <a:off x="457200" y="4114800"/>
            <a:ext cx="8229600" cy="566928"/>
          </a:xfrm>
          <a:prstGeom prst="rect">
            <a:avLst/>
          </a:prstGeom>
          <a:solidFill>
            <a:srgbClr val="0B2545"/>
          </a:solidFill>
          <a:ln/>
        </p:spPr>
      </p:sp>
      <p:sp>
        <p:nvSpPr>
          <p:cNvPr id="29" name="Shape 27"/>
          <p:cNvSpPr/>
          <p:nvPr/>
        </p:nvSpPr>
        <p:spPr>
          <a:xfrm>
            <a:off x="457200" y="4114800"/>
            <a:ext cx="54864" cy="566928"/>
          </a:xfrm>
          <a:prstGeom prst="rect">
            <a:avLst/>
          </a:prstGeom>
          <a:solidFill>
            <a:srgbClr val="E07A5F"/>
          </a:solidFill>
          <a:ln/>
        </p:spPr>
      </p:sp>
      <p:sp>
        <p:nvSpPr>
          <p:cNvPr id="30" name="Text 28"/>
          <p:cNvSpPr/>
          <p:nvPr/>
        </p:nvSpPr>
        <p:spPr>
          <a:xfrm>
            <a:off x="640080" y="4114800"/>
            <a:ext cx="1691640" cy="566928"/>
          </a:xfrm>
          <a:prstGeom prst="rect">
            <a:avLst/>
          </a:prstGeom>
          <a:noFill/>
          <a:ln/>
        </p:spPr>
        <p:txBody>
          <a:bodyPr wrap="square" lIns="0" tIns="0" rIns="0" bIns="0" rtlCol="0" anchor="ctr"/>
          <a:lstStyle/>
          <a:p>
            <a:pPr indent="0" marL="0">
              <a:buNone/>
            </a:pPr>
            <a:r>
              <a:rPr lang="en-US" sz="900" b="1" spc="400" kern="0" dirty="0">
                <a:solidFill>
                  <a:srgbClr val="B9D9EB"/>
                </a:solidFill>
                <a:latin typeface="Calibri" pitchFamily="34" charset="0"/>
                <a:ea typeface="Calibri" pitchFamily="34" charset="-122"/>
                <a:cs typeface="Calibri" pitchFamily="34" charset="-120"/>
              </a:rPr>
              <a:t>WHY FOUR</a:t>
            </a:r>
            <a:endParaRPr lang="en-US" sz="900" dirty="0"/>
          </a:p>
        </p:txBody>
      </p:sp>
      <p:sp>
        <p:nvSpPr>
          <p:cNvPr id="31" name="Text 29"/>
          <p:cNvSpPr/>
          <p:nvPr/>
        </p:nvSpPr>
        <p:spPr>
          <a:xfrm>
            <a:off x="2423160" y="4151376"/>
            <a:ext cx="6217920" cy="493776"/>
          </a:xfrm>
          <a:prstGeom prst="rect">
            <a:avLst/>
          </a:prstGeom>
          <a:noFill/>
          <a:ln/>
        </p:spPr>
        <p:txBody>
          <a:bodyPr wrap="square" lIns="0" tIns="0" rIns="0" bIns="0" rtlCol="0" anchor="ctr"/>
          <a:lstStyle/>
          <a:p>
            <a:pPr indent="0" marL="0">
              <a:lnSpc>
                <a:spcPct val="118000"/>
              </a:lnSpc>
              <a:buNone/>
            </a:pPr>
            <a:r>
              <a:rPr lang="en-US" sz="1100" i="1" dirty="0">
                <a:solidFill>
                  <a:srgbClr val="FFFFFF"/>
                </a:solidFill>
                <a:latin typeface="Calibri" pitchFamily="34" charset="0"/>
                <a:ea typeface="Calibri" pitchFamily="34" charset="-122"/>
                <a:cs typeface="Calibri" pitchFamily="34" charset="-120"/>
              </a:rPr>
              <a:t>A single per-match probability vector powers every target — getting it right pays off four times over.</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B9D9EB"/>
          </a:solidFill>
          <a:ln/>
        </p:spPr>
      </p:sp>
      <p:sp>
        <p:nvSpPr>
          <p:cNvPr id="3" name="Shape 1"/>
          <p:cNvSpPr/>
          <p:nvPr/>
        </p:nvSpPr>
        <p:spPr>
          <a:xfrm>
            <a:off x="457200" y="4759452"/>
            <a:ext cx="8229600" cy="10973"/>
          </a:xfrm>
          <a:prstGeom prst="rect">
            <a:avLst/>
          </a:prstGeom>
          <a:solidFill>
            <a:srgbClr val="D7DEE5"/>
          </a:solidFill>
          <a:ln/>
        </p:spPr>
      </p:sp>
      <p:sp>
        <p:nvSpPr>
          <p:cNvPr id="4" name="Text 2"/>
          <p:cNvSpPr/>
          <p:nvPr/>
        </p:nvSpPr>
        <p:spPr>
          <a:xfrm>
            <a:off x="457200" y="4814316"/>
            <a:ext cx="7772400" cy="256032"/>
          </a:xfrm>
          <a:prstGeom prst="rect">
            <a:avLst/>
          </a:prstGeom>
          <a:noFill/>
          <a:ln/>
        </p:spPr>
        <p:txBody>
          <a:bodyPr wrap="square" lIns="0" tIns="0" rIns="0" bIns="0" rtlCol="0" anchor="ctr"/>
          <a:lstStyle/>
          <a:p>
            <a:pPr algn="l" indent="0" marL="0">
              <a:buNone/>
            </a:pPr>
            <a:r>
              <a:rPr lang="en-US" sz="900" dirty="0">
                <a:solidFill>
                  <a:srgbClr val="5A6573"/>
                </a:solidFill>
                <a:latin typeface="Calibri" pitchFamily="34" charset="0"/>
                <a:ea typeface="Calibri" pitchFamily="34" charset="-122"/>
                <a:cs typeface="Calibri" pitchFamily="34" charset="-120"/>
              </a:rPr>
              <a:t>STAT 5243 Project 4   ·   Liang · Chen · Collaborator   ·   2026-05-05</a:t>
            </a:r>
            <a:endParaRPr lang="en-US" sz="900" dirty="0"/>
          </a:p>
        </p:txBody>
      </p:sp>
      <p:sp>
        <p:nvSpPr>
          <p:cNvPr id="5" name="Text 3"/>
          <p:cNvSpPr/>
          <p:nvPr/>
        </p:nvSpPr>
        <p:spPr>
          <a:xfrm>
            <a:off x="8046720" y="4814316"/>
            <a:ext cx="640080" cy="256032"/>
          </a:xfrm>
          <a:prstGeom prst="rect">
            <a:avLst/>
          </a:prstGeom>
          <a:noFill/>
          <a:ln/>
        </p:spPr>
        <p:txBody>
          <a:bodyPr wrap="square" lIns="0" tIns="0" rIns="0" bIns="0" rtlCol="0" anchor="ctr"/>
          <a:lstStyle/>
          <a:p>
            <a:pPr algn="r" indent="0" marL="0">
              <a:buNone/>
            </a:pPr>
            <a:r>
              <a:rPr lang="en-US" sz="900" dirty="0">
                <a:solidFill>
                  <a:srgbClr val="5A6573"/>
                </a:solidFill>
                <a:latin typeface="Calibri" pitchFamily="34" charset="0"/>
                <a:ea typeface="Calibri" pitchFamily="34" charset="-122"/>
                <a:cs typeface="Calibri" pitchFamily="34" charset="-120"/>
              </a:rPr>
              <a:t>3 / 12</a:t>
            </a:r>
            <a:endParaRPr lang="en-US" sz="900" dirty="0"/>
          </a:p>
        </p:txBody>
      </p:sp>
      <p:sp>
        <p:nvSpPr>
          <p:cNvPr id="6" name="Text 4"/>
          <p:cNvSpPr/>
          <p:nvPr/>
        </p:nvSpPr>
        <p:spPr>
          <a:xfrm>
            <a:off x="457200" y="274320"/>
            <a:ext cx="8229600" cy="274320"/>
          </a:xfrm>
          <a:prstGeom prst="rect">
            <a:avLst/>
          </a:prstGeom>
          <a:noFill/>
          <a:ln/>
        </p:spPr>
        <p:txBody>
          <a:bodyPr wrap="square" lIns="0" tIns="0" rIns="0" bIns="0" rtlCol="0" anchor="ctr"/>
          <a:lstStyle/>
          <a:p>
            <a:pPr indent="0" marL="0">
              <a:buNone/>
            </a:pPr>
            <a:r>
              <a:rPr lang="en-US" sz="1100" b="1" spc="400" kern="0" dirty="0">
                <a:solidFill>
                  <a:srgbClr val="7FB3D5"/>
                </a:solidFill>
                <a:latin typeface="Calibri" pitchFamily="34" charset="0"/>
                <a:ea typeface="Calibri" pitchFamily="34" charset="-122"/>
                <a:cs typeface="Calibri" pitchFamily="34" charset="-120"/>
              </a:rPr>
              <a:t>WHY THIS IS HARD</a:t>
            </a:r>
            <a:endParaRPr lang="en-US" sz="1100" dirty="0"/>
          </a:p>
        </p:txBody>
      </p:sp>
      <p:sp>
        <p:nvSpPr>
          <p:cNvPr id="7" name="Text 5"/>
          <p:cNvSpPr/>
          <p:nvPr/>
        </p:nvSpPr>
        <p:spPr>
          <a:xfrm>
            <a:off x="457200" y="548640"/>
            <a:ext cx="8229600" cy="868680"/>
          </a:xfrm>
          <a:prstGeom prst="rect">
            <a:avLst/>
          </a:prstGeom>
          <a:noFill/>
          <a:ln/>
        </p:spPr>
        <p:txBody>
          <a:bodyPr wrap="square" lIns="0" tIns="0" rIns="0" bIns="0" rtlCol="0" anchor="ctr"/>
          <a:lstStyle/>
          <a:p>
            <a:pPr indent="0" marL="0">
              <a:lnSpc>
                <a:spcPct val="105000"/>
              </a:lnSpc>
              <a:buNone/>
            </a:pPr>
            <a:r>
              <a:rPr lang="en-US" sz="2400" b="1" dirty="0">
                <a:solidFill>
                  <a:srgbClr val="0B2545"/>
                </a:solidFill>
                <a:latin typeface="Georgia" pitchFamily="34" charset="0"/>
                <a:ea typeface="Georgia" pitchFamily="34" charset="-122"/>
                <a:cs typeface="Georgia" pitchFamily="34" charset="-120"/>
              </a:rPr>
              <a:t>Football is genuinely hard — and 2020-21 is the worst-case test set.</a:t>
            </a:r>
            <a:endParaRPr lang="en-US" sz="2400" dirty="0"/>
          </a:p>
        </p:txBody>
      </p:sp>
      <p:sp>
        <p:nvSpPr>
          <p:cNvPr id="8" name="Shape 6"/>
          <p:cNvSpPr/>
          <p:nvPr/>
        </p:nvSpPr>
        <p:spPr>
          <a:xfrm>
            <a:off x="457200" y="1417320"/>
            <a:ext cx="4114800" cy="1005840"/>
          </a:xfrm>
          <a:prstGeom prst="rect">
            <a:avLst/>
          </a:prstGeom>
          <a:solidFill>
            <a:srgbClr val="FFFFFF"/>
          </a:solidFill>
          <a:ln w="9525">
            <a:solidFill>
              <a:srgbClr val="D7DEE5"/>
            </a:solidFill>
            <a:prstDash val="solid"/>
          </a:ln>
          <a:effectLst>
            <a:outerShdw sx="100000" sy="100000" kx="0" ky="0" algn="bl" rotWithShape="0" blurRad="101600" dist="25400" dir="8100000">
              <a:srgbClr val="000000">
                <a:alpha val="10000"/>
              </a:srgbClr>
            </a:outerShdw>
          </a:effectLst>
        </p:spPr>
      </p:sp>
      <p:sp>
        <p:nvSpPr>
          <p:cNvPr id="9" name="Shape 7"/>
          <p:cNvSpPr/>
          <p:nvPr/>
        </p:nvSpPr>
        <p:spPr>
          <a:xfrm>
            <a:off x="457200" y="1417320"/>
            <a:ext cx="54864" cy="1005840"/>
          </a:xfrm>
          <a:prstGeom prst="rect">
            <a:avLst/>
          </a:prstGeom>
          <a:solidFill>
            <a:srgbClr val="7FB3D5"/>
          </a:solidFill>
          <a:ln/>
        </p:spPr>
      </p:sp>
      <p:sp>
        <p:nvSpPr>
          <p:cNvPr id="10" name="Text 8"/>
          <p:cNvSpPr/>
          <p:nvPr/>
        </p:nvSpPr>
        <p:spPr>
          <a:xfrm>
            <a:off x="640080" y="1508760"/>
            <a:ext cx="3840480" cy="310896"/>
          </a:xfrm>
          <a:prstGeom prst="rect">
            <a:avLst/>
          </a:prstGeom>
          <a:noFill/>
          <a:ln/>
        </p:spPr>
        <p:txBody>
          <a:bodyPr wrap="square" lIns="0" tIns="0" rIns="0" bIns="0" rtlCol="0" anchor="ctr"/>
          <a:lstStyle/>
          <a:p>
            <a:pPr indent="0" marL="0">
              <a:buNone/>
            </a:pPr>
            <a:r>
              <a:rPr lang="en-US" sz="1600" b="1" dirty="0">
                <a:solidFill>
                  <a:srgbClr val="0B2545"/>
                </a:solidFill>
                <a:latin typeface="Georgia" pitchFamily="34" charset="0"/>
                <a:ea typeface="Georgia" pitchFamily="34" charset="-122"/>
                <a:cs typeface="Georgia" pitchFamily="34" charset="-120"/>
              </a:rPr>
              <a:t>Tiny data</a:t>
            </a:r>
            <a:endParaRPr lang="en-US" sz="1600" dirty="0"/>
          </a:p>
        </p:txBody>
      </p:sp>
      <p:sp>
        <p:nvSpPr>
          <p:cNvPr id="11" name="Text 9"/>
          <p:cNvSpPr/>
          <p:nvPr/>
        </p:nvSpPr>
        <p:spPr>
          <a:xfrm>
            <a:off x="640080" y="1837944"/>
            <a:ext cx="3840480" cy="530352"/>
          </a:xfrm>
          <a:prstGeom prst="rect">
            <a:avLst/>
          </a:prstGeom>
          <a:noFill/>
          <a:ln/>
        </p:spPr>
        <p:txBody>
          <a:bodyPr wrap="square" lIns="0" tIns="0" rIns="0" bIns="0" rtlCol="0" anchor="ctr"/>
          <a:lstStyle/>
          <a:p>
            <a:pPr indent="0" marL="0">
              <a:lnSpc>
                <a:spcPct val="120000"/>
              </a:lnSpc>
              <a:buNone/>
            </a:pPr>
            <a:r>
              <a:rPr lang="en-US" sz="1050" dirty="0">
                <a:solidFill>
                  <a:srgbClr val="1F2933"/>
                </a:solidFill>
                <a:latin typeface="Calibri" pitchFamily="34" charset="0"/>
                <a:ea typeface="Calibri" pitchFamily="34" charset="-122"/>
                <a:cs typeface="Calibri" pitchFamily="34" charset="-120"/>
              </a:rPr>
              <a:t>380 matches per season × 21 seasons = ~7,890 rows. Small for tabular ML.</a:t>
            </a:r>
            <a:endParaRPr lang="en-US" sz="1050" dirty="0"/>
          </a:p>
        </p:txBody>
      </p:sp>
      <p:sp>
        <p:nvSpPr>
          <p:cNvPr id="12" name="Shape 10"/>
          <p:cNvSpPr/>
          <p:nvPr/>
        </p:nvSpPr>
        <p:spPr>
          <a:xfrm>
            <a:off x="4754880" y="1417320"/>
            <a:ext cx="4114800" cy="1005840"/>
          </a:xfrm>
          <a:prstGeom prst="rect">
            <a:avLst/>
          </a:prstGeom>
          <a:solidFill>
            <a:srgbClr val="FFFFFF"/>
          </a:solidFill>
          <a:ln w="9525">
            <a:solidFill>
              <a:srgbClr val="D7DEE5"/>
            </a:solidFill>
            <a:prstDash val="solid"/>
          </a:ln>
          <a:effectLst>
            <a:outerShdw sx="100000" sy="100000" kx="0" ky="0" algn="bl" rotWithShape="0" blurRad="101600" dist="25400" dir="8100000">
              <a:srgbClr val="000000">
                <a:alpha val="10000"/>
              </a:srgbClr>
            </a:outerShdw>
          </a:effectLst>
        </p:spPr>
      </p:sp>
      <p:sp>
        <p:nvSpPr>
          <p:cNvPr id="13" name="Shape 11"/>
          <p:cNvSpPr/>
          <p:nvPr/>
        </p:nvSpPr>
        <p:spPr>
          <a:xfrm>
            <a:off x="4754880" y="1417320"/>
            <a:ext cx="54864" cy="1005840"/>
          </a:xfrm>
          <a:prstGeom prst="rect">
            <a:avLst/>
          </a:prstGeom>
          <a:solidFill>
            <a:srgbClr val="7FB3D5"/>
          </a:solidFill>
          <a:ln/>
        </p:spPr>
      </p:sp>
      <p:sp>
        <p:nvSpPr>
          <p:cNvPr id="14" name="Text 12"/>
          <p:cNvSpPr/>
          <p:nvPr/>
        </p:nvSpPr>
        <p:spPr>
          <a:xfrm>
            <a:off x="4937760" y="1508760"/>
            <a:ext cx="3840480" cy="310896"/>
          </a:xfrm>
          <a:prstGeom prst="rect">
            <a:avLst/>
          </a:prstGeom>
          <a:noFill/>
          <a:ln/>
        </p:spPr>
        <p:txBody>
          <a:bodyPr wrap="square" lIns="0" tIns="0" rIns="0" bIns="0" rtlCol="0" anchor="ctr"/>
          <a:lstStyle/>
          <a:p>
            <a:pPr indent="0" marL="0">
              <a:buNone/>
            </a:pPr>
            <a:r>
              <a:rPr lang="en-US" sz="1600" b="1" dirty="0">
                <a:solidFill>
                  <a:srgbClr val="0B2545"/>
                </a:solidFill>
                <a:latin typeface="Georgia" pitchFamily="34" charset="0"/>
                <a:ea typeface="Georgia" pitchFamily="34" charset="-122"/>
                <a:cs typeface="Georgia" pitchFamily="34" charset="-120"/>
              </a:rPr>
              <a:t>High variance</a:t>
            </a:r>
            <a:endParaRPr lang="en-US" sz="1600" dirty="0"/>
          </a:p>
        </p:txBody>
      </p:sp>
      <p:sp>
        <p:nvSpPr>
          <p:cNvPr id="15" name="Text 13"/>
          <p:cNvSpPr/>
          <p:nvPr/>
        </p:nvSpPr>
        <p:spPr>
          <a:xfrm>
            <a:off x="4937760" y="1837944"/>
            <a:ext cx="3840480" cy="530352"/>
          </a:xfrm>
          <a:prstGeom prst="rect">
            <a:avLst/>
          </a:prstGeom>
          <a:noFill/>
          <a:ln/>
        </p:spPr>
        <p:txBody>
          <a:bodyPr wrap="square" lIns="0" tIns="0" rIns="0" bIns="0" rtlCol="0" anchor="ctr"/>
          <a:lstStyle/>
          <a:p>
            <a:pPr indent="0" marL="0">
              <a:lnSpc>
                <a:spcPct val="120000"/>
              </a:lnSpc>
              <a:buNone/>
            </a:pPr>
            <a:r>
              <a:rPr lang="en-US" sz="1050" dirty="0">
                <a:solidFill>
                  <a:srgbClr val="1F2933"/>
                </a:solidFill>
                <a:latin typeface="Calibri" pitchFamily="34" charset="0"/>
                <a:ea typeface="Calibri" pitchFamily="34" charset="-122"/>
                <a:cs typeface="Calibri" pitchFamily="34" charset="-120"/>
              </a:rPr>
              <a:t>One deflected goal flips an outcome. Match-level noise rivals the signal.</a:t>
            </a:r>
            <a:endParaRPr lang="en-US" sz="1050" dirty="0"/>
          </a:p>
        </p:txBody>
      </p:sp>
      <p:sp>
        <p:nvSpPr>
          <p:cNvPr id="16" name="Shape 14"/>
          <p:cNvSpPr/>
          <p:nvPr/>
        </p:nvSpPr>
        <p:spPr>
          <a:xfrm>
            <a:off x="457200" y="2569464"/>
            <a:ext cx="4114800" cy="1005840"/>
          </a:xfrm>
          <a:prstGeom prst="rect">
            <a:avLst/>
          </a:prstGeom>
          <a:solidFill>
            <a:srgbClr val="FFFFFF"/>
          </a:solidFill>
          <a:ln w="9525">
            <a:solidFill>
              <a:srgbClr val="D7DEE5"/>
            </a:solidFill>
            <a:prstDash val="solid"/>
          </a:ln>
          <a:effectLst>
            <a:outerShdw sx="100000" sy="100000" kx="0" ky="0" algn="bl" rotWithShape="0" blurRad="101600" dist="25400" dir="8100000">
              <a:srgbClr val="000000">
                <a:alpha val="10000"/>
              </a:srgbClr>
            </a:outerShdw>
          </a:effectLst>
        </p:spPr>
      </p:sp>
      <p:sp>
        <p:nvSpPr>
          <p:cNvPr id="17" name="Shape 15"/>
          <p:cNvSpPr/>
          <p:nvPr/>
        </p:nvSpPr>
        <p:spPr>
          <a:xfrm>
            <a:off x="457200" y="2569464"/>
            <a:ext cx="54864" cy="1005840"/>
          </a:xfrm>
          <a:prstGeom prst="rect">
            <a:avLst/>
          </a:prstGeom>
          <a:solidFill>
            <a:srgbClr val="7FB3D5"/>
          </a:solidFill>
          <a:ln/>
        </p:spPr>
      </p:sp>
      <p:sp>
        <p:nvSpPr>
          <p:cNvPr id="18" name="Text 16"/>
          <p:cNvSpPr/>
          <p:nvPr/>
        </p:nvSpPr>
        <p:spPr>
          <a:xfrm>
            <a:off x="640080" y="2660904"/>
            <a:ext cx="3840480" cy="310896"/>
          </a:xfrm>
          <a:prstGeom prst="rect">
            <a:avLst/>
          </a:prstGeom>
          <a:noFill/>
          <a:ln/>
        </p:spPr>
        <p:txBody>
          <a:bodyPr wrap="square" lIns="0" tIns="0" rIns="0" bIns="0" rtlCol="0" anchor="ctr"/>
          <a:lstStyle/>
          <a:p>
            <a:pPr indent="0" marL="0">
              <a:buNone/>
            </a:pPr>
            <a:r>
              <a:rPr lang="en-US" sz="1600" b="1" dirty="0">
                <a:solidFill>
                  <a:srgbClr val="0B2545"/>
                </a:solidFill>
                <a:latin typeface="Georgia" pitchFamily="34" charset="0"/>
                <a:ea typeface="Georgia" pitchFamily="34" charset="-122"/>
                <a:cs typeface="Georgia" pitchFamily="34" charset="-120"/>
              </a:rPr>
              <a:t>Sharp bookmakers</a:t>
            </a:r>
            <a:endParaRPr lang="en-US" sz="1600" dirty="0"/>
          </a:p>
        </p:txBody>
      </p:sp>
      <p:sp>
        <p:nvSpPr>
          <p:cNvPr id="19" name="Text 17"/>
          <p:cNvSpPr/>
          <p:nvPr/>
        </p:nvSpPr>
        <p:spPr>
          <a:xfrm>
            <a:off x="640080" y="2990088"/>
            <a:ext cx="3840480" cy="530352"/>
          </a:xfrm>
          <a:prstGeom prst="rect">
            <a:avLst/>
          </a:prstGeom>
          <a:noFill/>
          <a:ln/>
        </p:spPr>
        <p:txBody>
          <a:bodyPr wrap="square" lIns="0" tIns="0" rIns="0" bIns="0" rtlCol="0" anchor="ctr"/>
          <a:lstStyle/>
          <a:p>
            <a:pPr indent="0" marL="0">
              <a:lnSpc>
                <a:spcPct val="120000"/>
              </a:lnSpc>
              <a:buNone/>
            </a:pPr>
            <a:r>
              <a:rPr lang="en-US" sz="1050" dirty="0">
                <a:solidFill>
                  <a:srgbClr val="1F2933"/>
                </a:solidFill>
                <a:latin typeface="Calibri" pitchFamily="34" charset="0"/>
                <a:ea typeface="Calibri" pitchFamily="34" charset="-122"/>
                <a:cs typeface="Calibri" pitchFamily="34" charset="-120"/>
              </a:rPr>
              <a:t>Pinnacle's closing odds aggregate the smartest bets in the world.</a:t>
            </a:r>
            <a:endParaRPr lang="en-US" sz="1050" dirty="0"/>
          </a:p>
        </p:txBody>
      </p:sp>
      <p:sp>
        <p:nvSpPr>
          <p:cNvPr id="20" name="Shape 18"/>
          <p:cNvSpPr/>
          <p:nvPr/>
        </p:nvSpPr>
        <p:spPr>
          <a:xfrm>
            <a:off x="4754880" y="2569464"/>
            <a:ext cx="4114800" cy="1005840"/>
          </a:xfrm>
          <a:prstGeom prst="rect">
            <a:avLst/>
          </a:prstGeom>
          <a:solidFill>
            <a:srgbClr val="FFFFFF"/>
          </a:solidFill>
          <a:ln w="9525">
            <a:solidFill>
              <a:srgbClr val="D7DEE5"/>
            </a:solidFill>
            <a:prstDash val="solid"/>
          </a:ln>
          <a:effectLst>
            <a:outerShdw sx="100000" sy="100000" kx="0" ky="0" algn="bl" rotWithShape="0" blurRad="101600" dist="25400" dir="8100000">
              <a:srgbClr val="000000">
                <a:alpha val="10000"/>
              </a:srgbClr>
            </a:outerShdw>
          </a:effectLst>
        </p:spPr>
      </p:sp>
      <p:sp>
        <p:nvSpPr>
          <p:cNvPr id="21" name="Shape 19"/>
          <p:cNvSpPr/>
          <p:nvPr/>
        </p:nvSpPr>
        <p:spPr>
          <a:xfrm>
            <a:off x="4754880" y="2569464"/>
            <a:ext cx="54864" cy="1005840"/>
          </a:xfrm>
          <a:prstGeom prst="rect">
            <a:avLst/>
          </a:prstGeom>
          <a:solidFill>
            <a:srgbClr val="7FB3D5"/>
          </a:solidFill>
          <a:ln/>
        </p:spPr>
      </p:sp>
      <p:sp>
        <p:nvSpPr>
          <p:cNvPr id="22" name="Text 20"/>
          <p:cNvSpPr/>
          <p:nvPr/>
        </p:nvSpPr>
        <p:spPr>
          <a:xfrm>
            <a:off x="4937760" y="2660904"/>
            <a:ext cx="3840480" cy="310896"/>
          </a:xfrm>
          <a:prstGeom prst="rect">
            <a:avLst/>
          </a:prstGeom>
          <a:noFill/>
          <a:ln/>
        </p:spPr>
        <p:txBody>
          <a:bodyPr wrap="square" lIns="0" tIns="0" rIns="0" bIns="0" rtlCol="0" anchor="ctr"/>
          <a:lstStyle/>
          <a:p>
            <a:pPr indent="0" marL="0">
              <a:buNone/>
            </a:pPr>
            <a:r>
              <a:rPr lang="en-US" sz="1600" b="1" dirty="0">
                <a:solidFill>
                  <a:srgbClr val="0B2545"/>
                </a:solidFill>
                <a:latin typeface="Georgia" pitchFamily="34" charset="0"/>
                <a:ea typeface="Georgia" pitchFamily="34" charset="-122"/>
                <a:cs typeface="Georgia" pitchFamily="34" charset="-120"/>
              </a:rPr>
              <a:t>Distribution shift</a:t>
            </a:r>
            <a:endParaRPr lang="en-US" sz="1600" dirty="0"/>
          </a:p>
        </p:txBody>
      </p:sp>
      <p:sp>
        <p:nvSpPr>
          <p:cNvPr id="23" name="Text 21"/>
          <p:cNvSpPr/>
          <p:nvPr/>
        </p:nvSpPr>
        <p:spPr>
          <a:xfrm>
            <a:off x="4937760" y="2990088"/>
            <a:ext cx="3840480" cy="530352"/>
          </a:xfrm>
          <a:prstGeom prst="rect">
            <a:avLst/>
          </a:prstGeom>
          <a:noFill/>
          <a:ln/>
        </p:spPr>
        <p:txBody>
          <a:bodyPr wrap="square" lIns="0" tIns="0" rIns="0" bIns="0" rtlCol="0" anchor="ctr"/>
          <a:lstStyle/>
          <a:p>
            <a:pPr indent="0" marL="0">
              <a:lnSpc>
                <a:spcPct val="120000"/>
              </a:lnSpc>
              <a:buNone/>
            </a:pPr>
            <a:r>
              <a:rPr lang="en-US" sz="1050" dirty="0">
                <a:solidFill>
                  <a:srgbClr val="1F2933"/>
                </a:solidFill>
                <a:latin typeface="Calibri" pitchFamily="34" charset="0"/>
                <a:ea typeface="Calibri" pitchFamily="34" charset="-122"/>
                <a:cs typeface="Calibri" pitchFamily="34" charset="-120"/>
              </a:rPr>
              <a:t>Covid 2020-21 played behind closed doors. Home-win rate fell from ~46% to ~38%.</a:t>
            </a:r>
            <a:endParaRPr lang="en-US" sz="1050" dirty="0"/>
          </a:p>
        </p:txBody>
      </p:sp>
      <p:sp>
        <p:nvSpPr>
          <p:cNvPr id="24" name="Shape 22"/>
          <p:cNvSpPr/>
          <p:nvPr/>
        </p:nvSpPr>
        <p:spPr>
          <a:xfrm>
            <a:off x="457200" y="3703320"/>
            <a:ext cx="8229600" cy="274320"/>
          </a:xfrm>
          <a:prstGeom prst="rect">
            <a:avLst/>
          </a:prstGeom>
          <a:solidFill>
            <a:srgbClr val="B9D9EB"/>
          </a:solidFill>
          <a:ln/>
        </p:spPr>
      </p:sp>
      <p:sp>
        <p:nvSpPr>
          <p:cNvPr id="25" name="Text 23"/>
          <p:cNvSpPr/>
          <p:nvPr/>
        </p:nvSpPr>
        <p:spPr>
          <a:xfrm>
            <a:off x="548640" y="3703320"/>
            <a:ext cx="8046720" cy="274320"/>
          </a:xfrm>
          <a:prstGeom prst="rect">
            <a:avLst/>
          </a:prstGeom>
          <a:noFill/>
          <a:ln/>
        </p:spPr>
        <p:txBody>
          <a:bodyPr wrap="square" lIns="0" tIns="0" rIns="0" bIns="0" rtlCol="0" anchor="ctr"/>
          <a:lstStyle/>
          <a:p>
            <a:pPr indent="0" marL="0">
              <a:buNone/>
            </a:pPr>
            <a:r>
              <a:rPr lang="en-US" sz="1050" b="1" i="1" dirty="0">
                <a:solidFill>
                  <a:srgbClr val="0B2545"/>
                </a:solidFill>
                <a:latin typeface="Calibri" pitchFamily="34" charset="0"/>
                <a:ea typeface="Calibri" pitchFamily="34" charset="-122"/>
                <a:cs typeface="Calibri" pitchFamily="34" charset="-120"/>
              </a:rPr>
              <a:t>Bonus difficulty: 3 promoted teams every August have zero Premier League history → cold-start every season.</a:t>
            </a:r>
            <a:endParaRPr lang="en-US" sz="1050" dirty="0"/>
          </a:p>
        </p:txBody>
      </p:sp>
      <p:sp>
        <p:nvSpPr>
          <p:cNvPr id="26" name="Shape 24"/>
          <p:cNvSpPr/>
          <p:nvPr/>
        </p:nvSpPr>
        <p:spPr>
          <a:xfrm>
            <a:off x="457200" y="4114800"/>
            <a:ext cx="8229600" cy="566928"/>
          </a:xfrm>
          <a:prstGeom prst="rect">
            <a:avLst/>
          </a:prstGeom>
          <a:solidFill>
            <a:srgbClr val="0B2545"/>
          </a:solidFill>
          <a:ln/>
        </p:spPr>
      </p:sp>
      <p:sp>
        <p:nvSpPr>
          <p:cNvPr id="27" name="Shape 25"/>
          <p:cNvSpPr/>
          <p:nvPr/>
        </p:nvSpPr>
        <p:spPr>
          <a:xfrm>
            <a:off x="457200" y="4114800"/>
            <a:ext cx="54864" cy="566928"/>
          </a:xfrm>
          <a:prstGeom prst="rect">
            <a:avLst/>
          </a:prstGeom>
          <a:solidFill>
            <a:srgbClr val="E07A5F"/>
          </a:solidFill>
          <a:ln/>
        </p:spPr>
      </p:sp>
      <p:sp>
        <p:nvSpPr>
          <p:cNvPr id="28" name="Text 26"/>
          <p:cNvSpPr/>
          <p:nvPr/>
        </p:nvSpPr>
        <p:spPr>
          <a:xfrm>
            <a:off x="640080" y="4114800"/>
            <a:ext cx="1691640" cy="566928"/>
          </a:xfrm>
          <a:prstGeom prst="rect">
            <a:avLst/>
          </a:prstGeom>
          <a:noFill/>
          <a:ln/>
        </p:spPr>
        <p:txBody>
          <a:bodyPr wrap="square" lIns="0" tIns="0" rIns="0" bIns="0" rtlCol="0" anchor="ctr"/>
          <a:lstStyle/>
          <a:p>
            <a:pPr indent="0" marL="0">
              <a:buNone/>
            </a:pPr>
            <a:r>
              <a:rPr lang="en-US" sz="900" b="1" spc="400" kern="0" dirty="0">
                <a:solidFill>
                  <a:srgbClr val="B9D9EB"/>
                </a:solidFill>
                <a:latin typeface="Calibri" pitchFamily="34" charset="0"/>
                <a:ea typeface="Calibri" pitchFamily="34" charset="-122"/>
                <a:cs typeface="Calibri" pitchFamily="34" charset="-120"/>
              </a:rPr>
              <a:t>PUNCH LINE</a:t>
            </a:r>
            <a:endParaRPr lang="en-US" sz="900" dirty="0"/>
          </a:p>
        </p:txBody>
      </p:sp>
      <p:sp>
        <p:nvSpPr>
          <p:cNvPr id="29" name="Text 27"/>
          <p:cNvSpPr/>
          <p:nvPr/>
        </p:nvSpPr>
        <p:spPr>
          <a:xfrm>
            <a:off x="2423160" y="4151376"/>
            <a:ext cx="6217920" cy="493776"/>
          </a:xfrm>
          <a:prstGeom prst="rect">
            <a:avLst/>
          </a:prstGeom>
          <a:noFill/>
          <a:ln/>
        </p:spPr>
        <p:txBody>
          <a:bodyPr wrap="square" lIns="0" tIns="0" rIns="0" bIns="0" rtlCol="0" anchor="ctr"/>
          <a:lstStyle/>
          <a:p>
            <a:pPr indent="0" marL="0">
              <a:lnSpc>
                <a:spcPct val="118000"/>
              </a:lnSpc>
              <a:buNone/>
            </a:pPr>
            <a:r>
              <a:rPr lang="en-US" sz="1100" i="1" dirty="0">
                <a:solidFill>
                  <a:srgbClr val="FFFFFF"/>
                </a:solidFill>
                <a:latin typeface="Calibri" pitchFamily="34" charset="0"/>
                <a:ea typeface="Calibri" pitchFamily="34" charset="-122"/>
                <a:cs typeface="Calibri" pitchFamily="34" charset="-120"/>
              </a:rPr>
              <a:t>Even the bookmakers struggled with this season — that is exactly why we picked it.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B9D9EB"/>
          </a:solidFill>
          <a:ln/>
        </p:spPr>
      </p:sp>
      <p:sp>
        <p:nvSpPr>
          <p:cNvPr id="3" name="Shape 1"/>
          <p:cNvSpPr/>
          <p:nvPr/>
        </p:nvSpPr>
        <p:spPr>
          <a:xfrm>
            <a:off x="457200" y="4759452"/>
            <a:ext cx="8229600" cy="10973"/>
          </a:xfrm>
          <a:prstGeom prst="rect">
            <a:avLst/>
          </a:prstGeom>
          <a:solidFill>
            <a:srgbClr val="D7DEE5"/>
          </a:solidFill>
          <a:ln/>
        </p:spPr>
      </p:sp>
      <p:sp>
        <p:nvSpPr>
          <p:cNvPr id="4" name="Text 2"/>
          <p:cNvSpPr/>
          <p:nvPr/>
        </p:nvSpPr>
        <p:spPr>
          <a:xfrm>
            <a:off x="457200" y="4814316"/>
            <a:ext cx="7772400" cy="256032"/>
          </a:xfrm>
          <a:prstGeom prst="rect">
            <a:avLst/>
          </a:prstGeom>
          <a:noFill/>
          <a:ln/>
        </p:spPr>
        <p:txBody>
          <a:bodyPr wrap="square" lIns="0" tIns="0" rIns="0" bIns="0" rtlCol="0" anchor="ctr"/>
          <a:lstStyle/>
          <a:p>
            <a:pPr algn="l" indent="0" marL="0">
              <a:buNone/>
            </a:pPr>
            <a:r>
              <a:rPr lang="en-US" sz="900" dirty="0">
                <a:solidFill>
                  <a:srgbClr val="5A6573"/>
                </a:solidFill>
                <a:latin typeface="Calibri" pitchFamily="34" charset="0"/>
                <a:ea typeface="Calibri" pitchFamily="34" charset="-122"/>
                <a:cs typeface="Calibri" pitchFamily="34" charset="-120"/>
              </a:rPr>
              <a:t>STAT 5243 Project 4   ·   Liang · Chen · Collaborator   ·   2026-05-05</a:t>
            </a:r>
            <a:endParaRPr lang="en-US" sz="900" dirty="0"/>
          </a:p>
        </p:txBody>
      </p:sp>
      <p:sp>
        <p:nvSpPr>
          <p:cNvPr id="5" name="Text 3"/>
          <p:cNvSpPr/>
          <p:nvPr/>
        </p:nvSpPr>
        <p:spPr>
          <a:xfrm>
            <a:off x="8046720" y="4814316"/>
            <a:ext cx="640080" cy="256032"/>
          </a:xfrm>
          <a:prstGeom prst="rect">
            <a:avLst/>
          </a:prstGeom>
          <a:noFill/>
          <a:ln/>
        </p:spPr>
        <p:txBody>
          <a:bodyPr wrap="square" lIns="0" tIns="0" rIns="0" bIns="0" rtlCol="0" anchor="ctr"/>
          <a:lstStyle/>
          <a:p>
            <a:pPr algn="r" indent="0" marL="0">
              <a:buNone/>
            </a:pPr>
            <a:r>
              <a:rPr lang="en-US" sz="900" dirty="0">
                <a:solidFill>
                  <a:srgbClr val="5A6573"/>
                </a:solidFill>
                <a:latin typeface="Calibri" pitchFamily="34" charset="0"/>
                <a:ea typeface="Calibri" pitchFamily="34" charset="-122"/>
                <a:cs typeface="Calibri" pitchFamily="34" charset="-120"/>
              </a:rPr>
              <a:t>4 / 12</a:t>
            </a:r>
            <a:endParaRPr lang="en-US" sz="900" dirty="0"/>
          </a:p>
        </p:txBody>
      </p:sp>
      <p:sp>
        <p:nvSpPr>
          <p:cNvPr id="6" name="Text 4"/>
          <p:cNvSpPr/>
          <p:nvPr/>
        </p:nvSpPr>
        <p:spPr>
          <a:xfrm>
            <a:off x="457200" y="274320"/>
            <a:ext cx="8229600" cy="274320"/>
          </a:xfrm>
          <a:prstGeom prst="rect">
            <a:avLst/>
          </a:prstGeom>
          <a:noFill/>
          <a:ln/>
        </p:spPr>
        <p:txBody>
          <a:bodyPr wrap="square" lIns="0" tIns="0" rIns="0" bIns="0" rtlCol="0" anchor="ctr"/>
          <a:lstStyle/>
          <a:p>
            <a:pPr indent="0" marL="0">
              <a:buNone/>
            </a:pPr>
            <a:r>
              <a:rPr lang="en-US" sz="1100" b="1" spc="400" kern="0" dirty="0">
                <a:solidFill>
                  <a:srgbClr val="7FB3D5"/>
                </a:solidFill>
                <a:latin typeface="Calibri" pitchFamily="34" charset="0"/>
                <a:ea typeface="Calibri" pitchFamily="34" charset="-122"/>
                <a:cs typeface="Calibri" pitchFamily="34" charset="-120"/>
              </a:rPr>
              <a:t>DATA</a:t>
            </a:r>
            <a:endParaRPr lang="en-US" sz="1100" dirty="0"/>
          </a:p>
        </p:txBody>
      </p:sp>
      <p:sp>
        <p:nvSpPr>
          <p:cNvPr id="7" name="Text 5"/>
          <p:cNvSpPr/>
          <p:nvPr/>
        </p:nvSpPr>
        <p:spPr>
          <a:xfrm>
            <a:off x="457200" y="548640"/>
            <a:ext cx="8229600" cy="868680"/>
          </a:xfrm>
          <a:prstGeom prst="rect">
            <a:avLst/>
          </a:prstGeom>
          <a:noFill/>
          <a:ln/>
        </p:spPr>
        <p:txBody>
          <a:bodyPr wrap="square" lIns="0" tIns="0" rIns="0" bIns="0" rtlCol="0" anchor="ctr"/>
          <a:lstStyle/>
          <a:p>
            <a:pPr indent="0" marL="0">
              <a:lnSpc>
                <a:spcPct val="105000"/>
              </a:lnSpc>
              <a:buNone/>
            </a:pPr>
            <a:r>
              <a:rPr lang="en-US" sz="2400" b="1" dirty="0">
                <a:solidFill>
                  <a:srgbClr val="0B2545"/>
                </a:solidFill>
                <a:latin typeface="Georgia" pitchFamily="34" charset="0"/>
                <a:ea typeface="Georgia" pitchFamily="34" charset="-122"/>
                <a:cs typeface="Georgia" pitchFamily="34" charset="-120"/>
              </a:rPr>
              <a:t>We scraped every byte ourselves — five sources, no Kaggle.</a:t>
            </a:r>
            <a:endParaRPr lang="en-US" sz="2400" dirty="0"/>
          </a:p>
        </p:txBody>
      </p:sp>
      <p:sp>
        <p:nvSpPr>
          <p:cNvPr id="8" name="Text 6"/>
          <p:cNvSpPr/>
          <p:nvPr/>
        </p:nvSpPr>
        <p:spPr>
          <a:xfrm>
            <a:off x="457200" y="1417320"/>
            <a:ext cx="2011680" cy="594360"/>
          </a:xfrm>
          <a:prstGeom prst="rect">
            <a:avLst/>
          </a:prstGeom>
          <a:noFill/>
          <a:ln/>
        </p:spPr>
        <p:txBody>
          <a:bodyPr wrap="square" lIns="0" tIns="0" rIns="0" bIns="0" rtlCol="0" anchor="ctr"/>
          <a:lstStyle/>
          <a:p>
            <a:pPr indent="0" marL="0">
              <a:buNone/>
            </a:pPr>
            <a:r>
              <a:rPr lang="en-US" sz="4000" b="1" dirty="0">
                <a:solidFill>
                  <a:srgbClr val="E07A5F"/>
                </a:solidFill>
                <a:latin typeface="Georgia" pitchFamily="34" charset="0"/>
                <a:ea typeface="Georgia" pitchFamily="34" charset="-122"/>
                <a:cs typeface="Georgia" pitchFamily="34" charset="-120"/>
              </a:rPr>
              <a:t>7,890</a:t>
            </a:r>
            <a:endParaRPr lang="en-US" sz="4000" dirty="0"/>
          </a:p>
        </p:txBody>
      </p:sp>
      <p:sp>
        <p:nvSpPr>
          <p:cNvPr id="9" name="Text 7"/>
          <p:cNvSpPr/>
          <p:nvPr/>
        </p:nvSpPr>
        <p:spPr>
          <a:xfrm>
            <a:off x="457200" y="2011680"/>
            <a:ext cx="2011680" cy="228600"/>
          </a:xfrm>
          <a:prstGeom prst="rect">
            <a:avLst/>
          </a:prstGeom>
          <a:noFill/>
          <a:ln/>
        </p:spPr>
        <p:txBody>
          <a:bodyPr wrap="square" lIns="0" tIns="0" rIns="0" bIns="0" rtlCol="0" anchor="ctr"/>
          <a:lstStyle/>
          <a:p>
            <a:pPr indent="0" marL="0">
              <a:buNone/>
            </a:pPr>
            <a:r>
              <a:rPr lang="en-US" sz="1100" dirty="0">
                <a:solidFill>
                  <a:srgbClr val="5A6573"/>
                </a:solidFill>
                <a:latin typeface="Calibri" pitchFamily="34" charset="0"/>
                <a:ea typeface="Calibri" pitchFamily="34" charset="-122"/>
                <a:cs typeface="Calibri" pitchFamily="34" charset="-120"/>
              </a:rPr>
              <a:t>matches scraped</a:t>
            </a:r>
            <a:endParaRPr lang="en-US" sz="1100" dirty="0"/>
          </a:p>
        </p:txBody>
      </p:sp>
      <p:sp>
        <p:nvSpPr>
          <p:cNvPr id="10" name="Text 8"/>
          <p:cNvSpPr/>
          <p:nvPr/>
        </p:nvSpPr>
        <p:spPr>
          <a:xfrm>
            <a:off x="457200" y="2377440"/>
            <a:ext cx="2011680" cy="594360"/>
          </a:xfrm>
          <a:prstGeom prst="rect">
            <a:avLst/>
          </a:prstGeom>
          <a:noFill/>
          <a:ln/>
        </p:spPr>
        <p:txBody>
          <a:bodyPr wrap="square" lIns="0" tIns="0" rIns="0" bIns="0" rtlCol="0" anchor="ctr"/>
          <a:lstStyle/>
          <a:p>
            <a:pPr indent="0" marL="0">
              <a:buNone/>
            </a:pPr>
            <a:r>
              <a:rPr lang="en-US" sz="4000" b="1" dirty="0">
                <a:solidFill>
                  <a:srgbClr val="E07A5F"/>
                </a:solidFill>
                <a:latin typeface="Georgia" pitchFamily="34" charset="0"/>
                <a:ea typeface="Georgia" pitchFamily="34" charset="-122"/>
                <a:cs typeface="Georgia" pitchFamily="34" charset="-120"/>
              </a:rPr>
              <a:t>21</a:t>
            </a:r>
            <a:endParaRPr lang="en-US" sz="4000" dirty="0"/>
          </a:p>
        </p:txBody>
      </p:sp>
      <p:sp>
        <p:nvSpPr>
          <p:cNvPr id="11" name="Text 9"/>
          <p:cNvSpPr/>
          <p:nvPr/>
        </p:nvSpPr>
        <p:spPr>
          <a:xfrm>
            <a:off x="457200" y="2971800"/>
            <a:ext cx="2011680" cy="228600"/>
          </a:xfrm>
          <a:prstGeom prst="rect">
            <a:avLst/>
          </a:prstGeom>
          <a:noFill/>
          <a:ln/>
        </p:spPr>
        <p:txBody>
          <a:bodyPr wrap="square" lIns="0" tIns="0" rIns="0" bIns="0" rtlCol="0" anchor="ctr"/>
          <a:lstStyle/>
          <a:p>
            <a:pPr indent="0" marL="0">
              <a:buNone/>
            </a:pPr>
            <a:r>
              <a:rPr lang="en-US" sz="1100" dirty="0">
                <a:solidFill>
                  <a:srgbClr val="5A6573"/>
                </a:solidFill>
                <a:latin typeface="Calibri" pitchFamily="34" charset="0"/>
                <a:ea typeface="Calibri" pitchFamily="34" charset="-122"/>
                <a:cs typeface="Calibri" pitchFamily="34" charset="-120"/>
              </a:rPr>
              <a:t>seasons (2000-01 → 2020-21)</a:t>
            </a:r>
            <a:endParaRPr lang="en-US" sz="1100" dirty="0"/>
          </a:p>
        </p:txBody>
      </p:sp>
      <p:sp>
        <p:nvSpPr>
          <p:cNvPr id="12" name="Text 10"/>
          <p:cNvSpPr/>
          <p:nvPr/>
        </p:nvSpPr>
        <p:spPr>
          <a:xfrm>
            <a:off x="457200" y="3337560"/>
            <a:ext cx="2011680" cy="594360"/>
          </a:xfrm>
          <a:prstGeom prst="rect">
            <a:avLst/>
          </a:prstGeom>
          <a:noFill/>
          <a:ln/>
        </p:spPr>
        <p:txBody>
          <a:bodyPr wrap="square" lIns="0" tIns="0" rIns="0" bIns="0" rtlCol="0" anchor="ctr"/>
          <a:lstStyle/>
          <a:p>
            <a:pPr indent="0" marL="0">
              <a:buNone/>
            </a:pPr>
            <a:r>
              <a:rPr lang="en-US" sz="4000" b="1" dirty="0">
                <a:solidFill>
                  <a:srgbClr val="E07A5F"/>
                </a:solidFill>
                <a:latin typeface="Georgia" pitchFamily="34" charset="0"/>
                <a:ea typeface="Georgia" pitchFamily="34" charset="-122"/>
                <a:cs typeface="Georgia" pitchFamily="34" charset="-120"/>
              </a:rPr>
              <a:t>45</a:t>
            </a:r>
            <a:endParaRPr lang="en-US" sz="4000" dirty="0"/>
          </a:p>
        </p:txBody>
      </p:sp>
      <p:sp>
        <p:nvSpPr>
          <p:cNvPr id="13" name="Text 11"/>
          <p:cNvSpPr/>
          <p:nvPr/>
        </p:nvSpPr>
        <p:spPr>
          <a:xfrm>
            <a:off x="457200" y="3931920"/>
            <a:ext cx="2011680" cy="228600"/>
          </a:xfrm>
          <a:prstGeom prst="rect">
            <a:avLst/>
          </a:prstGeom>
          <a:noFill/>
          <a:ln/>
        </p:spPr>
        <p:txBody>
          <a:bodyPr wrap="square" lIns="0" tIns="0" rIns="0" bIns="0" rtlCol="0" anchor="ctr"/>
          <a:lstStyle/>
          <a:p>
            <a:pPr indent="0" marL="0">
              <a:buNone/>
            </a:pPr>
            <a:r>
              <a:rPr lang="en-US" sz="1100" dirty="0">
                <a:solidFill>
                  <a:srgbClr val="5A6573"/>
                </a:solidFill>
                <a:latin typeface="Calibri" pitchFamily="34" charset="0"/>
                <a:ea typeface="Calibri" pitchFamily="34" charset="-122"/>
                <a:cs typeface="Calibri" pitchFamily="34" charset="-120"/>
              </a:rPr>
              <a:t>engineered features</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2926080" y="1417320"/>
          <a:ext cx="5760720" cy="2240280"/>
        </p:xfrm>
        <a:graphic>
          <a:graphicData uri="http://schemas.openxmlformats.org/drawingml/2006/table">
            <a:tbl>
              <a:tblPr/>
              <a:tblGrid>
                <a:gridCol w="1691640"/>
                <a:gridCol w="1417320"/>
                <a:gridCol w="2651760"/>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Source</a:t>
                      </a:r>
                      <a:endParaRPr lang="en-US" sz="11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solidFill>
                      <a:srgbClr val="0B2545"/>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Type</a:t>
                      </a:r>
                      <a:endParaRPr lang="en-US" sz="11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solidFill>
                      <a:srgbClr val="0B2545"/>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we get</a:t>
                      </a:r>
                      <a:endParaRPr lang="en-US" sz="11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solidFill>
                      <a:srgbClr val="0B2545"/>
                    </a:solidFill>
                  </a:tcPr>
                </a:tc>
              </a:tr>
              <a:tr h="365760">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football-data.co.uk</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Structured CSV</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Results, half-time scores, closing odds</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r h="365760">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ClubElo.com</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Structured API</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Daily club Elo ratings, 2000+</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r h="365760">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FBref / soccerdata</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Semi-structured</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Advanced stats incl. xG (2017-18+)</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r h="365760">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Wikipedia</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Semi-structured</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Manager tenure, promotion/relegation</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r h="365760">
                <a:tc>
                  <a:txBody>
                    <a:bodyPr/>
                    <a:lstStyle/>
                    <a:p>
                      <a:pPr indent="0" marL="0">
                        <a:buNone/>
                      </a:pPr>
                      <a:r>
                        <a:rPr lang="en-US" sz="1050" b="1" dirty="0">
                          <a:solidFill>
                            <a:srgbClr val="E07A5F"/>
                          </a:solidFill>
                          <a:latin typeface="Calibri" pitchFamily="34" charset="0"/>
                          <a:ea typeface="Calibri" pitchFamily="34" charset="-122"/>
                          <a:cs typeface="Calibri" pitchFamily="34" charset="-120"/>
                        </a:rPr>
                        <a:t>Wikipedia season recaps (BBC pivot)</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1050" b="1" dirty="0">
                          <a:solidFill>
                            <a:srgbClr val="E07A5F"/>
                          </a:solidFill>
                          <a:latin typeface="Calibri" pitchFamily="34" charset="0"/>
                          <a:ea typeface="Calibri" pitchFamily="34" charset="-122"/>
                          <a:cs typeface="Calibri" pitchFamily="34" charset="-120"/>
                        </a:rPr>
                        <a:t>Unstructured prose</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1050" b="1" dirty="0">
                          <a:solidFill>
                            <a:srgbClr val="E07A5F"/>
                          </a:solidFill>
                          <a:latin typeface="Calibri" pitchFamily="34" charset="0"/>
                          <a:ea typeface="Calibri" pitchFamily="34" charset="-122"/>
                          <a:cs typeface="Calibri" pitchFamily="34" charset="-120"/>
                        </a:rPr>
                        <a:t>spaCy + VADER → 7 leakage-safe NLP cols</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bl>
          </a:graphicData>
        </a:graphic>
      </p:graphicFrame>
      <p:sp>
        <p:nvSpPr>
          <p:cNvPr id="15" name="Text 12"/>
          <p:cNvSpPr/>
          <p:nvPr/>
        </p:nvSpPr>
        <p:spPr>
          <a:xfrm>
            <a:off x="2926080" y="3749040"/>
            <a:ext cx="5760720" cy="237744"/>
          </a:xfrm>
          <a:prstGeom prst="rect">
            <a:avLst/>
          </a:prstGeom>
          <a:noFill/>
          <a:ln/>
        </p:spPr>
        <p:txBody>
          <a:bodyPr wrap="square" lIns="0" tIns="0" rIns="0" bIns="0" rtlCol="0" anchor="ctr"/>
          <a:lstStyle/>
          <a:p>
            <a:pPr indent="0" marL="0">
              <a:buNone/>
            </a:pPr>
            <a:r>
              <a:rPr lang="en-US" sz="1000" i="1" dirty="0">
                <a:solidFill>
                  <a:srgbClr val="5A6573"/>
                </a:solidFill>
                <a:latin typeface="Calibri" pitchFamily="34" charset="0"/>
                <a:ea typeface="Calibri" pitchFamily="34" charset="-122"/>
                <a:cs typeface="Calibri" pitchFamily="34" charset="-120"/>
              </a:rPr>
              <a:t>All sources joined via canonical-team dictionary; UnknownTeamError fails fast.</a:t>
            </a:r>
            <a:endParaRPr lang="en-US" sz="1000" dirty="0"/>
          </a:p>
        </p:txBody>
      </p:sp>
      <p:sp>
        <p:nvSpPr>
          <p:cNvPr id="16" name="Shape 13"/>
          <p:cNvSpPr/>
          <p:nvPr/>
        </p:nvSpPr>
        <p:spPr>
          <a:xfrm>
            <a:off x="457200" y="4114800"/>
            <a:ext cx="8229600" cy="566928"/>
          </a:xfrm>
          <a:prstGeom prst="rect">
            <a:avLst/>
          </a:prstGeom>
          <a:solidFill>
            <a:srgbClr val="0B2545"/>
          </a:solidFill>
          <a:ln/>
        </p:spPr>
      </p:sp>
      <p:sp>
        <p:nvSpPr>
          <p:cNvPr id="17" name="Shape 14"/>
          <p:cNvSpPr/>
          <p:nvPr/>
        </p:nvSpPr>
        <p:spPr>
          <a:xfrm>
            <a:off x="457200" y="4114800"/>
            <a:ext cx="54864" cy="566928"/>
          </a:xfrm>
          <a:prstGeom prst="rect">
            <a:avLst/>
          </a:prstGeom>
          <a:solidFill>
            <a:srgbClr val="E07A5F"/>
          </a:solidFill>
          <a:ln/>
        </p:spPr>
      </p:sp>
      <p:sp>
        <p:nvSpPr>
          <p:cNvPr id="18" name="Text 15"/>
          <p:cNvSpPr/>
          <p:nvPr/>
        </p:nvSpPr>
        <p:spPr>
          <a:xfrm>
            <a:off x="640080" y="4114800"/>
            <a:ext cx="1691640" cy="566928"/>
          </a:xfrm>
          <a:prstGeom prst="rect">
            <a:avLst/>
          </a:prstGeom>
          <a:noFill/>
          <a:ln/>
        </p:spPr>
        <p:txBody>
          <a:bodyPr wrap="square" lIns="0" tIns="0" rIns="0" bIns="0" rtlCol="0" anchor="ctr"/>
          <a:lstStyle/>
          <a:p>
            <a:pPr indent="0" marL="0">
              <a:buNone/>
            </a:pPr>
            <a:r>
              <a:rPr lang="en-US" sz="900" b="1" spc="400" kern="0" dirty="0">
                <a:solidFill>
                  <a:srgbClr val="B9D9EB"/>
                </a:solidFill>
                <a:latin typeface="Calibri" pitchFamily="34" charset="0"/>
                <a:ea typeface="Calibri" pitchFamily="34" charset="-122"/>
                <a:cs typeface="Calibri" pitchFamily="34" charset="-120"/>
              </a:rPr>
              <a:t>WHY IT MATTERS</a:t>
            </a:r>
            <a:endParaRPr lang="en-US" sz="900" dirty="0"/>
          </a:p>
        </p:txBody>
      </p:sp>
      <p:sp>
        <p:nvSpPr>
          <p:cNvPr id="19" name="Text 16"/>
          <p:cNvSpPr/>
          <p:nvPr/>
        </p:nvSpPr>
        <p:spPr>
          <a:xfrm>
            <a:off x="2423160" y="4151376"/>
            <a:ext cx="6217920" cy="493776"/>
          </a:xfrm>
          <a:prstGeom prst="rect">
            <a:avLst/>
          </a:prstGeom>
          <a:noFill/>
          <a:ln/>
        </p:spPr>
        <p:txBody>
          <a:bodyPr wrap="square" lIns="0" tIns="0" rIns="0" bIns="0" rtlCol="0" anchor="ctr"/>
          <a:lstStyle/>
          <a:p>
            <a:pPr indent="0" marL="0">
              <a:lnSpc>
                <a:spcPct val="118000"/>
              </a:lnSpc>
              <a:buNone/>
            </a:pPr>
            <a:r>
              <a:rPr lang="en-US" sz="1100" i="1" dirty="0">
                <a:solidFill>
                  <a:srgbClr val="FFFFFF"/>
                </a:solidFill>
                <a:latin typeface="Calibri" pitchFamily="34" charset="0"/>
                <a:ea typeface="Calibri" pitchFamily="34" charset="-122"/>
                <a:cs typeface="Calibri" pitchFamily="34" charset="-120"/>
              </a:rPr>
              <a:t>The unstructured BBC/Guardian feed is the rubric magnet — the only way to bring text into a tabular pipeline.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B9D9EB"/>
          </a:solidFill>
          <a:ln/>
        </p:spPr>
      </p:sp>
      <p:sp>
        <p:nvSpPr>
          <p:cNvPr id="3" name="Shape 1"/>
          <p:cNvSpPr/>
          <p:nvPr/>
        </p:nvSpPr>
        <p:spPr>
          <a:xfrm>
            <a:off x="457200" y="4759452"/>
            <a:ext cx="8229600" cy="10973"/>
          </a:xfrm>
          <a:prstGeom prst="rect">
            <a:avLst/>
          </a:prstGeom>
          <a:solidFill>
            <a:srgbClr val="D7DEE5"/>
          </a:solidFill>
          <a:ln/>
        </p:spPr>
      </p:sp>
      <p:sp>
        <p:nvSpPr>
          <p:cNvPr id="4" name="Text 2"/>
          <p:cNvSpPr/>
          <p:nvPr/>
        </p:nvSpPr>
        <p:spPr>
          <a:xfrm>
            <a:off x="457200" y="4814316"/>
            <a:ext cx="7772400" cy="256032"/>
          </a:xfrm>
          <a:prstGeom prst="rect">
            <a:avLst/>
          </a:prstGeom>
          <a:noFill/>
          <a:ln/>
        </p:spPr>
        <p:txBody>
          <a:bodyPr wrap="square" lIns="0" tIns="0" rIns="0" bIns="0" rtlCol="0" anchor="ctr"/>
          <a:lstStyle/>
          <a:p>
            <a:pPr algn="l" indent="0" marL="0">
              <a:buNone/>
            </a:pPr>
            <a:r>
              <a:rPr lang="en-US" sz="900" dirty="0">
                <a:solidFill>
                  <a:srgbClr val="5A6573"/>
                </a:solidFill>
                <a:latin typeface="Calibri" pitchFamily="34" charset="0"/>
                <a:ea typeface="Calibri" pitchFamily="34" charset="-122"/>
                <a:cs typeface="Calibri" pitchFamily="34" charset="-120"/>
              </a:rPr>
              <a:t>STAT 5243 Project 4   ·   Liang · Chen · Collaborator   ·   2026-05-05</a:t>
            </a:r>
            <a:endParaRPr lang="en-US" sz="900" dirty="0"/>
          </a:p>
        </p:txBody>
      </p:sp>
      <p:sp>
        <p:nvSpPr>
          <p:cNvPr id="5" name="Text 3"/>
          <p:cNvSpPr/>
          <p:nvPr/>
        </p:nvSpPr>
        <p:spPr>
          <a:xfrm>
            <a:off x="8046720" y="4814316"/>
            <a:ext cx="640080" cy="256032"/>
          </a:xfrm>
          <a:prstGeom prst="rect">
            <a:avLst/>
          </a:prstGeom>
          <a:noFill/>
          <a:ln/>
        </p:spPr>
        <p:txBody>
          <a:bodyPr wrap="square" lIns="0" tIns="0" rIns="0" bIns="0" rtlCol="0" anchor="ctr"/>
          <a:lstStyle/>
          <a:p>
            <a:pPr algn="r" indent="0" marL="0">
              <a:buNone/>
            </a:pPr>
            <a:r>
              <a:rPr lang="en-US" sz="900" dirty="0">
                <a:solidFill>
                  <a:srgbClr val="5A6573"/>
                </a:solidFill>
                <a:latin typeface="Calibri" pitchFamily="34" charset="0"/>
                <a:ea typeface="Calibri" pitchFamily="34" charset="-122"/>
                <a:cs typeface="Calibri" pitchFamily="34" charset="-120"/>
              </a:rPr>
              <a:t>5 / 12</a:t>
            </a:r>
            <a:endParaRPr lang="en-US" sz="900" dirty="0"/>
          </a:p>
        </p:txBody>
      </p:sp>
      <p:sp>
        <p:nvSpPr>
          <p:cNvPr id="6" name="Text 4"/>
          <p:cNvSpPr/>
          <p:nvPr/>
        </p:nvSpPr>
        <p:spPr>
          <a:xfrm>
            <a:off x="457200" y="274320"/>
            <a:ext cx="8229600" cy="274320"/>
          </a:xfrm>
          <a:prstGeom prst="rect">
            <a:avLst/>
          </a:prstGeom>
          <a:noFill/>
          <a:ln/>
        </p:spPr>
        <p:txBody>
          <a:bodyPr wrap="square" lIns="0" tIns="0" rIns="0" bIns="0" rtlCol="0" anchor="ctr"/>
          <a:lstStyle/>
          <a:p>
            <a:pPr indent="0" marL="0">
              <a:buNone/>
            </a:pPr>
            <a:r>
              <a:rPr lang="en-US" sz="1100" b="1" spc="400" kern="0" dirty="0">
                <a:solidFill>
                  <a:srgbClr val="7FB3D5"/>
                </a:solidFill>
                <a:latin typeface="Calibri" pitchFamily="34" charset="0"/>
                <a:ea typeface="Calibri" pitchFamily="34" charset="-122"/>
                <a:cs typeface="Calibri" pitchFamily="34" charset="-120"/>
              </a:rPr>
              <a:t>CLEANING SHOWCASE</a:t>
            </a:r>
            <a:endParaRPr lang="en-US" sz="1100" dirty="0"/>
          </a:p>
        </p:txBody>
      </p:sp>
      <p:sp>
        <p:nvSpPr>
          <p:cNvPr id="7" name="Text 5"/>
          <p:cNvSpPr/>
          <p:nvPr/>
        </p:nvSpPr>
        <p:spPr>
          <a:xfrm>
            <a:off x="457200" y="548640"/>
            <a:ext cx="8229600" cy="868680"/>
          </a:xfrm>
          <a:prstGeom prst="rect">
            <a:avLst/>
          </a:prstGeom>
          <a:noFill/>
          <a:ln/>
        </p:spPr>
        <p:txBody>
          <a:bodyPr wrap="square" lIns="0" tIns="0" rIns="0" bIns="0" rtlCol="0" anchor="ctr"/>
          <a:lstStyle/>
          <a:p>
            <a:pPr indent="0" marL="0">
              <a:lnSpc>
                <a:spcPct val="105000"/>
              </a:lnSpc>
              <a:buNone/>
            </a:pPr>
            <a:r>
              <a:rPr lang="en-US" sz="2100" b="1" dirty="0">
                <a:solidFill>
                  <a:srgbClr val="0B2545"/>
                </a:solidFill>
                <a:latin typeface="Georgia" pitchFamily="34" charset="0"/>
                <a:ea typeface="Georgia" pitchFamily="34" charset="-122"/>
                <a:cs typeface="Georgia" pitchFamily="34" charset="-120"/>
              </a:rPr>
              <a:t>BBC went JS-only mid-project — we pivoted to Wikipedia recaps and shipped the same NLP.</a:t>
            </a:r>
            <a:endParaRPr lang="en-US" sz="2100" dirty="0"/>
          </a:p>
        </p:txBody>
      </p:sp>
      <p:sp>
        <p:nvSpPr>
          <p:cNvPr id="8" name="Shape 6"/>
          <p:cNvSpPr/>
          <p:nvPr/>
        </p:nvSpPr>
        <p:spPr>
          <a:xfrm>
            <a:off x="457200" y="1417320"/>
            <a:ext cx="1920240" cy="1005840"/>
          </a:xfrm>
          <a:prstGeom prst="rect">
            <a:avLst/>
          </a:prstGeom>
          <a:solidFill>
            <a:srgbClr val="0B2545"/>
          </a:solidFill>
          <a:ln/>
          <a:effectLst>
            <a:outerShdw sx="100000" sy="100000" kx="0" ky="0" algn="bl" rotWithShape="0" blurRad="101600" dist="25400" dir="8100000">
              <a:srgbClr val="000000">
                <a:alpha val="10000"/>
              </a:srgbClr>
            </a:outerShdw>
          </a:effectLst>
        </p:spPr>
      </p:sp>
      <p:sp>
        <p:nvSpPr>
          <p:cNvPr id="9" name="Text 7"/>
          <p:cNvSpPr/>
          <p:nvPr/>
        </p:nvSpPr>
        <p:spPr>
          <a:xfrm>
            <a:off x="548640" y="1490472"/>
            <a:ext cx="365760" cy="274320"/>
          </a:xfrm>
          <a:prstGeom prst="rect">
            <a:avLst/>
          </a:prstGeom>
          <a:noFill/>
          <a:ln/>
        </p:spPr>
        <p:txBody>
          <a:bodyPr wrap="square" lIns="0" tIns="0" rIns="0" bIns="0" rtlCol="0" anchor="ctr"/>
          <a:lstStyle/>
          <a:p>
            <a:pPr indent="0" marL="0">
              <a:buNone/>
            </a:pPr>
            <a:r>
              <a:rPr lang="en-US" sz="1600" b="1" dirty="0">
                <a:solidFill>
                  <a:srgbClr val="B9D9EB"/>
                </a:solidFill>
                <a:latin typeface="Georgia" pitchFamily="34" charset="0"/>
                <a:ea typeface="Georgia" pitchFamily="34" charset="-122"/>
                <a:cs typeface="Georgia" pitchFamily="34" charset="-120"/>
              </a:rPr>
              <a:t>1</a:t>
            </a:r>
            <a:endParaRPr lang="en-US" sz="1600" dirty="0"/>
          </a:p>
        </p:txBody>
      </p:sp>
      <p:sp>
        <p:nvSpPr>
          <p:cNvPr id="10" name="Text 8"/>
          <p:cNvSpPr/>
          <p:nvPr/>
        </p:nvSpPr>
        <p:spPr>
          <a:xfrm>
            <a:off x="914400" y="1490472"/>
            <a:ext cx="141732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Scrape</a:t>
            </a:r>
            <a:endParaRPr lang="en-US" sz="1300" dirty="0"/>
          </a:p>
        </p:txBody>
      </p:sp>
      <p:sp>
        <p:nvSpPr>
          <p:cNvPr id="11" name="Text 9"/>
          <p:cNvSpPr/>
          <p:nvPr/>
        </p:nvSpPr>
        <p:spPr>
          <a:xfrm>
            <a:off x="548640" y="1828800"/>
            <a:ext cx="1737360" cy="548640"/>
          </a:xfrm>
          <a:prstGeom prst="rect">
            <a:avLst/>
          </a:prstGeom>
          <a:noFill/>
          <a:ln/>
        </p:spPr>
        <p:txBody>
          <a:bodyPr wrap="square" lIns="0" tIns="0" rIns="0" bIns="0" rtlCol="0" anchor="ctr"/>
          <a:lstStyle/>
          <a:p>
            <a:pPr indent="0" marL="0">
              <a:lnSpc>
                <a:spcPct val="120000"/>
              </a:lnSpc>
              <a:buNone/>
            </a:pPr>
            <a:r>
              <a:rPr lang="en-US" sz="1000" dirty="0">
                <a:solidFill>
                  <a:srgbClr val="B9D9EB"/>
                </a:solidFill>
                <a:latin typeface="Calibri" pitchFamily="34" charset="0"/>
                <a:ea typeface="Calibri" pitchFamily="34" charset="-122"/>
                <a:cs typeface="Calibri" pitchFamily="34" charset="-120"/>
              </a:rPr>
              <a:t>BBC failed (JS-only) →</a:t>
            </a:r>
            <a:endParaRPr lang="en-US" sz="1000" dirty="0"/>
          </a:p>
          <a:p>
            <a:pPr indent="0" marL="0">
              <a:lnSpc>
                <a:spcPct val="120000"/>
              </a:lnSpc>
              <a:buNone/>
            </a:pPr>
            <a:r>
              <a:rPr lang="en-US" sz="1000" dirty="0">
                <a:solidFill>
                  <a:srgbClr val="B9D9EB"/>
                </a:solidFill>
                <a:latin typeface="Calibri" pitchFamily="34" charset="0"/>
                <a:ea typeface="Calibri" pitchFamily="34" charset="-122"/>
                <a:cs typeface="Calibri" pitchFamily="34" charset="-120"/>
              </a:rPr>
              <a:t>Wikipedia recap text</a:t>
            </a:r>
            <a:endParaRPr lang="en-US" sz="1000" dirty="0"/>
          </a:p>
        </p:txBody>
      </p:sp>
      <p:sp>
        <p:nvSpPr>
          <p:cNvPr id="12" name="Text 10"/>
          <p:cNvSpPr/>
          <p:nvPr/>
        </p:nvSpPr>
        <p:spPr>
          <a:xfrm>
            <a:off x="2331720" y="1737360"/>
            <a:ext cx="274320" cy="365760"/>
          </a:xfrm>
          <a:prstGeom prst="rect">
            <a:avLst/>
          </a:prstGeom>
          <a:noFill/>
          <a:ln/>
        </p:spPr>
        <p:txBody>
          <a:bodyPr wrap="square" lIns="0" tIns="0" rIns="0" bIns="0" rtlCol="0" anchor="ctr"/>
          <a:lstStyle/>
          <a:p>
            <a:pPr algn="ctr" indent="0" marL="0">
              <a:buNone/>
            </a:pPr>
            <a:r>
              <a:rPr lang="en-US" sz="2200" b="1" dirty="0">
                <a:solidFill>
                  <a:srgbClr val="E07A5F"/>
                </a:solidFill>
                <a:latin typeface="Georgia" pitchFamily="34" charset="0"/>
                <a:ea typeface="Georgia" pitchFamily="34" charset="-122"/>
                <a:cs typeface="Georgia" pitchFamily="34" charset="-120"/>
              </a:rPr>
              <a:t>&gt;</a:t>
            </a:r>
            <a:endParaRPr lang="en-US" sz="2200" dirty="0"/>
          </a:p>
        </p:txBody>
      </p:sp>
      <p:sp>
        <p:nvSpPr>
          <p:cNvPr id="13" name="Shape 11"/>
          <p:cNvSpPr/>
          <p:nvPr/>
        </p:nvSpPr>
        <p:spPr>
          <a:xfrm>
            <a:off x="2560320" y="1417320"/>
            <a:ext cx="1920240" cy="1005840"/>
          </a:xfrm>
          <a:prstGeom prst="rect">
            <a:avLst/>
          </a:prstGeom>
          <a:solidFill>
            <a:srgbClr val="0B2545"/>
          </a:solidFill>
          <a:ln/>
          <a:effectLst>
            <a:outerShdw sx="100000" sy="100000" kx="0" ky="0" algn="bl" rotWithShape="0" blurRad="101600" dist="25400" dir="8100000">
              <a:srgbClr val="000000">
                <a:alpha val="10000"/>
              </a:srgbClr>
            </a:outerShdw>
          </a:effectLst>
        </p:spPr>
      </p:sp>
      <p:sp>
        <p:nvSpPr>
          <p:cNvPr id="14" name="Text 12"/>
          <p:cNvSpPr/>
          <p:nvPr/>
        </p:nvSpPr>
        <p:spPr>
          <a:xfrm>
            <a:off x="2651760" y="1490472"/>
            <a:ext cx="365760" cy="274320"/>
          </a:xfrm>
          <a:prstGeom prst="rect">
            <a:avLst/>
          </a:prstGeom>
          <a:noFill/>
          <a:ln/>
        </p:spPr>
        <p:txBody>
          <a:bodyPr wrap="square" lIns="0" tIns="0" rIns="0" bIns="0" rtlCol="0" anchor="ctr"/>
          <a:lstStyle/>
          <a:p>
            <a:pPr indent="0" marL="0">
              <a:buNone/>
            </a:pPr>
            <a:r>
              <a:rPr lang="en-US" sz="1600" b="1" dirty="0">
                <a:solidFill>
                  <a:srgbClr val="B9D9EB"/>
                </a:solidFill>
                <a:latin typeface="Georgia" pitchFamily="34" charset="0"/>
                <a:ea typeface="Georgia" pitchFamily="34" charset="-122"/>
                <a:cs typeface="Georgia" pitchFamily="34" charset="-120"/>
              </a:rPr>
              <a:t>2</a:t>
            </a:r>
            <a:endParaRPr lang="en-US" sz="1600" dirty="0"/>
          </a:p>
        </p:txBody>
      </p:sp>
      <p:sp>
        <p:nvSpPr>
          <p:cNvPr id="15" name="Text 13"/>
          <p:cNvSpPr/>
          <p:nvPr/>
        </p:nvSpPr>
        <p:spPr>
          <a:xfrm>
            <a:off x="3017520" y="1490472"/>
            <a:ext cx="141732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Parse</a:t>
            </a:r>
            <a:endParaRPr lang="en-US" sz="1300" dirty="0"/>
          </a:p>
        </p:txBody>
      </p:sp>
      <p:sp>
        <p:nvSpPr>
          <p:cNvPr id="16" name="Text 14"/>
          <p:cNvSpPr/>
          <p:nvPr/>
        </p:nvSpPr>
        <p:spPr>
          <a:xfrm>
            <a:off x="2651760" y="1828800"/>
            <a:ext cx="1737360" cy="548640"/>
          </a:xfrm>
          <a:prstGeom prst="rect">
            <a:avLst/>
          </a:prstGeom>
          <a:noFill/>
          <a:ln/>
        </p:spPr>
        <p:txBody>
          <a:bodyPr wrap="square" lIns="0" tIns="0" rIns="0" bIns="0" rtlCol="0" anchor="ctr"/>
          <a:lstStyle/>
          <a:p>
            <a:pPr indent="0" marL="0">
              <a:lnSpc>
                <a:spcPct val="120000"/>
              </a:lnSpc>
              <a:buNone/>
            </a:pPr>
            <a:r>
              <a:rPr lang="en-US" sz="1000" dirty="0">
                <a:solidFill>
                  <a:srgbClr val="B9D9EB"/>
                </a:solidFill>
                <a:latin typeface="Calibri" pitchFamily="34" charset="0"/>
                <a:ea typeface="Calibri" pitchFamily="34" charset="-122"/>
                <a:cs typeface="Calibri" pitchFamily="34" charset="-120"/>
              </a:rPr>
              <a:t>BeautifulSoup →</a:t>
            </a:r>
            <a:endParaRPr lang="en-US" sz="1000" dirty="0"/>
          </a:p>
          <a:p>
            <a:pPr indent="0" marL="0">
              <a:lnSpc>
                <a:spcPct val="120000"/>
              </a:lnSpc>
              <a:buNone/>
            </a:pPr>
            <a:r>
              <a:rPr lang="en-US" sz="1000" dirty="0">
                <a:solidFill>
                  <a:srgbClr val="B9D9EB"/>
                </a:solidFill>
                <a:latin typeface="Calibri" pitchFamily="34" charset="0"/>
                <a:ea typeface="Calibri" pitchFamily="34" charset="-122"/>
                <a:cs typeface="Calibri" pitchFamily="34" charset="-120"/>
              </a:rPr>
              <a:t>article text</a:t>
            </a:r>
            <a:endParaRPr lang="en-US" sz="1000" dirty="0"/>
          </a:p>
        </p:txBody>
      </p:sp>
      <p:sp>
        <p:nvSpPr>
          <p:cNvPr id="17" name="Text 15"/>
          <p:cNvSpPr/>
          <p:nvPr/>
        </p:nvSpPr>
        <p:spPr>
          <a:xfrm>
            <a:off x="4434840" y="1737360"/>
            <a:ext cx="274320" cy="365760"/>
          </a:xfrm>
          <a:prstGeom prst="rect">
            <a:avLst/>
          </a:prstGeom>
          <a:noFill/>
          <a:ln/>
        </p:spPr>
        <p:txBody>
          <a:bodyPr wrap="square" lIns="0" tIns="0" rIns="0" bIns="0" rtlCol="0" anchor="ctr"/>
          <a:lstStyle/>
          <a:p>
            <a:pPr algn="ctr" indent="0" marL="0">
              <a:buNone/>
            </a:pPr>
            <a:r>
              <a:rPr lang="en-US" sz="2200" b="1" dirty="0">
                <a:solidFill>
                  <a:srgbClr val="E07A5F"/>
                </a:solidFill>
                <a:latin typeface="Georgia" pitchFamily="34" charset="0"/>
                <a:ea typeface="Georgia" pitchFamily="34" charset="-122"/>
                <a:cs typeface="Georgia" pitchFamily="34" charset="-120"/>
              </a:rPr>
              <a:t>&gt;</a:t>
            </a:r>
            <a:endParaRPr lang="en-US" sz="2200" dirty="0"/>
          </a:p>
        </p:txBody>
      </p:sp>
      <p:sp>
        <p:nvSpPr>
          <p:cNvPr id="18" name="Shape 16"/>
          <p:cNvSpPr/>
          <p:nvPr/>
        </p:nvSpPr>
        <p:spPr>
          <a:xfrm>
            <a:off x="4663440" y="1417320"/>
            <a:ext cx="1920240" cy="1005840"/>
          </a:xfrm>
          <a:prstGeom prst="rect">
            <a:avLst/>
          </a:prstGeom>
          <a:solidFill>
            <a:srgbClr val="0B2545"/>
          </a:solidFill>
          <a:ln/>
          <a:effectLst>
            <a:outerShdw sx="100000" sy="100000" kx="0" ky="0" algn="bl" rotWithShape="0" blurRad="101600" dist="25400" dir="8100000">
              <a:srgbClr val="000000">
                <a:alpha val="10000"/>
              </a:srgbClr>
            </a:outerShdw>
          </a:effectLst>
        </p:spPr>
      </p:sp>
      <p:sp>
        <p:nvSpPr>
          <p:cNvPr id="19" name="Text 17"/>
          <p:cNvSpPr/>
          <p:nvPr/>
        </p:nvSpPr>
        <p:spPr>
          <a:xfrm>
            <a:off x="4754880" y="1490472"/>
            <a:ext cx="365760" cy="274320"/>
          </a:xfrm>
          <a:prstGeom prst="rect">
            <a:avLst/>
          </a:prstGeom>
          <a:noFill/>
          <a:ln/>
        </p:spPr>
        <p:txBody>
          <a:bodyPr wrap="square" lIns="0" tIns="0" rIns="0" bIns="0" rtlCol="0" anchor="ctr"/>
          <a:lstStyle/>
          <a:p>
            <a:pPr indent="0" marL="0">
              <a:buNone/>
            </a:pPr>
            <a:r>
              <a:rPr lang="en-US" sz="1600" b="1" dirty="0">
                <a:solidFill>
                  <a:srgbClr val="B9D9EB"/>
                </a:solidFill>
                <a:latin typeface="Georgia" pitchFamily="34" charset="0"/>
                <a:ea typeface="Georgia" pitchFamily="34" charset="-122"/>
                <a:cs typeface="Georgia" pitchFamily="34" charset="-120"/>
              </a:rPr>
              <a:t>3</a:t>
            </a:r>
            <a:endParaRPr lang="en-US" sz="1600" dirty="0"/>
          </a:p>
        </p:txBody>
      </p:sp>
      <p:sp>
        <p:nvSpPr>
          <p:cNvPr id="20" name="Text 18"/>
          <p:cNvSpPr/>
          <p:nvPr/>
        </p:nvSpPr>
        <p:spPr>
          <a:xfrm>
            <a:off x="5120640" y="1490472"/>
            <a:ext cx="141732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NLP</a:t>
            </a:r>
            <a:endParaRPr lang="en-US" sz="1300" dirty="0"/>
          </a:p>
        </p:txBody>
      </p:sp>
      <p:sp>
        <p:nvSpPr>
          <p:cNvPr id="21" name="Text 19"/>
          <p:cNvSpPr/>
          <p:nvPr/>
        </p:nvSpPr>
        <p:spPr>
          <a:xfrm>
            <a:off x="4754880" y="1828800"/>
            <a:ext cx="1737360" cy="548640"/>
          </a:xfrm>
          <a:prstGeom prst="rect">
            <a:avLst/>
          </a:prstGeom>
          <a:noFill/>
          <a:ln/>
        </p:spPr>
        <p:txBody>
          <a:bodyPr wrap="square" lIns="0" tIns="0" rIns="0" bIns="0" rtlCol="0" anchor="ctr"/>
          <a:lstStyle/>
          <a:p>
            <a:pPr indent="0" marL="0">
              <a:lnSpc>
                <a:spcPct val="120000"/>
              </a:lnSpc>
              <a:buNone/>
            </a:pPr>
            <a:r>
              <a:rPr lang="en-US" sz="1000" dirty="0">
                <a:solidFill>
                  <a:srgbClr val="B9D9EB"/>
                </a:solidFill>
                <a:latin typeface="Calibri" pitchFamily="34" charset="0"/>
                <a:ea typeface="Calibri" pitchFamily="34" charset="-122"/>
                <a:cs typeface="Calibri" pitchFamily="34" charset="-120"/>
              </a:rPr>
              <a:t>spaCy NER + VADER +</a:t>
            </a:r>
            <a:endParaRPr lang="en-US" sz="1000" dirty="0"/>
          </a:p>
          <a:p>
            <a:pPr indent="0" marL="0">
              <a:lnSpc>
                <a:spcPct val="120000"/>
              </a:lnSpc>
              <a:buNone/>
            </a:pPr>
            <a:r>
              <a:rPr lang="en-US" sz="1000" dirty="0">
                <a:solidFill>
                  <a:srgbClr val="B9D9EB"/>
                </a:solidFill>
                <a:latin typeface="Calibri" pitchFamily="34" charset="0"/>
                <a:ea typeface="Calibri" pitchFamily="34" charset="-122"/>
                <a:cs typeface="Calibri" pitchFamily="34" charset="-120"/>
              </a:rPr>
              <a:t>regex event tags</a:t>
            </a:r>
            <a:endParaRPr lang="en-US" sz="1000" dirty="0"/>
          </a:p>
        </p:txBody>
      </p:sp>
      <p:sp>
        <p:nvSpPr>
          <p:cNvPr id="22" name="Text 20"/>
          <p:cNvSpPr/>
          <p:nvPr/>
        </p:nvSpPr>
        <p:spPr>
          <a:xfrm>
            <a:off x="6537960" y="1737360"/>
            <a:ext cx="274320" cy="365760"/>
          </a:xfrm>
          <a:prstGeom prst="rect">
            <a:avLst/>
          </a:prstGeom>
          <a:noFill/>
          <a:ln/>
        </p:spPr>
        <p:txBody>
          <a:bodyPr wrap="square" lIns="0" tIns="0" rIns="0" bIns="0" rtlCol="0" anchor="ctr"/>
          <a:lstStyle/>
          <a:p>
            <a:pPr algn="ctr" indent="0" marL="0">
              <a:buNone/>
            </a:pPr>
            <a:r>
              <a:rPr lang="en-US" sz="2200" b="1" dirty="0">
                <a:solidFill>
                  <a:srgbClr val="E07A5F"/>
                </a:solidFill>
                <a:latin typeface="Georgia" pitchFamily="34" charset="0"/>
                <a:ea typeface="Georgia" pitchFamily="34" charset="-122"/>
                <a:cs typeface="Georgia" pitchFamily="34" charset="-120"/>
              </a:rPr>
              <a:t>&gt;</a:t>
            </a:r>
            <a:endParaRPr lang="en-US" sz="2200" dirty="0"/>
          </a:p>
        </p:txBody>
      </p:sp>
      <p:sp>
        <p:nvSpPr>
          <p:cNvPr id="23" name="Shape 21"/>
          <p:cNvSpPr/>
          <p:nvPr/>
        </p:nvSpPr>
        <p:spPr>
          <a:xfrm>
            <a:off x="6766560" y="1417320"/>
            <a:ext cx="1920240" cy="1005840"/>
          </a:xfrm>
          <a:prstGeom prst="rect">
            <a:avLst/>
          </a:prstGeom>
          <a:solidFill>
            <a:srgbClr val="0B2545"/>
          </a:solidFill>
          <a:ln/>
          <a:effectLst>
            <a:outerShdw sx="100000" sy="100000" kx="0" ky="0" algn="bl" rotWithShape="0" blurRad="101600" dist="25400" dir="8100000">
              <a:srgbClr val="000000">
                <a:alpha val="10000"/>
              </a:srgbClr>
            </a:outerShdw>
          </a:effectLst>
        </p:spPr>
      </p:sp>
      <p:sp>
        <p:nvSpPr>
          <p:cNvPr id="24" name="Text 22"/>
          <p:cNvSpPr/>
          <p:nvPr/>
        </p:nvSpPr>
        <p:spPr>
          <a:xfrm>
            <a:off x="6858000" y="1490472"/>
            <a:ext cx="365760" cy="274320"/>
          </a:xfrm>
          <a:prstGeom prst="rect">
            <a:avLst/>
          </a:prstGeom>
          <a:noFill/>
          <a:ln/>
        </p:spPr>
        <p:txBody>
          <a:bodyPr wrap="square" lIns="0" tIns="0" rIns="0" bIns="0" rtlCol="0" anchor="ctr"/>
          <a:lstStyle/>
          <a:p>
            <a:pPr indent="0" marL="0">
              <a:buNone/>
            </a:pPr>
            <a:r>
              <a:rPr lang="en-US" sz="1600" b="1" dirty="0">
                <a:solidFill>
                  <a:srgbClr val="B9D9EB"/>
                </a:solidFill>
                <a:latin typeface="Georgia" pitchFamily="34" charset="0"/>
                <a:ea typeface="Georgia" pitchFamily="34" charset="-122"/>
                <a:cs typeface="Georgia" pitchFamily="34" charset="-120"/>
              </a:rPr>
              <a:t>4</a:t>
            </a:r>
            <a:endParaRPr lang="en-US" sz="1600" dirty="0"/>
          </a:p>
        </p:txBody>
      </p:sp>
      <p:sp>
        <p:nvSpPr>
          <p:cNvPr id="25" name="Text 23"/>
          <p:cNvSpPr/>
          <p:nvPr/>
        </p:nvSpPr>
        <p:spPr>
          <a:xfrm>
            <a:off x="7223760" y="1490472"/>
            <a:ext cx="141732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Attach</a:t>
            </a:r>
            <a:endParaRPr lang="en-US" sz="1300" dirty="0"/>
          </a:p>
        </p:txBody>
      </p:sp>
      <p:sp>
        <p:nvSpPr>
          <p:cNvPr id="26" name="Text 24"/>
          <p:cNvSpPr/>
          <p:nvPr/>
        </p:nvSpPr>
        <p:spPr>
          <a:xfrm>
            <a:off x="6858000" y="1828800"/>
            <a:ext cx="1737360" cy="548640"/>
          </a:xfrm>
          <a:prstGeom prst="rect">
            <a:avLst/>
          </a:prstGeom>
          <a:noFill/>
          <a:ln/>
        </p:spPr>
        <p:txBody>
          <a:bodyPr wrap="square" lIns="0" tIns="0" rIns="0" bIns="0" rtlCol="0" anchor="ctr"/>
          <a:lstStyle/>
          <a:p>
            <a:pPr indent="0" marL="0">
              <a:lnSpc>
                <a:spcPct val="120000"/>
              </a:lnSpc>
              <a:buNone/>
            </a:pPr>
            <a:r>
              <a:rPr lang="en-US" sz="1000" dirty="0">
                <a:solidFill>
                  <a:srgbClr val="B9D9EB"/>
                </a:solidFill>
                <a:latin typeface="Calibri" pitchFamily="34" charset="0"/>
                <a:ea typeface="Calibri" pitchFamily="34" charset="-122"/>
                <a:cs typeface="Calibri" pitchFamily="34" charset="-120"/>
              </a:rPr>
              <a:t>Per-team sentiment +</a:t>
            </a:r>
            <a:endParaRPr lang="en-US" sz="1000" dirty="0"/>
          </a:p>
          <a:p>
            <a:pPr indent="0" marL="0">
              <a:lnSpc>
                <a:spcPct val="120000"/>
              </a:lnSpc>
              <a:buNone/>
            </a:pPr>
            <a:r>
              <a:rPr lang="en-US" sz="1000" dirty="0">
                <a:solidFill>
                  <a:srgbClr val="B9D9EB"/>
                </a:solidFill>
                <a:latin typeface="Calibri" pitchFamily="34" charset="0"/>
                <a:ea typeface="Calibri" pitchFamily="34" charset="-122"/>
                <a:cs typeface="Calibri" pitchFamily="34" charset="-120"/>
              </a:rPr>
              <a:t>7 leakage-safe cols</a:t>
            </a:r>
            <a:endParaRPr lang="en-US" sz="1000" dirty="0"/>
          </a:p>
        </p:txBody>
      </p:sp>
      <p:sp>
        <p:nvSpPr>
          <p:cNvPr id="27" name="Text 25"/>
          <p:cNvSpPr/>
          <p:nvPr/>
        </p:nvSpPr>
        <p:spPr>
          <a:xfrm>
            <a:off x="457200" y="2560320"/>
            <a:ext cx="8229600" cy="219456"/>
          </a:xfrm>
          <a:prstGeom prst="rect">
            <a:avLst/>
          </a:prstGeom>
          <a:noFill/>
          <a:ln/>
        </p:spPr>
        <p:txBody>
          <a:bodyPr wrap="square" lIns="0" tIns="0" rIns="0" bIns="0" rtlCol="0" anchor="ctr"/>
          <a:lstStyle/>
          <a:p>
            <a:pPr indent="0" marL="0">
              <a:buNone/>
            </a:pPr>
            <a:r>
              <a:rPr lang="en-US" sz="1050" b="1" spc="300" kern="0" dirty="0">
                <a:solidFill>
                  <a:srgbClr val="13315C"/>
                </a:solidFill>
                <a:latin typeface="Calibri" pitchFamily="34" charset="0"/>
                <a:ea typeface="Calibri" pitchFamily="34" charset="-122"/>
                <a:cs typeface="Calibri" pitchFamily="34" charset="-120"/>
              </a:rPr>
              <a:t>Worked example</a:t>
            </a:r>
            <a:endParaRPr lang="en-US" sz="1050" dirty="0"/>
          </a:p>
        </p:txBody>
      </p:sp>
      <p:sp>
        <p:nvSpPr>
          <p:cNvPr id="28" name="Shape 26"/>
          <p:cNvSpPr/>
          <p:nvPr/>
        </p:nvSpPr>
        <p:spPr>
          <a:xfrm>
            <a:off x="457200" y="2816352"/>
            <a:ext cx="4160520" cy="1005840"/>
          </a:xfrm>
          <a:prstGeom prst="rect">
            <a:avLst/>
          </a:prstGeom>
          <a:solidFill>
            <a:srgbClr val="FFFFFF"/>
          </a:solidFill>
          <a:ln w="9525">
            <a:solidFill>
              <a:srgbClr val="D7DEE5"/>
            </a:solidFill>
            <a:prstDash val="solid"/>
          </a:ln>
          <a:effectLst>
            <a:outerShdw sx="100000" sy="100000" kx="0" ky="0" algn="bl" rotWithShape="0" blurRad="101600" dist="25400" dir="8100000">
              <a:srgbClr val="000000">
                <a:alpha val="10000"/>
              </a:srgbClr>
            </a:outerShdw>
          </a:effectLst>
        </p:spPr>
      </p:sp>
      <p:sp>
        <p:nvSpPr>
          <p:cNvPr id="29" name="Shape 27"/>
          <p:cNvSpPr/>
          <p:nvPr/>
        </p:nvSpPr>
        <p:spPr>
          <a:xfrm>
            <a:off x="457200" y="2816352"/>
            <a:ext cx="54864" cy="1005840"/>
          </a:xfrm>
          <a:prstGeom prst="rect">
            <a:avLst/>
          </a:prstGeom>
          <a:solidFill>
            <a:srgbClr val="7FB3D5"/>
          </a:solidFill>
          <a:ln/>
        </p:spPr>
      </p:sp>
      <p:sp>
        <p:nvSpPr>
          <p:cNvPr id="30" name="Text 28"/>
          <p:cNvSpPr/>
          <p:nvPr/>
        </p:nvSpPr>
        <p:spPr>
          <a:xfrm>
            <a:off x="621792" y="2871216"/>
            <a:ext cx="3931920" cy="182880"/>
          </a:xfrm>
          <a:prstGeom prst="rect">
            <a:avLst/>
          </a:prstGeom>
          <a:noFill/>
          <a:ln/>
        </p:spPr>
        <p:txBody>
          <a:bodyPr wrap="square" lIns="0" tIns="0" rIns="0" bIns="0" rtlCol="0" anchor="ctr"/>
          <a:lstStyle/>
          <a:p>
            <a:pPr indent="0" marL="0">
              <a:buNone/>
            </a:pPr>
            <a:r>
              <a:rPr lang="en-US" sz="900" b="1" spc="200" kern="0" dirty="0">
                <a:solidFill>
                  <a:srgbClr val="5A6573"/>
                </a:solidFill>
                <a:latin typeface="Calibri" pitchFamily="34" charset="0"/>
                <a:ea typeface="Calibri" pitchFamily="34" charset="-122"/>
                <a:cs typeface="Calibri" pitchFamily="34" charset="-120"/>
              </a:rPr>
              <a:t>INPUT  ·  one sentence in</a:t>
            </a:r>
            <a:endParaRPr lang="en-US" sz="900" dirty="0"/>
          </a:p>
        </p:txBody>
      </p:sp>
      <p:sp>
        <p:nvSpPr>
          <p:cNvPr id="31" name="Text 29"/>
          <p:cNvSpPr/>
          <p:nvPr/>
        </p:nvSpPr>
        <p:spPr>
          <a:xfrm>
            <a:off x="621792" y="3108960"/>
            <a:ext cx="3931920" cy="676656"/>
          </a:xfrm>
          <a:prstGeom prst="rect">
            <a:avLst/>
          </a:prstGeom>
          <a:noFill/>
          <a:ln/>
        </p:spPr>
        <p:txBody>
          <a:bodyPr wrap="square" lIns="0" tIns="0" rIns="0" bIns="0" rtlCol="0" anchor="ctr"/>
          <a:lstStyle/>
          <a:p>
            <a:pPr indent="0" marL="0">
              <a:lnSpc>
                <a:spcPct val="118000"/>
              </a:lnSpc>
              <a:buNone/>
            </a:pPr>
            <a:r>
              <a:rPr lang="en-US" sz="1000" i="1" dirty="0">
                <a:solidFill>
                  <a:srgbClr val="1F2933"/>
                </a:solidFill>
                <a:latin typeface="Georgia" pitchFamily="34" charset="0"/>
                <a:ea typeface="Georgia" pitchFamily="34" charset="-122"/>
                <a:cs typeface="Georgia" pitchFamily="34" charset="-120"/>
              </a:rPr>
              <a:t>"Liverpool were sloppy and were lucky to escape with a draw after a controversial VAR call denied Tottenham a stoppage-time winner."</a:t>
            </a:r>
            <a:endParaRPr lang="en-US" sz="1000" dirty="0"/>
          </a:p>
        </p:txBody>
      </p:sp>
      <p:sp>
        <p:nvSpPr>
          <p:cNvPr id="32" name="Shape 30"/>
          <p:cNvSpPr/>
          <p:nvPr/>
        </p:nvSpPr>
        <p:spPr>
          <a:xfrm>
            <a:off x="4754880" y="2816352"/>
            <a:ext cx="3931920" cy="1005840"/>
          </a:xfrm>
          <a:prstGeom prst="rect">
            <a:avLst/>
          </a:prstGeom>
          <a:solidFill>
            <a:srgbClr val="FFFFFF"/>
          </a:solidFill>
          <a:ln w="9525">
            <a:solidFill>
              <a:srgbClr val="D7DEE5"/>
            </a:solidFill>
            <a:prstDash val="solid"/>
          </a:ln>
          <a:effectLst>
            <a:outerShdw sx="100000" sy="100000" kx="0" ky="0" algn="bl" rotWithShape="0" blurRad="101600" dist="25400" dir="8100000">
              <a:srgbClr val="000000">
                <a:alpha val="10000"/>
              </a:srgbClr>
            </a:outerShdw>
          </a:effectLst>
        </p:spPr>
      </p:sp>
      <p:sp>
        <p:nvSpPr>
          <p:cNvPr id="33" name="Shape 31"/>
          <p:cNvSpPr/>
          <p:nvPr/>
        </p:nvSpPr>
        <p:spPr>
          <a:xfrm>
            <a:off x="4754880" y="2816352"/>
            <a:ext cx="54864" cy="1005840"/>
          </a:xfrm>
          <a:prstGeom prst="rect">
            <a:avLst/>
          </a:prstGeom>
          <a:solidFill>
            <a:srgbClr val="E07A5F"/>
          </a:solidFill>
          <a:ln/>
        </p:spPr>
      </p:sp>
      <p:sp>
        <p:nvSpPr>
          <p:cNvPr id="34" name="Text 32"/>
          <p:cNvSpPr/>
          <p:nvPr/>
        </p:nvSpPr>
        <p:spPr>
          <a:xfrm>
            <a:off x="4919472" y="2871216"/>
            <a:ext cx="3703320" cy="182880"/>
          </a:xfrm>
          <a:prstGeom prst="rect">
            <a:avLst/>
          </a:prstGeom>
          <a:noFill/>
          <a:ln/>
        </p:spPr>
        <p:txBody>
          <a:bodyPr wrap="square" lIns="0" tIns="0" rIns="0" bIns="0" rtlCol="0" anchor="ctr"/>
          <a:lstStyle/>
          <a:p>
            <a:pPr indent="0" marL="0">
              <a:buNone/>
            </a:pPr>
            <a:r>
              <a:rPr lang="en-US" sz="900" b="1" spc="200" kern="0" dirty="0">
                <a:solidFill>
                  <a:srgbClr val="5A6573"/>
                </a:solidFill>
                <a:latin typeface="Calibri" pitchFamily="34" charset="0"/>
                <a:ea typeface="Calibri" pitchFamily="34" charset="-122"/>
                <a:cs typeface="Calibri" pitchFamily="34" charset="-120"/>
              </a:rPr>
              <a:t>OUTPUT  ·  one feature row out</a:t>
            </a:r>
            <a:endParaRPr lang="en-US" sz="900" dirty="0"/>
          </a:p>
        </p:txBody>
      </p:sp>
      <p:sp>
        <p:nvSpPr>
          <p:cNvPr id="35" name="Text 33"/>
          <p:cNvSpPr/>
          <p:nvPr/>
        </p:nvSpPr>
        <p:spPr>
          <a:xfrm>
            <a:off x="4919472" y="3108960"/>
            <a:ext cx="3703320" cy="676656"/>
          </a:xfrm>
          <a:prstGeom prst="rect">
            <a:avLst/>
          </a:prstGeom>
          <a:noFill/>
          <a:ln/>
        </p:spPr>
        <p:txBody>
          <a:bodyPr wrap="square" lIns="0" tIns="0" rIns="0" bIns="0" rtlCol="0" anchor="ctr"/>
          <a:lstStyle/>
          <a:p>
            <a:pPr indent="0" marL="0">
              <a:lnSpc>
                <a:spcPct val="118000"/>
              </a:lnSpc>
              <a:buNone/>
            </a:pPr>
            <a:r>
              <a:rPr lang="en-US" sz="950" dirty="0">
                <a:solidFill>
                  <a:srgbClr val="0B2545"/>
                </a:solidFill>
                <a:latin typeface="Consolas" pitchFamily="34" charset="0"/>
                <a:ea typeface="Consolas" pitchFamily="34" charset="-122"/>
                <a:cs typeface="Consolas" pitchFamily="34" charset="-120"/>
              </a:rPr>
              <a:t>home_report_sentiment</a:t>
            </a:r>
            <a:pPr indent="0" marL="0">
              <a:lnSpc>
                <a:spcPct val="118000"/>
              </a:lnSpc>
              <a:buNone/>
            </a:pPr>
            <a:r>
              <a:rPr lang="en-US" sz="950" b="1" dirty="0">
                <a:solidFill>
                  <a:srgbClr val="1F2933"/>
                </a:solidFill>
                <a:latin typeface="Calibri" pitchFamily="34" charset="0"/>
                <a:ea typeface="Calibri" pitchFamily="34" charset="-122"/>
                <a:cs typeface="Calibri" pitchFamily="34" charset="-120"/>
              </a:rPr>
              <a:t>  =  -0.42
</a:t>
            </a:r>
            <a:pPr indent="0" marL="0">
              <a:lnSpc>
                <a:spcPct val="118000"/>
              </a:lnSpc>
              <a:buNone/>
            </a:pPr>
            <a:r>
              <a:rPr lang="en-US" sz="950" dirty="0">
                <a:solidFill>
                  <a:srgbClr val="0B2545"/>
                </a:solidFill>
                <a:latin typeface="Consolas" pitchFamily="34" charset="0"/>
                <a:ea typeface="Consolas" pitchFamily="34" charset="-122"/>
                <a:cs typeface="Consolas" pitchFamily="34" charset="-120"/>
              </a:rPr>
              <a:t>away_report_sentiment</a:t>
            </a:r>
            <a:pPr indent="0" marL="0">
              <a:lnSpc>
                <a:spcPct val="118000"/>
              </a:lnSpc>
              <a:buNone/>
            </a:pPr>
            <a:r>
              <a:rPr lang="en-US" sz="950" b="1" dirty="0">
                <a:solidFill>
                  <a:srgbClr val="1F2933"/>
                </a:solidFill>
                <a:latin typeface="Calibri" pitchFamily="34" charset="0"/>
                <a:ea typeface="Calibri" pitchFamily="34" charset="-122"/>
                <a:cs typeface="Calibri" pitchFamily="34" charset="-120"/>
              </a:rPr>
              <a:t>  =  +0.05
</a:t>
            </a:r>
            <a:pPr indent="0" marL="0">
              <a:lnSpc>
                <a:spcPct val="118000"/>
              </a:lnSpc>
              <a:buNone/>
            </a:pPr>
            <a:r>
              <a:rPr lang="en-US" sz="950" dirty="0">
                <a:solidFill>
                  <a:srgbClr val="0B2545"/>
                </a:solidFill>
                <a:latin typeface="Consolas" pitchFamily="34" charset="0"/>
                <a:ea typeface="Consolas" pitchFamily="34" charset="-122"/>
                <a:cs typeface="Consolas" pitchFamily="34" charset="-120"/>
              </a:rPr>
              <a:t>var_mention_count    </a:t>
            </a:r>
            <a:pPr indent="0" marL="0">
              <a:lnSpc>
                <a:spcPct val="118000"/>
              </a:lnSpc>
              <a:buNone/>
            </a:pPr>
            <a:r>
              <a:rPr lang="en-US" sz="950" b="1" dirty="0">
                <a:solidFill>
                  <a:srgbClr val="1F2933"/>
                </a:solidFill>
                <a:latin typeface="Calibri" pitchFamily="34" charset="0"/>
                <a:ea typeface="Calibri" pitchFamily="34" charset="-122"/>
                <a:cs typeface="Calibri" pitchFamily="34" charset="-120"/>
              </a:rPr>
              <a:t>  =  1
</a:t>
            </a:r>
            <a:pPr indent="0" marL="0">
              <a:lnSpc>
                <a:spcPct val="118000"/>
              </a:lnSpc>
              <a:buNone/>
            </a:pPr>
            <a:r>
              <a:rPr lang="en-US" sz="950" dirty="0">
                <a:solidFill>
                  <a:srgbClr val="0B2545"/>
                </a:solidFill>
                <a:latin typeface="Consolas" pitchFamily="34" charset="0"/>
                <a:ea typeface="Consolas" pitchFamily="34" charset="-122"/>
                <a:cs typeface="Consolas" pitchFamily="34" charset="-120"/>
              </a:rPr>
              <a:t>controversy_flag     </a:t>
            </a:r>
            <a:pPr indent="0" marL="0">
              <a:lnSpc>
                <a:spcPct val="118000"/>
              </a:lnSpc>
              <a:buNone/>
            </a:pPr>
            <a:r>
              <a:rPr lang="en-US" sz="950" b="1" dirty="0">
                <a:solidFill>
                  <a:srgbClr val="E07A5F"/>
                </a:solidFill>
                <a:latin typeface="Calibri" pitchFamily="34" charset="0"/>
                <a:ea typeface="Calibri" pitchFamily="34" charset="-122"/>
                <a:cs typeface="Calibri" pitchFamily="34" charset="-120"/>
              </a:rPr>
              <a:t>  =  1</a:t>
            </a:r>
            <a:endParaRPr lang="en-US" sz="950" dirty="0"/>
          </a:p>
        </p:txBody>
      </p:sp>
      <p:sp>
        <p:nvSpPr>
          <p:cNvPr id="36" name="Shape 34"/>
          <p:cNvSpPr/>
          <p:nvPr/>
        </p:nvSpPr>
        <p:spPr>
          <a:xfrm>
            <a:off x="457200" y="4114800"/>
            <a:ext cx="8229600" cy="566928"/>
          </a:xfrm>
          <a:prstGeom prst="rect">
            <a:avLst/>
          </a:prstGeom>
          <a:solidFill>
            <a:srgbClr val="0B2545"/>
          </a:solidFill>
          <a:ln/>
        </p:spPr>
      </p:sp>
      <p:sp>
        <p:nvSpPr>
          <p:cNvPr id="37" name="Shape 35"/>
          <p:cNvSpPr/>
          <p:nvPr/>
        </p:nvSpPr>
        <p:spPr>
          <a:xfrm>
            <a:off x="457200" y="4114800"/>
            <a:ext cx="54864" cy="566928"/>
          </a:xfrm>
          <a:prstGeom prst="rect">
            <a:avLst/>
          </a:prstGeom>
          <a:solidFill>
            <a:srgbClr val="E07A5F"/>
          </a:solidFill>
          <a:ln/>
        </p:spPr>
      </p:sp>
      <p:sp>
        <p:nvSpPr>
          <p:cNvPr id="38" name="Text 36"/>
          <p:cNvSpPr/>
          <p:nvPr/>
        </p:nvSpPr>
        <p:spPr>
          <a:xfrm>
            <a:off x="640080" y="4114800"/>
            <a:ext cx="1691640" cy="566928"/>
          </a:xfrm>
          <a:prstGeom prst="rect">
            <a:avLst/>
          </a:prstGeom>
          <a:noFill/>
          <a:ln/>
        </p:spPr>
        <p:txBody>
          <a:bodyPr wrap="square" lIns="0" tIns="0" rIns="0" bIns="0" rtlCol="0" anchor="ctr"/>
          <a:lstStyle/>
          <a:p>
            <a:pPr indent="0" marL="0">
              <a:buNone/>
            </a:pPr>
            <a:r>
              <a:rPr lang="en-US" sz="900" b="1" spc="400" kern="0" dirty="0">
                <a:solidFill>
                  <a:srgbClr val="B9D9EB"/>
                </a:solidFill>
                <a:latin typeface="Calibri" pitchFamily="34" charset="0"/>
                <a:ea typeface="Calibri" pitchFamily="34" charset="-122"/>
                <a:cs typeface="Calibri" pitchFamily="34" charset="-120"/>
              </a:rPr>
              <a:t>PIVOT + LEAKAGE GUARD</a:t>
            </a:r>
            <a:endParaRPr lang="en-US" sz="900" dirty="0"/>
          </a:p>
        </p:txBody>
      </p:sp>
      <p:sp>
        <p:nvSpPr>
          <p:cNvPr id="39" name="Text 37"/>
          <p:cNvSpPr/>
          <p:nvPr/>
        </p:nvSpPr>
        <p:spPr>
          <a:xfrm>
            <a:off x="2423160" y="4151376"/>
            <a:ext cx="6217920" cy="493776"/>
          </a:xfrm>
          <a:prstGeom prst="rect">
            <a:avLst/>
          </a:prstGeom>
          <a:noFill/>
          <a:ln/>
        </p:spPr>
        <p:txBody>
          <a:bodyPr wrap="square" lIns="0" tIns="0" rIns="0" bIns="0" rtlCol="0" anchor="ctr"/>
          <a:lstStyle/>
          <a:p>
            <a:pPr indent="0" marL="0">
              <a:lnSpc>
                <a:spcPct val="118000"/>
              </a:lnSpc>
              <a:buNone/>
            </a:pPr>
            <a:r>
              <a:rPr lang="en-US" sz="1100" i="1" dirty="0">
                <a:solidFill>
                  <a:srgbClr val="FFFFFF"/>
                </a:solidFill>
                <a:latin typeface="Calibri" pitchFamily="34" charset="0"/>
                <a:ea typeface="Calibri" pitchFamily="34" charset="-122"/>
                <a:cs typeface="Calibri" pitchFamily="34" charset="-120"/>
              </a:rPr>
              <a:t>Wikipedia recap NLP is joined as PRIOR-season aggregates — same idea, different source, zero post-match leak.</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B9D9EB"/>
          </a:solidFill>
          <a:ln/>
        </p:spPr>
      </p:sp>
      <p:sp>
        <p:nvSpPr>
          <p:cNvPr id="3" name="Shape 1"/>
          <p:cNvSpPr/>
          <p:nvPr/>
        </p:nvSpPr>
        <p:spPr>
          <a:xfrm>
            <a:off x="457200" y="4759452"/>
            <a:ext cx="8229600" cy="10973"/>
          </a:xfrm>
          <a:prstGeom prst="rect">
            <a:avLst/>
          </a:prstGeom>
          <a:solidFill>
            <a:srgbClr val="D7DEE5"/>
          </a:solidFill>
          <a:ln/>
        </p:spPr>
      </p:sp>
      <p:sp>
        <p:nvSpPr>
          <p:cNvPr id="4" name="Text 2"/>
          <p:cNvSpPr/>
          <p:nvPr/>
        </p:nvSpPr>
        <p:spPr>
          <a:xfrm>
            <a:off x="457200" y="4814316"/>
            <a:ext cx="7772400" cy="256032"/>
          </a:xfrm>
          <a:prstGeom prst="rect">
            <a:avLst/>
          </a:prstGeom>
          <a:noFill/>
          <a:ln/>
        </p:spPr>
        <p:txBody>
          <a:bodyPr wrap="square" lIns="0" tIns="0" rIns="0" bIns="0" rtlCol="0" anchor="ctr"/>
          <a:lstStyle/>
          <a:p>
            <a:pPr algn="l" indent="0" marL="0">
              <a:buNone/>
            </a:pPr>
            <a:r>
              <a:rPr lang="en-US" sz="900" dirty="0">
                <a:solidFill>
                  <a:srgbClr val="5A6573"/>
                </a:solidFill>
                <a:latin typeface="Calibri" pitchFamily="34" charset="0"/>
                <a:ea typeface="Calibri" pitchFamily="34" charset="-122"/>
                <a:cs typeface="Calibri" pitchFamily="34" charset="-120"/>
              </a:rPr>
              <a:t>STAT 5243 Project 4   ·   Liang · Chen · Collaborator   ·   2026-05-05</a:t>
            </a:r>
            <a:endParaRPr lang="en-US" sz="900" dirty="0"/>
          </a:p>
        </p:txBody>
      </p:sp>
      <p:sp>
        <p:nvSpPr>
          <p:cNvPr id="5" name="Text 3"/>
          <p:cNvSpPr/>
          <p:nvPr/>
        </p:nvSpPr>
        <p:spPr>
          <a:xfrm>
            <a:off x="8046720" y="4814316"/>
            <a:ext cx="640080" cy="256032"/>
          </a:xfrm>
          <a:prstGeom prst="rect">
            <a:avLst/>
          </a:prstGeom>
          <a:noFill/>
          <a:ln/>
        </p:spPr>
        <p:txBody>
          <a:bodyPr wrap="square" lIns="0" tIns="0" rIns="0" bIns="0" rtlCol="0" anchor="ctr"/>
          <a:lstStyle/>
          <a:p>
            <a:pPr algn="r" indent="0" marL="0">
              <a:buNone/>
            </a:pPr>
            <a:r>
              <a:rPr lang="en-US" sz="900" dirty="0">
                <a:solidFill>
                  <a:srgbClr val="5A6573"/>
                </a:solidFill>
                <a:latin typeface="Calibri" pitchFamily="34" charset="0"/>
                <a:ea typeface="Calibri" pitchFamily="34" charset="-122"/>
                <a:cs typeface="Calibri" pitchFamily="34" charset="-120"/>
              </a:rPr>
              <a:t>6 / 12</a:t>
            </a:r>
            <a:endParaRPr lang="en-US" sz="900" dirty="0"/>
          </a:p>
        </p:txBody>
      </p:sp>
      <p:sp>
        <p:nvSpPr>
          <p:cNvPr id="6" name="Text 4"/>
          <p:cNvSpPr/>
          <p:nvPr/>
        </p:nvSpPr>
        <p:spPr>
          <a:xfrm>
            <a:off x="457200" y="274320"/>
            <a:ext cx="8229600" cy="274320"/>
          </a:xfrm>
          <a:prstGeom prst="rect">
            <a:avLst/>
          </a:prstGeom>
          <a:noFill/>
          <a:ln/>
        </p:spPr>
        <p:txBody>
          <a:bodyPr wrap="square" lIns="0" tIns="0" rIns="0" bIns="0" rtlCol="0" anchor="ctr"/>
          <a:lstStyle/>
          <a:p>
            <a:pPr indent="0" marL="0">
              <a:buNone/>
            </a:pPr>
            <a:r>
              <a:rPr lang="en-US" sz="1100" b="1" spc="400" kern="0" dirty="0">
                <a:solidFill>
                  <a:srgbClr val="7FB3D5"/>
                </a:solidFill>
                <a:latin typeface="Calibri" pitchFamily="34" charset="0"/>
                <a:ea typeface="Calibri" pitchFamily="34" charset="-122"/>
                <a:cs typeface="Calibri" pitchFamily="34" charset="-120"/>
              </a:rPr>
              <a:t>EDA</a:t>
            </a:r>
            <a:endParaRPr lang="en-US" sz="1100" dirty="0"/>
          </a:p>
        </p:txBody>
      </p:sp>
      <p:sp>
        <p:nvSpPr>
          <p:cNvPr id="7" name="Text 5"/>
          <p:cNvSpPr/>
          <p:nvPr/>
        </p:nvSpPr>
        <p:spPr>
          <a:xfrm>
            <a:off x="457200" y="548640"/>
            <a:ext cx="8229600" cy="868680"/>
          </a:xfrm>
          <a:prstGeom prst="rect">
            <a:avLst/>
          </a:prstGeom>
          <a:noFill/>
          <a:ln/>
        </p:spPr>
        <p:txBody>
          <a:bodyPr wrap="square" lIns="0" tIns="0" rIns="0" bIns="0" rtlCol="0" anchor="ctr"/>
          <a:lstStyle/>
          <a:p>
            <a:pPr indent="0" marL="0">
              <a:lnSpc>
                <a:spcPct val="105000"/>
              </a:lnSpc>
              <a:buNone/>
            </a:pPr>
            <a:r>
              <a:rPr lang="en-US" sz="2400" b="1" dirty="0">
                <a:solidFill>
                  <a:srgbClr val="0B2545"/>
                </a:solidFill>
                <a:latin typeface="Georgia" pitchFamily="34" charset="0"/>
                <a:ea typeface="Georgia" pitchFamily="34" charset="-122"/>
                <a:cs typeface="Georgia" pitchFamily="34" charset="-120"/>
              </a:rPr>
              <a:t>Three EDA findings shaped every modelling choice we made.</a:t>
            </a:r>
            <a:endParaRPr lang="en-US" sz="2400" dirty="0"/>
          </a:p>
        </p:txBody>
      </p:sp>
      <p:sp>
        <p:nvSpPr>
          <p:cNvPr id="8" name="Shape 6"/>
          <p:cNvSpPr/>
          <p:nvPr/>
        </p:nvSpPr>
        <p:spPr>
          <a:xfrm>
            <a:off x="457200" y="1325880"/>
            <a:ext cx="4754880" cy="2331720"/>
          </a:xfrm>
          <a:prstGeom prst="rect">
            <a:avLst/>
          </a:prstGeom>
          <a:solidFill>
            <a:srgbClr val="FFFFFF"/>
          </a:solidFill>
          <a:ln w="6350">
            <a:solidFill>
              <a:srgbClr val="D7DEE5"/>
            </a:solidFill>
            <a:prstDash val="solid"/>
          </a:ln>
          <a:effectLst>
            <a:outerShdw sx="100000" sy="100000" kx="0" ky="0" algn="bl" rotWithShape="0" blurRad="101600" dist="25400" dir="8100000">
              <a:srgbClr val="000000">
                <a:alpha val="10000"/>
              </a:srgbClr>
            </a:outerShdw>
          </a:effectLst>
        </p:spPr>
      </p:sp>
      <p:pic>
        <p:nvPicPr>
          <p:cNvPr id="9" name="Image 0" descr="/Users/m2/Projects/STAT 5243/43 Project 4/figures/02_home_advantage_by_season.png">    </p:cNvPr>
          <p:cNvPicPr>
            <a:picLocks noChangeAspect="1"/>
          </p:cNvPicPr>
          <p:nvPr/>
        </p:nvPicPr>
        <p:blipFill>
          <a:blip r:embed="rId1"/>
          <a:srcRect l="0" r="0" t="0" b="0"/>
          <a:stretch/>
        </p:blipFill>
        <p:spPr>
          <a:xfrm>
            <a:off x="512064" y="1399032"/>
            <a:ext cx="4645152" cy="2185416"/>
          </a:xfrm>
          <a:prstGeom prst="rect">
            <a:avLst/>
          </a:prstGeom>
        </p:spPr>
      </p:pic>
      <p:sp>
        <p:nvSpPr>
          <p:cNvPr id="10" name="Text 7"/>
          <p:cNvSpPr/>
          <p:nvPr/>
        </p:nvSpPr>
        <p:spPr>
          <a:xfrm>
            <a:off x="457200" y="3675888"/>
            <a:ext cx="4754880" cy="182880"/>
          </a:xfrm>
          <a:prstGeom prst="rect">
            <a:avLst/>
          </a:prstGeom>
          <a:noFill/>
          <a:ln/>
        </p:spPr>
        <p:txBody>
          <a:bodyPr wrap="square" lIns="0" tIns="0" rIns="0" bIns="0" rtlCol="0" anchor="ctr"/>
          <a:lstStyle/>
          <a:p>
            <a:pPr indent="0" marL="0">
              <a:buNone/>
            </a:pPr>
            <a:r>
              <a:rPr lang="en-US" sz="1000" i="1" dirty="0">
                <a:solidFill>
                  <a:srgbClr val="5A6573"/>
                </a:solidFill>
                <a:latin typeface="Calibri" pitchFamily="34" charset="0"/>
                <a:ea typeface="Calibri" pitchFamily="34" charset="-122"/>
                <a:cs typeface="Calibri" pitchFamily="34" charset="-120"/>
              </a:rPr>
              <a:t>Home-win rate by season — the 2020-21 Covid cliff</a:t>
            </a:r>
            <a:endParaRPr lang="en-US" sz="1000" dirty="0"/>
          </a:p>
        </p:txBody>
      </p:sp>
      <p:sp>
        <p:nvSpPr>
          <p:cNvPr id="11" name="Shape 8"/>
          <p:cNvSpPr/>
          <p:nvPr/>
        </p:nvSpPr>
        <p:spPr>
          <a:xfrm>
            <a:off x="5440680" y="1325880"/>
            <a:ext cx="3246120" cy="2331720"/>
          </a:xfrm>
          <a:prstGeom prst="rect">
            <a:avLst/>
          </a:prstGeom>
          <a:solidFill>
            <a:srgbClr val="FFFFFF"/>
          </a:solidFill>
          <a:ln w="6350">
            <a:solidFill>
              <a:srgbClr val="D7DEE5"/>
            </a:solidFill>
            <a:prstDash val="solid"/>
          </a:ln>
          <a:effectLst>
            <a:outerShdw sx="100000" sy="100000" kx="0" ky="0" algn="bl" rotWithShape="0" blurRad="101600" dist="25400" dir="8100000">
              <a:srgbClr val="000000">
                <a:alpha val="10000"/>
              </a:srgbClr>
            </a:outerShdw>
          </a:effectLst>
        </p:spPr>
      </p:sp>
      <p:pic>
        <p:nvPicPr>
          <p:cNvPr id="12" name="Image 1" descr="/Users/m2/Projects/STAT 5243/43 Project 4/figures/05_elo_trajectories.png">    </p:cNvPr>
          <p:cNvPicPr>
            <a:picLocks noChangeAspect="1"/>
          </p:cNvPicPr>
          <p:nvPr/>
        </p:nvPicPr>
        <p:blipFill>
          <a:blip r:embed="rId2"/>
          <a:srcRect l="0" r="0" t="0" b="0"/>
          <a:stretch/>
        </p:blipFill>
        <p:spPr>
          <a:xfrm>
            <a:off x="5495544" y="1399032"/>
            <a:ext cx="3136392" cy="2057400"/>
          </a:xfrm>
          <a:prstGeom prst="rect">
            <a:avLst/>
          </a:prstGeom>
        </p:spPr>
      </p:pic>
      <p:sp>
        <p:nvSpPr>
          <p:cNvPr id="13" name="Text 9"/>
          <p:cNvSpPr/>
          <p:nvPr/>
        </p:nvSpPr>
        <p:spPr>
          <a:xfrm>
            <a:off x="5440680" y="3438144"/>
            <a:ext cx="3246120" cy="182880"/>
          </a:xfrm>
          <a:prstGeom prst="rect">
            <a:avLst/>
          </a:prstGeom>
          <a:noFill/>
          <a:ln/>
        </p:spPr>
        <p:txBody>
          <a:bodyPr wrap="square" lIns="0" tIns="0" rIns="0" bIns="0" rtlCol="0" anchor="ctr"/>
          <a:lstStyle/>
          <a:p>
            <a:pPr algn="ctr" indent="0" marL="0">
              <a:buNone/>
            </a:pPr>
            <a:r>
              <a:rPr lang="en-US" sz="900" i="1" dirty="0">
                <a:solidFill>
                  <a:srgbClr val="5A6573"/>
                </a:solidFill>
                <a:latin typeface="Calibri" pitchFamily="34" charset="0"/>
                <a:ea typeface="Calibri" pitchFamily="34" charset="-122"/>
                <a:cs typeface="Calibri" pitchFamily="34" charset="-120"/>
              </a:rPr>
              <a:t>ClubElo trajectories — strength as a slow-moving latent.</a:t>
            </a:r>
            <a:endParaRPr lang="en-US" sz="900" dirty="0"/>
          </a:p>
        </p:txBody>
      </p:sp>
      <p:sp>
        <p:nvSpPr>
          <p:cNvPr id="14" name="Shape 10"/>
          <p:cNvSpPr/>
          <p:nvPr/>
        </p:nvSpPr>
        <p:spPr>
          <a:xfrm>
            <a:off x="457200" y="4114800"/>
            <a:ext cx="8229600" cy="566928"/>
          </a:xfrm>
          <a:prstGeom prst="rect">
            <a:avLst/>
          </a:prstGeom>
          <a:solidFill>
            <a:srgbClr val="0B2545"/>
          </a:solidFill>
          <a:ln/>
        </p:spPr>
      </p:sp>
      <p:sp>
        <p:nvSpPr>
          <p:cNvPr id="15" name="Shape 11"/>
          <p:cNvSpPr/>
          <p:nvPr/>
        </p:nvSpPr>
        <p:spPr>
          <a:xfrm>
            <a:off x="457200" y="4114800"/>
            <a:ext cx="54864" cy="566928"/>
          </a:xfrm>
          <a:prstGeom prst="rect">
            <a:avLst/>
          </a:prstGeom>
          <a:solidFill>
            <a:srgbClr val="E07A5F"/>
          </a:solidFill>
          <a:ln/>
        </p:spPr>
      </p:sp>
      <p:sp>
        <p:nvSpPr>
          <p:cNvPr id="16" name="Text 12"/>
          <p:cNvSpPr/>
          <p:nvPr/>
        </p:nvSpPr>
        <p:spPr>
          <a:xfrm>
            <a:off x="640080" y="4114800"/>
            <a:ext cx="1691640" cy="566928"/>
          </a:xfrm>
          <a:prstGeom prst="rect">
            <a:avLst/>
          </a:prstGeom>
          <a:noFill/>
          <a:ln/>
        </p:spPr>
        <p:txBody>
          <a:bodyPr wrap="square" lIns="0" tIns="0" rIns="0" bIns="0" rtlCol="0" anchor="ctr"/>
          <a:lstStyle/>
          <a:p>
            <a:pPr indent="0" marL="0">
              <a:buNone/>
            </a:pPr>
            <a:r>
              <a:rPr lang="en-US" sz="900" b="1" spc="400" kern="0" dirty="0">
                <a:solidFill>
                  <a:srgbClr val="B9D9EB"/>
                </a:solidFill>
                <a:latin typeface="Calibri" pitchFamily="34" charset="0"/>
                <a:ea typeface="Calibri" pitchFamily="34" charset="-122"/>
                <a:cs typeface="Calibri" pitchFamily="34" charset="-120"/>
              </a:rPr>
              <a:t>WHAT WE LEARNED</a:t>
            </a:r>
            <a:endParaRPr lang="en-US" sz="900" dirty="0"/>
          </a:p>
        </p:txBody>
      </p:sp>
      <p:sp>
        <p:nvSpPr>
          <p:cNvPr id="17" name="Text 13"/>
          <p:cNvSpPr/>
          <p:nvPr/>
        </p:nvSpPr>
        <p:spPr>
          <a:xfrm>
            <a:off x="2423160" y="4151376"/>
            <a:ext cx="6217920" cy="493776"/>
          </a:xfrm>
          <a:prstGeom prst="rect">
            <a:avLst/>
          </a:prstGeom>
          <a:noFill/>
          <a:ln/>
        </p:spPr>
        <p:txBody>
          <a:bodyPr wrap="square" lIns="0" tIns="0" rIns="0" bIns="0" rtlCol="0" anchor="ctr"/>
          <a:lstStyle/>
          <a:p>
            <a:pPr indent="0" marL="0">
              <a:lnSpc>
                <a:spcPct val="118000"/>
              </a:lnSpc>
              <a:buNone/>
            </a:pPr>
            <a:r>
              <a:rPr lang="en-US" sz="1100" i="1" dirty="0">
                <a:solidFill>
                  <a:srgbClr val="FFFFFF"/>
                </a:solidFill>
                <a:latin typeface="Calibri" pitchFamily="34" charset="0"/>
                <a:ea typeface="Calibri" pitchFamily="34" charset="-122"/>
                <a:cs typeface="Calibri" pitchFamily="34" charset="-120"/>
              </a:rPr>
              <a:t>2020-21 is a regime shift we model around, not pretend away — and the joint-goals shape justifies a Poisson layer.</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B9D9EB"/>
          </a:solidFill>
          <a:ln/>
        </p:spPr>
      </p:sp>
      <p:sp>
        <p:nvSpPr>
          <p:cNvPr id="3" name="Shape 1"/>
          <p:cNvSpPr/>
          <p:nvPr/>
        </p:nvSpPr>
        <p:spPr>
          <a:xfrm>
            <a:off x="457200" y="4759452"/>
            <a:ext cx="8229600" cy="10973"/>
          </a:xfrm>
          <a:prstGeom prst="rect">
            <a:avLst/>
          </a:prstGeom>
          <a:solidFill>
            <a:srgbClr val="D7DEE5"/>
          </a:solidFill>
          <a:ln/>
        </p:spPr>
      </p:sp>
      <p:sp>
        <p:nvSpPr>
          <p:cNvPr id="4" name="Text 2"/>
          <p:cNvSpPr/>
          <p:nvPr/>
        </p:nvSpPr>
        <p:spPr>
          <a:xfrm>
            <a:off x="457200" y="4814316"/>
            <a:ext cx="7772400" cy="256032"/>
          </a:xfrm>
          <a:prstGeom prst="rect">
            <a:avLst/>
          </a:prstGeom>
          <a:noFill/>
          <a:ln/>
        </p:spPr>
        <p:txBody>
          <a:bodyPr wrap="square" lIns="0" tIns="0" rIns="0" bIns="0" rtlCol="0" anchor="ctr"/>
          <a:lstStyle/>
          <a:p>
            <a:pPr algn="l" indent="0" marL="0">
              <a:buNone/>
            </a:pPr>
            <a:r>
              <a:rPr lang="en-US" sz="900" dirty="0">
                <a:solidFill>
                  <a:srgbClr val="5A6573"/>
                </a:solidFill>
                <a:latin typeface="Calibri" pitchFamily="34" charset="0"/>
                <a:ea typeface="Calibri" pitchFamily="34" charset="-122"/>
                <a:cs typeface="Calibri" pitchFamily="34" charset="-120"/>
              </a:rPr>
              <a:t>STAT 5243 Project 4   ·   Liang · Chen · Collaborator   ·   2026-05-05</a:t>
            </a:r>
            <a:endParaRPr lang="en-US" sz="900" dirty="0"/>
          </a:p>
        </p:txBody>
      </p:sp>
      <p:sp>
        <p:nvSpPr>
          <p:cNvPr id="5" name="Text 3"/>
          <p:cNvSpPr/>
          <p:nvPr/>
        </p:nvSpPr>
        <p:spPr>
          <a:xfrm>
            <a:off x="8046720" y="4814316"/>
            <a:ext cx="640080" cy="256032"/>
          </a:xfrm>
          <a:prstGeom prst="rect">
            <a:avLst/>
          </a:prstGeom>
          <a:noFill/>
          <a:ln/>
        </p:spPr>
        <p:txBody>
          <a:bodyPr wrap="square" lIns="0" tIns="0" rIns="0" bIns="0" rtlCol="0" anchor="ctr"/>
          <a:lstStyle/>
          <a:p>
            <a:pPr algn="r" indent="0" marL="0">
              <a:buNone/>
            </a:pPr>
            <a:r>
              <a:rPr lang="en-US" sz="900" dirty="0">
                <a:solidFill>
                  <a:srgbClr val="5A6573"/>
                </a:solidFill>
                <a:latin typeface="Calibri" pitchFamily="34" charset="0"/>
                <a:ea typeface="Calibri" pitchFamily="34" charset="-122"/>
                <a:cs typeface="Calibri" pitchFamily="34" charset="-120"/>
              </a:rPr>
              <a:t>7 / 12</a:t>
            </a:r>
            <a:endParaRPr lang="en-US" sz="900" dirty="0"/>
          </a:p>
        </p:txBody>
      </p:sp>
      <p:sp>
        <p:nvSpPr>
          <p:cNvPr id="6" name="Text 4"/>
          <p:cNvSpPr/>
          <p:nvPr/>
        </p:nvSpPr>
        <p:spPr>
          <a:xfrm>
            <a:off x="457200" y="274320"/>
            <a:ext cx="8229600" cy="274320"/>
          </a:xfrm>
          <a:prstGeom prst="rect">
            <a:avLst/>
          </a:prstGeom>
          <a:noFill/>
          <a:ln/>
        </p:spPr>
        <p:txBody>
          <a:bodyPr wrap="square" lIns="0" tIns="0" rIns="0" bIns="0" rtlCol="0" anchor="ctr"/>
          <a:lstStyle/>
          <a:p>
            <a:pPr indent="0" marL="0">
              <a:buNone/>
            </a:pPr>
            <a:r>
              <a:rPr lang="en-US" sz="1100" b="1" spc="400" kern="0" dirty="0">
                <a:solidFill>
                  <a:srgbClr val="7FB3D5"/>
                </a:solidFill>
                <a:latin typeface="Calibri" pitchFamily="34" charset="0"/>
                <a:ea typeface="Calibri" pitchFamily="34" charset="-122"/>
                <a:cs typeface="Calibri" pitchFamily="34" charset="-120"/>
              </a:rPr>
              <a:t>FEATURE ENGINEERING</a:t>
            </a:r>
            <a:endParaRPr lang="en-US" sz="1100" dirty="0"/>
          </a:p>
        </p:txBody>
      </p:sp>
      <p:sp>
        <p:nvSpPr>
          <p:cNvPr id="7" name="Text 5"/>
          <p:cNvSpPr/>
          <p:nvPr/>
        </p:nvSpPr>
        <p:spPr>
          <a:xfrm>
            <a:off x="457200" y="548640"/>
            <a:ext cx="8229600" cy="868680"/>
          </a:xfrm>
          <a:prstGeom prst="rect">
            <a:avLst/>
          </a:prstGeom>
          <a:noFill/>
          <a:ln/>
        </p:spPr>
        <p:txBody>
          <a:bodyPr wrap="square" lIns="0" tIns="0" rIns="0" bIns="0" rtlCol="0" anchor="ctr"/>
          <a:lstStyle/>
          <a:p>
            <a:pPr indent="0" marL="0">
              <a:lnSpc>
                <a:spcPct val="105000"/>
              </a:lnSpc>
              <a:buNone/>
            </a:pPr>
            <a:r>
              <a:rPr lang="en-US" sz="2400" b="1" dirty="0">
                <a:solidFill>
                  <a:srgbClr val="0B2545"/>
                </a:solidFill>
                <a:latin typeface="Georgia" pitchFamily="34" charset="0"/>
                <a:ea typeface="Georgia" pitchFamily="34" charset="-122"/>
                <a:cs typeface="Georgia" pitchFamily="34" charset="-120"/>
              </a:rPr>
              <a:t>Six feature families, one strict cutoff rule, one PCA + K-means hook.</a:t>
            </a:r>
            <a:endParaRPr lang="en-US" sz="2400" dirty="0"/>
          </a:p>
        </p:txBody>
      </p:sp>
      <p:sp>
        <p:nvSpPr>
          <p:cNvPr id="8" name="Shape 6"/>
          <p:cNvSpPr/>
          <p:nvPr/>
        </p:nvSpPr>
        <p:spPr>
          <a:xfrm>
            <a:off x="457200" y="1325880"/>
            <a:ext cx="1673352" cy="960120"/>
          </a:xfrm>
          <a:prstGeom prst="rect">
            <a:avLst/>
          </a:prstGeom>
          <a:solidFill>
            <a:srgbClr val="FFFFFF"/>
          </a:solidFill>
          <a:ln w="9525">
            <a:solidFill>
              <a:srgbClr val="D7DEE5"/>
            </a:solidFill>
            <a:prstDash val="solid"/>
          </a:ln>
          <a:effectLst>
            <a:outerShdw sx="100000" sy="100000" kx="0" ky="0" algn="bl" rotWithShape="0" blurRad="101600" dist="25400" dir="8100000">
              <a:srgbClr val="000000">
                <a:alpha val="10000"/>
              </a:srgbClr>
            </a:outerShdw>
          </a:effectLst>
        </p:spPr>
      </p:sp>
      <p:sp>
        <p:nvSpPr>
          <p:cNvPr id="9" name="Shape 7"/>
          <p:cNvSpPr/>
          <p:nvPr/>
        </p:nvSpPr>
        <p:spPr>
          <a:xfrm>
            <a:off x="457200" y="1325880"/>
            <a:ext cx="54864" cy="960120"/>
          </a:xfrm>
          <a:prstGeom prst="rect">
            <a:avLst/>
          </a:prstGeom>
          <a:solidFill>
            <a:srgbClr val="7FB3D5"/>
          </a:solidFill>
          <a:ln/>
        </p:spPr>
      </p:sp>
      <p:sp>
        <p:nvSpPr>
          <p:cNvPr id="10" name="Text 8"/>
          <p:cNvSpPr/>
          <p:nvPr/>
        </p:nvSpPr>
        <p:spPr>
          <a:xfrm>
            <a:off x="585216" y="1399032"/>
            <a:ext cx="1490472" cy="274320"/>
          </a:xfrm>
          <a:prstGeom prst="rect">
            <a:avLst/>
          </a:prstGeom>
          <a:noFill/>
          <a:ln/>
        </p:spPr>
        <p:txBody>
          <a:bodyPr wrap="square" lIns="0" tIns="0" rIns="0" bIns="0" rtlCol="0" anchor="ctr"/>
          <a:lstStyle/>
          <a:p>
            <a:pPr indent="0" marL="0">
              <a:buNone/>
            </a:pPr>
            <a:r>
              <a:rPr lang="en-US" sz="1300" b="1" dirty="0">
                <a:solidFill>
                  <a:srgbClr val="0B2545"/>
                </a:solidFill>
                <a:latin typeface="Georgia" pitchFamily="34" charset="0"/>
                <a:ea typeface="Georgia" pitchFamily="34" charset="-122"/>
                <a:cs typeface="Georgia" pitchFamily="34" charset="-120"/>
              </a:rPr>
              <a:t>Form</a:t>
            </a:r>
            <a:endParaRPr lang="en-US" sz="1300" dirty="0"/>
          </a:p>
        </p:txBody>
      </p:sp>
      <p:sp>
        <p:nvSpPr>
          <p:cNvPr id="11" name="Text 9"/>
          <p:cNvSpPr/>
          <p:nvPr/>
        </p:nvSpPr>
        <p:spPr>
          <a:xfrm>
            <a:off x="585216" y="1691640"/>
            <a:ext cx="1490472" cy="548640"/>
          </a:xfrm>
          <a:prstGeom prst="rect">
            <a:avLst/>
          </a:prstGeom>
          <a:noFill/>
          <a:ln/>
        </p:spPr>
        <p:txBody>
          <a:bodyPr wrap="square" lIns="0" tIns="0" rIns="0" bIns="0" rtlCol="0" anchor="ctr"/>
          <a:lstStyle/>
          <a:p>
            <a:pPr indent="0" marL="0">
              <a:lnSpc>
                <a:spcPct val="120000"/>
              </a:lnSpc>
              <a:buNone/>
            </a:pPr>
            <a:r>
              <a:rPr lang="en-US" sz="950" dirty="0">
                <a:solidFill>
                  <a:srgbClr val="1F2933"/>
                </a:solidFill>
                <a:latin typeface="Calibri" pitchFamily="34" charset="0"/>
                <a:ea typeface="Calibri" pitchFamily="34" charset="-122"/>
                <a:cs typeface="Calibri" pitchFamily="34" charset="-120"/>
              </a:rPr>
              <a:t>Rolling N-match goals, points, xG. Leakage-safe shift.</a:t>
            </a:r>
            <a:endParaRPr lang="en-US" sz="950" dirty="0"/>
          </a:p>
        </p:txBody>
      </p:sp>
      <p:sp>
        <p:nvSpPr>
          <p:cNvPr id="12" name="Shape 10"/>
          <p:cNvSpPr/>
          <p:nvPr/>
        </p:nvSpPr>
        <p:spPr>
          <a:xfrm>
            <a:off x="2221992" y="1325880"/>
            <a:ext cx="1673352" cy="960120"/>
          </a:xfrm>
          <a:prstGeom prst="rect">
            <a:avLst/>
          </a:prstGeom>
          <a:solidFill>
            <a:srgbClr val="FFFFFF"/>
          </a:solidFill>
          <a:ln w="9525">
            <a:solidFill>
              <a:srgbClr val="D7DEE5"/>
            </a:solidFill>
            <a:prstDash val="solid"/>
          </a:ln>
          <a:effectLst>
            <a:outerShdw sx="100000" sy="100000" kx="0" ky="0" algn="bl" rotWithShape="0" blurRad="101600" dist="25400" dir="8100000">
              <a:srgbClr val="000000">
                <a:alpha val="10000"/>
              </a:srgbClr>
            </a:outerShdw>
          </a:effectLst>
        </p:spPr>
      </p:sp>
      <p:sp>
        <p:nvSpPr>
          <p:cNvPr id="13" name="Shape 11"/>
          <p:cNvSpPr/>
          <p:nvPr/>
        </p:nvSpPr>
        <p:spPr>
          <a:xfrm>
            <a:off x="2221992" y="1325880"/>
            <a:ext cx="54864" cy="960120"/>
          </a:xfrm>
          <a:prstGeom prst="rect">
            <a:avLst/>
          </a:prstGeom>
          <a:solidFill>
            <a:srgbClr val="7FB3D5"/>
          </a:solidFill>
          <a:ln/>
        </p:spPr>
      </p:sp>
      <p:sp>
        <p:nvSpPr>
          <p:cNvPr id="14" name="Text 12"/>
          <p:cNvSpPr/>
          <p:nvPr/>
        </p:nvSpPr>
        <p:spPr>
          <a:xfrm>
            <a:off x="2350008" y="1399032"/>
            <a:ext cx="1490472" cy="274320"/>
          </a:xfrm>
          <a:prstGeom prst="rect">
            <a:avLst/>
          </a:prstGeom>
          <a:noFill/>
          <a:ln/>
        </p:spPr>
        <p:txBody>
          <a:bodyPr wrap="square" lIns="0" tIns="0" rIns="0" bIns="0" rtlCol="0" anchor="ctr"/>
          <a:lstStyle/>
          <a:p>
            <a:pPr indent="0" marL="0">
              <a:buNone/>
            </a:pPr>
            <a:r>
              <a:rPr lang="en-US" sz="1300" b="1" dirty="0">
                <a:solidFill>
                  <a:srgbClr val="0B2545"/>
                </a:solidFill>
                <a:latin typeface="Georgia" pitchFamily="34" charset="0"/>
                <a:ea typeface="Georgia" pitchFamily="34" charset="-122"/>
                <a:cs typeface="Georgia" pitchFamily="34" charset="-120"/>
              </a:rPr>
              <a:t>Strength</a:t>
            </a:r>
            <a:endParaRPr lang="en-US" sz="1300" dirty="0"/>
          </a:p>
        </p:txBody>
      </p:sp>
      <p:sp>
        <p:nvSpPr>
          <p:cNvPr id="15" name="Text 13"/>
          <p:cNvSpPr/>
          <p:nvPr/>
        </p:nvSpPr>
        <p:spPr>
          <a:xfrm>
            <a:off x="2350008" y="1691640"/>
            <a:ext cx="1490472" cy="548640"/>
          </a:xfrm>
          <a:prstGeom prst="rect">
            <a:avLst/>
          </a:prstGeom>
          <a:noFill/>
          <a:ln/>
        </p:spPr>
        <p:txBody>
          <a:bodyPr wrap="square" lIns="0" tIns="0" rIns="0" bIns="0" rtlCol="0" anchor="ctr"/>
          <a:lstStyle/>
          <a:p>
            <a:pPr indent="0" marL="0">
              <a:lnSpc>
                <a:spcPct val="120000"/>
              </a:lnSpc>
              <a:buNone/>
            </a:pPr>
            <a:r>
              <a:rPr lang="en-US" sz="950" dirty="0">
                <a:solidFill>
                  <a:srgbClr val="1F2933"/>
                </a:solidFill>
                <a:latin typeface="Calibri" pitchFamily="34" charset="0"/>
                <a:ea typeface="Calibri" pitchFamily="34" charset="-122"/>
                <a:cs typeface="Calibri" pitchFamily="34" charset="-120"/>
              </a:rPr>
              <a:t>ClubElo + own Elo update; home minus away.</a:t>
            </a:r>
            <a:endParaRPr lang="en-US" sz="950" dirty="0"/>
          </a:p>
        </p:txBody>
      </p:sp>
      <p:sp>
        <p:nvSpPr>
          <p:cNvPr id="16" name="Shape 14"/>
          <p:cNvSpPr/>
          <p:nvPr/>
        </p:nvSpPr>
        <p:spPr>
          <a:xfrm>
            <a:off x="3986784" y="1325880"/>
            <a:ext cx="1673352" cy="960120"/>
          </a:xfrm>
          <a:prstGeom prst="rect">
            <a:avLst/>
          </a:prstGeom>
          <a:solidFill>
            <a:srgbClr val="FFFFFF"/>
          </a:solidFill>
          <a:ln w="9525">
            <a:solidFill>
              <a:srgbClr val="D7DEE5"/>
            </a:solidFill>
            <a:prstDash val="solid"/>
          </a:ln>
          <a:effectLst>
            <a:outerShdw sx="100000" sy="100000" kx="0" ky="0" algn="bl" rotWithShape="0" blurRad="101600" dist="25400" dir="8100000">
              <a:srgbClr val="000000">
                <a:alpha val="10000"/>
              </a:srgbClr>
            </a:outerShdw>
          </a:effectLst>
        </p:spPr>
      </p:sp>
      <p:sp>
        <p:nvSpPr>
          <p:cNvPr id="17" name="Shape 15"/>
          <p:cNvSpPr/>
          <p:nvPr/>
        </p:nvSpPr>
        <p:spPr>
          <a:xfrm>
            <a:off x="3986784" y="1325880"/>
            <a:ext cx="54864" cy="960120"/>
          </a:xfrm>
          <a:prstGeom prst="rect">
            <a:avLst/>
          </a:prstGeom>
          <a:solidFill>
            <a:srgbClr val="7FB3D5"/>
          </a:solidFill>
          <a:ln/>
        </p:spPr>
      </p:sp>
      <p:sp>
        <p:nvSpPr>
          <p:cNvPr id="18" name="Text 16"/>
          <p:cNvSpPr/>
          <p:nvPr/>
        </p:nvSpPr>
        <p:spPr>
          <a:xfrm>
            <a:off x="4114800" y="1399032"/>
            <a:ext cx="1490472" cy="274320"/>
          </a:xfrm>
          <a:prstGeom prst="rect">
            <a:avLst/>
          </a:prstGeom>
          <a:noFill/>
          <a:ln/>
        </p:spPr>
        <p:txBody>
          <a:bodyPr wrap="square" lIns="0" tIns="0" rIns="0" bIns="0" rtlCol="0" anchor="ctr"/>
          <a:lstStyle/>
          <a:p>
            <a:pPr indent="0" marL="0">
              <a:buNone/>
            </a:pPr>
            <a:r>
              <a:rPr lang="en-US" sz="1300" b="1" dirty="0">
                <a:solidFill>
                  <a:srgbClr val="0B2545"/>
                </a:solidFill>
                <a:latin typeface="Georgia" pitchFamily="34" charset="0"/>
                <a:ea typeface="Georgia" pitchFamily="34" charset="-122"/>
                <a:cs typeface="Georgia" pitchFamily="34" charset="-120"/>
              </a:rPr>
              <a:t>Context</a:t>
            </a:r>
            <a:endParaRPr lang="en-US" sz="1300" dirty="0"/>
          </a:p>
        </p:txBody>
      </p:sp>
      <p:sp>
        <p:nvSpPr>
          <p:cNvPr id="19" name="Text 17"/>
          <p:cNvSpPr/>
          <p:nvPr/>
        </p:nvSpPr>
        <p:spPr>
          <a:xfrm>
            <a:off x="4114800" y="1691640"/>
            <a:ext cx="1490472" cy="548640"/>
          </a:xfrm>
          <a:prstGeom prst="rect">
            <a:avLst/>
          </a:prstGeom>
          <a:noFill/>
          <a:ln/>
        </p:spPr>
        <p:txBody>
          <a:bodyPr wrap="square" lIns="0" tIns="0" rIns="0" bIns="0" rtlCol="0" anchor="ctr"/>
          <a:lstStyle/>
          <a:p>
            <a:pPr indent="0" marL="0">
              <a:lnSpc>
                <a:spcPct val="120000"/>
              </a:lnSpc>
              <a:buNone/>
            </a:pPr>
            <a:r>
              <a:rPr lang="en-US" sz="950" dirty="0">
                <a:solidFill>
                  <a:srgbClr val="1F2933"/>
                </a:solidFill>
                <a:latin typeface="Calibri" pitchFamily="34" charset="0"/>
                <a:ea typeface="Calibri" pitchFamily="34" charset="-122"/>
                <a:cs typeface="Calibri" pitchFamily="34" charset="-120"/>
              </a:rPr>
              <a:t>Rest days, derby flag, manager tenure.</a:t>
            </a:r>
            <a:endParaRPr lang="en-US" sz="950" dirty="0"/>
          </a:p>
        </p:txBody>
      </p:sp>
      <p:sp>
        <p:nvSpPr>
          <p:cNvPr id="20" name="Shape 18"/>
          <p:cNvSpPr/>
          <p:nvPr/>
        </p:nvSpPr>
        <p:spPr>
          <a:xfrm>
            <a:off x="457200" y="2377440"/>
            <a:ext cx="1673352" cy="960120"/>
          </a:xfrm>
          <a:prstGeom prst="rect">
            <a:avLst/>
          </a:prstGeom>
          <a:solidFill>
            <a:srgbClr val="FFFFFF"/>
          </a:solidFill>
          <a:ln w="9525">
            <a:solidFill>
              <a:srgbClr val="D7DEE5"/>
            </a:solidFill>
            <a:prstDash val="solid"/>
          </a:ln>
          <a:effectLst>
            <a:outerShdw sx="100000" sy="100000" kx="0" ky="0" algn="bl" rotWithShape="0" blurRad="101600" dist="25400" dir="8100000">
              <a:srgbClr val="000000">
                <a:alpha val="10000"/>
              </a:srgbClr>
            </a:outerShdw>
          </a:effectLst>
        </p:spPr>
      </p:sp>
      <p:sp>
        <p:nvSpPr>
          <p:cNvPr id="21" name="Shape 19"/>
          <p:cNvSpPr/>
          <p:nvPr/>
        </p:nvSpPr>
        <p:spPr>
          <a:xfrm>
            <a:off x="457200" y="2377440"/>
            <a:ext cx="54864" cy="960120"/>
          </a:xfrm>
          <a:prstGeom prst="rect">
            <a:avLst/>
          </a:prstGeom>
          <a:solidFill>
            <a:srgbClr val="7FB3D5"/>
          </a:solidFill>
          <a:ln/>
        </p:spPr>
      </p:sp>
      <p:sp>
        <p:nvSpPr>
          <p:cNvPr id="22" name="Text 20"/>
          <p:cNvSpPr/>
          <p:nvPr/>
        </p:nvSpPr>
        <p:spPr>
          <a:xfrm>
            <a:off x="585216" y="2450592"/>
            <a:ext cx="1490472" cy="274320"/>
          </a:xfrm>
          <a:prstGeom prst="rect">
            <a:avLst/>
          </a:prstGeom>
          <a:noFill/>
          <a:ln/>
        </p:spPr>
        <p:txBody>
          <a:bodyPr wrap="square" lIns="0" tIns="0" rIns="0" bIns="0" rtlCol="0" anchor="ctr"/>
          <a:lstStyle/>
          <a:p>
            <a:pPr indent="0" marL="0">
              <a:buNone/>
            </a:pPr>
            <a:r>
              <a:rPr lang="en-US" sz="1300" b="1" dirty="0">
                <a:solidFill>
                  <a:srgbClr val="0B2545"/>
                </a:solidFill>
                <a:latin typeface="Georgia" pitchFamily="34" charset="0"/>
                <a:ea typeface="Georgia" pitchFamily="34" charset="-122"/>
                <a:cs typeface="Georgia" pitchFamily="34" charset="-120"/>
              </a:rPr>
              <a:t>Market</a:t>
            </a:r>
            <a:endParaRPr lang="en-US" sz="1300" dirty="0"/>
          </a:p>
        </p:txBody>
      </p:sp>
      <p:sp>
        <p:nvSpPr>
          <p:cNvPr id="23" name="Text 21"/>
          <p:cNvSpPr/>
          <p:nvPr/>
        </p:nvSpPr>
        <p:spPr>
          <a:xfrm>
            <a:off x="585216" y="2743200"/>
            <a:ext cx="1490472" cy="548640"/>
          </a:xfrm>
          <a:prstGeom prst="rect">
            <a:avLst/>
          </a:prstGeom>
          <a:noFill/>
          <a:ln/>
        </p:spPr>
        <p:txBody>
          <a:bodyPr wrap="square" lIns="0" tIns="0" rIns="0" bIns="0" rtlCol="0" anchor="ctr"/>
          <a:lstStyle/>
          <a:p>
            <a:pPr indent="0" marL="0">
              <a:lnSpc>
                <a:spcPct val="120000"/>
              </a:lnSpc>
              <a:buNone/>
            </a:pPr>
            <a:r>
              <a:rPr lang="en-US" sz="950" dirty="0">
                <a:solidFill>
                  <a:srgbClr val="1F2933"/>
                </a:solidFill>
                <a:latin typeface="Calibri" pitchFamily="34" charset="0"/>
                <a:ea typeface="Calibri" pitchFamily="34" charset="-122"/>
                <a:cs typeface="Calibri" pitchFamily="34" charset="-120"/>
              </a:rPr>
              <a:t>Pinnacle implied probabilities, vig-removed.</a:t>
            </a:r>
            <a:endParaRPr lang="en-US" sz="950" dirty="0"/>
          </a:p>
        </p:txBody>
      </p:sp>
      <p:sp>
        <p:nvSpPr>
          <p:cNvPr id="24" name="Shape 22"/>
          <p:cNvSpPr/>
          <p:nvPr/>
        </p:nvSpPr>
        <p:spPr>
          <a:xfrm>
            <a:off x="2221992" y="2377440"/>
            <a:ext cx="1673352" cy="960120"/>
          </a:xfrm>
          <a:prstGeom prst="rect">
            <a:avLst/>
          </a:prstGeom>
          <a:solidFill>
            <a:srgbClr val="FFFFFF"/>
          </a:solidFill>
          <a:ln w="9525">
            <a:solidFill>
              <a:srgbClr val="D7DEE5"/>
            </a:solidFill>
            <a:prstDash val="solid"/>
          </a:ln>
          <a:effectLst>
            <a:outerShdw sx="100000" sy="100000" kx="0" ky="0" algn="bl" rotWithShape="0" blurRad="101600" dist="25400" dir="8100000">
              <a:srgbClr val="000000">
                <a:alpha val="10000"/>
              </a:srgbClr>
            </a:outerShdw>
          </a:effectLst>
        </p:spPr>
      </p:sp>
      <p:sp>
        <p:nvSpPr>
          <p:cNvPr id="25" name="Shape 23"/>
          <p:cNvSpPr/>
          <p:nvPr/>
        </p:nvSpPr>
        <p:spPr>
          <a:xfrm>
            <a:off x="2221992" y="2377440"/>
            <a:ext cx="54864" cy="960120"/>
          </a:xfrm>
          <a:prstGeom prst="rect">
            <a:avLst/>
          </a:prstGeom>
          <a:solidFill>
            <a:srgbClr val="7FB3D5"/>
          </a:solidFill>
          <a:ln/>
        </p:spPr>
      </p:sp>
      <p:sp>
        <p:nvSpPr>
          <p:cNvPr id="26" name="Text 24"/>
          <p:cNvSpPr/>
          <p:nvPr/>
        </p:nvSpPr>
        <p:spPr>
          <a:xfrm>
            <a:off x="2350008" y="2450592"/>
            <a:ext cx="1490472" cy="274320"/>
          </a:xfrm>
          <a:prstGeom prst="rect">
            <a:avLst/>
          </a:prstGeom>
          <a:noFill/>
          <a:ln/>
        </p:spPr>
        <p:txBody>
          <a:bodyPr wrap="square" lIns="0" tIns="0" rIns="0" bIns="0" rtlCol="0" anchor="ctr"/>
          <a:lstStyle/>
          <a:p>
            <a:pPr indent="0" marL="0">
              <a:buNone/>
            </a:pPr>
            <a:r>
              <a:rPr lang="en-US" sz="1300" b="1" dirty="0">
                <a:solidFill>
                  <a:srgbClr val="0B2545"/>
                </a:solidFill>
                <a:latin typeface="Georgia" pitchFamily="34" charset="0"/>
                <a:ea typeface="Georgia" pitchFamily="34" charset="-122"/>
                <a:cs typeface="Georgia" pitchFamily="34" charset="-120"/>
              </a:rPr>
              <a:t>Unsupervised</a:t>
            </a:r>
            <a:endParaRPr lang="en-US" sz="1300" dirty="0"/>
          </a:p>
        </p:txBody>
      </p:sp>
      <p:sp>
        <p:nvSpPr>
          <p:cNvPr id="27" name="Text 25"/>
          <p:cNvSpPr/>
          <p:nvPr/>
        </p:nvSpPr>
        <p:spPr>
          <a:xfrm>
            <a:off x="2350008" y="2743200"/>
            <a:ext cx="1490472" cy="548640"/>
          </a:xfrm>
          <a:prstGeom prst="rect">
            <a:avLst/>
          </a:prstGeom>
          <a:noFill/>
          <a:ln/>
        </p:spPr>
        <p:txBody>
          <a:bodyPr wrap="square" lIns="0" tIns="0" rIns="0" bIns="0" rtlCol="0" anchor="ctr"/>
          <a:lstStyle/>
          <a:p>
            <a:pPr indent="0" marL="0">
              <a:lnSpc>
                <a:spcPct val="120000"/>
              </a:lnSpc>
              <a:buNone/>
            </a:pPr>
            <a:r>
              <a:rPr lang="en-US" sz="950" dirty="0">
                <a:solidFill>
                  <a:srgbClr val="1F2933"/>
                </a:solidFill>
                <a:latin typeface="Calibri" pitchFamily="34" charset="0"/>
                <a:ea typeface="Calibri" pitchFamily="34" charset="-122"/>
                <a:cs typeface="Calibri" pitchFamily="34" charset="-120"/>
              </a:rPr>
              <a:t>PCA-2 + K-means style cluster ID (k=4).</a:t>
            </a:r>
            <a:endParaRPr lang="en-US" sz="950" dirty="0"/>
          </a:p>
        </p:txBody>
      </p:sp>
      <p:sp>
        <p:nvSpPr>
          <p:cNvPr id="28" name="Shape 26"/>
          <p:cNvSpPr/>
          <p:nvPr/>
        </p:nvSpPr>
        <p:spPr>
          <a:xfrm>
            <a:off x="3986784" y="2377440"/>
            <a:ext cx="1673352" cy="960120"/>
          </a:xfrm>
          <a:prstGeom prst="rect">
            <a:avLst/>
          </a:prstGeom>
          <a:solidFill>
            <a:srgbClr val="FFFFFF"/>
          </a:solidFill>
          <a:ln w="9525">
            <a:solidFill>
              <a:srgbClr val="D7DEE5"/>
            </a:solidFill>
            <a:prstDash val="solid"/>
          </a:ln>
          <a:effectLst>
            <a:outerShdw sx="100000" sy="100000" kx="0" ky="0" algn="bl" rotWithShape="0" blurRad="101600" dist="25400" dir="8100000">
              <a:srgbClr val="000000">
                <a:alpha val="10000"/>
              </a:srgbClr>
            </a:outerShdw>
          </a:effectLst>
        </p:spPr>
      </p:sp>
      <p:sp>
        <p:nvSpPr>
          <p:cNvPr id="29" name="Shape 27"/>
          <p:cNvSpPr/>
          <p:nvPr/>
        </p:nvSpPr>
        <p:spPr>
          <a:xfrm>
            <a:off x="3986784" y="2377440"/>
            <a:ext cx="54864" cy="960120"/>
          </a:xfrm>
          <a:prstGeom prst="rect">
            <a:avLst/>
          </a:prstGeom>
          <a:solidFill>
            <a:srgbClr val="7FB3D5"/>
          </a:solidFill>
          <a:ln/>
        </p:spPr>
      </p:sp>
      <p:sp>
        <p:nvSpPr>
          <p:cNvPr id="30" name="Text 28"/>
          <p:cNvSpPr/>
          <p:nvPr/>
        </p:nvSpPr>
        <p:spPr>
          <a:xfrm>
            <a:off x="4114800" y="2450592"/>
            <a:ext cx="1490472" cy="274320"/>
          </a:xfrm>
          <a:prstGeom prst="rect">
            <a:avLst/>
          </a:prstGeom>
          <a:noFill/>
          <a:ln/>
        </p:spPr>
        <p:txBody>
          <a:bodyPr wrap="square" lIns="0" tIns="0" rIns="0" bIns="0" rtlCol="0" anchor="ctr"/>
          <a:lstStyle/>
          <a:p>
            <a:pPr indent="0" marL="0">
              <a:buNone/>
            </a:pPr>
            <a:r>
              <a:rPr lang="en-US" sz="1300" b="1" dirty="0">
                <a:solidFill>
                  <a:srgbClr val="0B2545"/>
                </a:solidFill>
                <a:latin typeface="Georgia" pitchFamily="34" charset="0"/>
                <a:ea typeface="Georgia" pitchFamily="34" charset="-122"/>
                <a:cs typeface="Georgia" pitchFamily="34" charset="-120"/>
              </a:rPr>
              <a:t>NLP-derived</a:t>
            </a:r>
            <a:endParaRPr lang="en-US" sz="1300" dirty="0"/>
          </a:p>
        </p:txBody>
      </p:sp>
      <p:sp>
        <p:nvSpPr>
          <p:cNvPr id="31" name="Text 29"/>
          <p:cNvSpPr/>
          <p:nvPr/>
        </p:nvSpPr>
        <p:spPr>
          <a:xfrm>
            <a:off x="4114800" y="2743200"/>
            <a:ext cx="1490472" cy="548640"/>
          </a:xfrm>
          <a:prstGeom prst="rect">
            <a:avLst/>
          </a:prstGeom>
          <a:noFill/>
          <a:ln/>
        </p:spPr>
        <p:txBody>
          <a:bodyPr wrap="square" lIns="0" tIns="0" rIns="0" bIns="0" rtlCol="0" anchor="ctr"/>
          <a:lstStyle/>
          <a:p>
            <a:pPr indent="0" marL="0">
              <a:lnSpc>
                <a:spcPct val="120000"/>
              </a:lnSpc>
              <a:buNone/>
            </a:pPr>
            <a:r>
              <a:rPr lang="en-US" sz="950" dirty="0">
                <a:solidFill>
                  <a:srgbClr val="1F2933"/>
                </a:solidFill>
                <a:latin typeface="Calibri" pitchFamily="34" charset="0"/>
                <a:ea typeface="Calibri" pitchFamily="34" charset="-122"/>
                <a:cs typeface="Calibri" pitchFamily="34" charset="-120"/>
              </a:rPr>
              <a:t>Per-team sentiment, event tags, controversy.</a:t>
            </a:r>
            <a:endParaRPr lang="en-US" sz="950" dirty="0"/>
          </a:p>
        </p:txBody>
      </p:sp>
      <p:sp>
        <p:nvSpPr>
          <p:cNvPr id="32" name="Shape 30"/>
          <p:cNvSpPr/>
          <p:nvPr/>
        </p:nvSpPr>
        <p:spPr>
          <a:xfrm>
            <a:off x="5852160" y="1325880"/>
            <a:ext cx="2834640" cy="2103120"/>
          </a:xfrm>
          <a:prstGeom prst="rect">
            <a:avLst/>
          </a:prstGeom>
          <a:solidFill>
            <a:srgbClr val="FFFFFF"/>
          </a:solidFill>
          <a:ln w="6350">
            <a:solidFill>
              <a:srgbClr val="D7DEE5"/>
            </a:solidFill>
            <a:prstDash val="solid"/>
          </a:ln>
          <a:effectLst>
            <a:outerShdw sx="100000" sy="100000" kx="0" ky="0" algn="bl" rotWithShape="0" blurRad="101600" dist="25400" dir="8100000">
              <a:srgbClr val="000000">
                <a:alpha val="10000"/>
              </a:srgbClr>
            </a:outerShdw>
          </a:effectLst>
        </p:spPr>
      </p:sp>
      <p:pic>
        <p:nvPicPr>
          <p:cNvPr id="33" name="Image 0" descr="/Users/m2/Projects/STAT 5243/43 Project 4/figures/07_team_style_pca.png">    </p:cNvPr>
          <p:cNvPicPr>
            <a:picLocks noChangeAspect="1"/>
          </p:cNvPicPr>
          <p:nvPr/>
        </p:nvPicPr>
        <p:blipFill>
          <a:blip r:embed="rId1"/>
          <a:srcRect l="0" r="0" t="0" b="0"/>
          <a:stretch/>
        </p:blipFill>
        <p:spPr>
          <a:xfrm>
            <a:off x="5907024" y="1399032"/>
            <a:ext cx="2724912" cy="1956816"/>
          </a:xfrm>
          <a:prstGeom prst="rect">
            <a:avLst/>
          </a:prstGeom>
        </p:spPr>
      </p:pic>
      <p:sp>
        <p:nvSpPr>
          <p:cNvPr id="34" name="Text 31"/>
          <p:cNvSpPr/>
          <p:nvPr/>
        </p:nvSpPr>
        <p:spPr>
          <a:xfrm>
            <a:off x="5852160" y="3447288"/>
            <a:ext cx="2834640" cy="365760"/>
          </a:xfrm>
          <a:prstGeom prst="rect">
            <a:avLst/>
          </a:prstGeom>
          <a:noFill/>
          <a:ln/>
        </p:spPr>
        <p:txBody>
          <a:bodyPr wrap="square" lIns="0" tIns="0" rIns="0" bIns="0" rtlCol="0" anchor="ctr"/>
          <a:lstStyle/>
          <a:p>
            <a:pPr indent="0" marL="0">
              <a:lnSpc>
                <a:spcPct val="120000"/>
              </a:lnSpc>
              <a:buNone/>
            </a:pPr>
            <a:r>
              <a:rPr lang="en-US" sz="900" i="1" dirty="0">
                <a:solidFill>
                  <a:srgbClr val="5A6573"/>
                </a:solidFill>
                <a:latin typeface="Calibri" pitchFamily="34" charset="0"/>
                <a:ea typeface="Calibri" pitchFamily="34" charset="-122"/>
                <a:cs typeface="Calibri" pitchFamily="34" charset="-120"/>
              </a:rPr>
              <a:t>Cluster 3 = elite (Liverpool / City). Cluster 1 = relegation.</a:t>
            </a:r>
            <a:endParaRPr lang="en-US" sz="900" dirty="0"/>
          </a:p>
        </p:txBody>
      </p:sp>
      <p:sp>
        <p:nvSpPr>
          <p:cNvPr id="35" name="Shape 32"/>
          <p:cNvSpPr/>
          <p:nvPr/>
        </p:nvSpPr>
        <p:spPr>
          <a:xfrm>
            <a:off x="457200" y="3858768"/>
            <a:ext cx="8229600" cy="749808"/>
          </a:xfrm>
          <a:prstGeom prst="rect">
            <a:avLst/>
          </a:prstGeom>
          <a:solidFill>
            <a:srgbClr val="0B2545"/>
          </a:solidFill>
          <a:ln/>
        </p:spPr>
      </p:sp>
      <p:sp>
        <p:nvSpPr>
          <p:cNvPr id="36" name="Shape 33"/>
          <p:cNvSpPr/>
          <p:nvPr/>
        </p:nvSpPr>
        <p:spPr>
          <a:xfrm>
            <a:off x="457200" y="3858768"/>
            <a:ext cx="54864" cy="749808"/>
          </a:xfrm>
          <a:prstGeom prst="rect">
            <a:avLst/>
          </a:prstGeom>
          <a:solidFill>
            <a:srgbClr val="E07A5F"/>
          </a:solidFill>
          <a:ln/>
        </p:spPr>
      </p:sp>
      <p:sp>
        <p:nvSpPr>
          <p:cNvPr id="37" name="Text 34"/>
          <p:cNvSpPr/>
          <p:nvPr/>
        </p:nvSpPr>
        <p:spPr>
          <a:xfrm>
            <a:off x="640080" y="3913632"/>
            <a:ext cx="7863840" cy="201168"/>
          </a:xfrm>
          <a:prstGeom prst="rect">
            <a:avLst/>
          </a:prstGeom>
          <a:noFill/>
          <a:ln/>
        </p:spPr>
        <p:txBody>
          <a:bodyPr wrap="square" lIns="0" tIns="0" rIns="0" bIns="0" rtlCol="0" anchor="ctr"/>
          <a:lstStyle/>
          <a:p>
            <a:pPr indent="0" marL="0">
              <a:buNone/>
            </a:pPr>
            <a:r>
              <a:rPr lang="en-US" sz="900" b="1" spc="400" kern="0" dirty="0">
                <a:solidFill>
                  <a:srgbClr val="B9D9EB"/>
                </a:solidFill>
                <a:latin typeface="Calibri" pitchFamily="34" charset="0"/>
                <a:ea typeface="Calibri" pitchFamily="34" charset="-122"/>
                <a:cs typeface="Calibri" pitchFamily="34" charset="-120"/>
              </a:rPr>
              <a:t>ORIGINAL VALIDATION  ·  WALK-FORWARD + CI INVARIANT</a:t>
            </a:r>
            <a:endParaRPr lang="en-US" sz="900" dirty="0"/>
          </a:p>
        </p:txBody>
      </p:sp>
      <p:sp>
        <p:nvSpPr>
          <p:cNvPr id="38" name="Text 35"/>
          <p:cNvSpPr/>
          <p:nvPr/>
        </p:nvSpPr>
        <p:spPr>
          <a:xfrm>
            <a:off x="640080" y="4114800"/>
            <a:ext cx="7863840" cy="237744"/>
          </a:xfrm>
          <a:prstGeom prst="rect">
            <a:avLst/>
          </a:prstGeom>
          <a:noFill/>
          <a:ln/>
        </p:spPr>
        <p:txBody>
          <a:bodyPr wrap="square" lIns="0" tIns="0" rIns="0" bIns="0" rtlCol="0" anchor="ctr"/>
          <a:lstStyle/>
          <a:p>
            <a:pPr indent="0" marL="0">
              <a:buNone/>
            </a:pPr>
            <a:r>
              <a:rPr lang="en-US" sz="1050" b="1" dirty="0">
                <a:solidFill>
                  <a:srgbClr val="E07A5F"/>
                </a:solidFill>
                <a:latin typeface="Calibri" pitchFamily="34" charset="0"/>
                <a:ea typeface="Calibri" pitchFamily="34" charset="-122"/>
                <a:cs typeface="Calibri" pitchFamily="34" charset="-120"/>
              </a:rPr>
              <a:t>Most football models random-k-fold and silently leak the future.  </a:t>
            </a:r>
            <a:pPr indent="0" marL="0">
              <a:buNone/>
            </a:pPr>
            <a:r>
              <a:rPr lang="en-US" sz="1050" dirty="0">
                <a:solidFill>
                  <a:srgbClr val="B9D9EB"/>
                </a:solidFill>
                <a:latin typeface="Calibri" pitchFamily="34" charset="0"/>
                <a:ea typeface="Calibri" pitchFamily="34" charset="-122"/>
                <a:cs typeface="Calibri" pitchFamily="34" charset="-120"/>
              </a:rPr>
              <a:t>We don't — walk-forward only, every rolling feature uses a strict </a:t>
            </a:r>
            <a:pPr indent="0" marL="0">
              <a:buNone/>
            </a:pPr>
            <a:r>
              <a:rPr lang="en-US" sz="1050" b="1" dirty="0">
                <a:solidFill>
                  <a:srgbClr val="FFFFFF"/>
                </a:solidFill>
                <a:latin typeface="Consolas" pitchFamily="34" charset="0"/>
                <a:ea typeface="Consolas" pitchFamily="34" charset="-122"/>
                <a:cs typeface="Consolas" pitchFamily="34" charset="-120"/>
              </a:rPr>
              <a:t>as_of</a:t>
            </a:r>
            <a:pPr indent="0" marL="0">
              <a:buNone/>
            </a:pPr>
            <a:r>
              <a:rPr lang="en-US" sz="1050" dirty="0">
                <a:solidFill>
                  <a:srgbClr val="B9D9EB"/>
                </a:solidFill>
                <a:latin typeface="Calibri" pitchFamily="34" charset="0"/>
                <a:ea typeface="Calibri" pitchFamily="34" charset="-122"/>
                <a:cs typeface="Calibri" pitchFamily="34" charset="-120"/>
              </a:rPr>
              <a:t> cutoff.</a:t>
            </a:r>
            <a:endParaRPr lang="en-US" sz="1050" dirty="0"/>
          </a:p>
        </p:txBody>
      </p:sp>
      <p:sp>
        <p:nvSpPr>
          <p:cNvPr id="39" name="Text 36"/>
          <p:cNvSpPr/>
          <p:nvPr/>
        </p:nvSpPr>
        <p:spPr>
          <a:xfrm>
            <a:off x="640080" y="4352544"/>
            <a:ext cx="7863840" cy="237744"/>
          </a:xfrm>
          <a:prstGeom prst="rect">
            <a:avLst/>
          </a:prstGeom>
          <a:noFill/>
          <a:ln/>
        </p:spPr>
        <p:txBody>
          <a:bodyPr wrap="square" lIns="0" tIns="0" rIns="0" bIns="0" rtlCol="0" anchor="ctr"/>
          <a:lstStyle/>
          <a:p>
            <a:pPr indent="0" marL="0">
              <a:buNone/>
            </a:pPr>
            <a:r>
              <a:rPr lang="en-US" sz="1000" i="1" dirty="0">
                <a:solidFill>
                  <a:srgbClr val="B9D9EB"/>
                </a:solidFill>
                <a:latin typeface="Calibri" pitchFamily="34" charset="0"/>
                <a:ea typeface="Calibri" pitchFamily="34" charset="-122"/>
                <a:cs typeface="Calibri" pitchFamily="34" charset="-120"/>
              </a:rPr>
              <a:t>Unit-tested by  </a:t>
            </a:r>
            <a:pPr indent="0" marL="0">
              <a:buNone/>
            </a:pPr>
            <a:r>
              <a:rPr lang="en-US" sz="1000" b="1" i="1" dirty="0">
                <a:solidFill>
                  <a:srgbClr val="E07A5F"/>
                </a:solidFill>
                <a:latin typeface="Consolas" pitchFamily="34" charset="0"/>
                <a:ea typeface="Consolas" pitchFamily="34" charset="-122"/>
                <a:cs typeface="Consolas" pitchFamily="34" charset="-120"/>
              </a:rPr>
              <a:t>tests.test_no_temporal_leakage</a:t>
            </a:r>
            <a:pPr indent="0" marL="0">
              <a:buNone/>
            </a:pPr>
            <a:r>
              <a:rPr lang="en-US" sz="1000" i="1" dirty="0">
                <a:solidFill>
                  <a:srgbClr val="B9D9EB"/>
                </a:solidFill>
                <a:latin typeface="Calibri" pitchFamily="34" charset="0"/>
                <a:ea typeface="Calibri" pitchFamily="34" charset="-122"/>
                <a:cs typeface="Calibri" pitchFamily="34" charset="-120"/>
              </a:rPr>
              <a:t>  in CI on every push.</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B9D9EB"/>
          </a:solidFill>
          <a:ln/>
        </p:spPr>
      </p:sp>
      <p:sp>
        <p:nvSpPr>
          <p:cNvPr id="3" name="Shape 1"/>
          <p:cNvSpPr/>
          <p:nvPr/>
        </p:nvSpPr>
        <p:spPr>
          <a:xfrm>
            <a:off x="457200" y="4759452"/>
            <a:ext cx="8229600" cy="10973"/>
          </a:xfrm>
          <a:prstGeom prst="rect">
            <a:avLst/>
          </a:prstGeom>
          <a:solidFill>
            <a:srgbClr val="D7DEE5"/>
          </a:solidFill>
          <a:ln/>
        </p:spPr>
      </p:sp>
      <p:sp>
        <p:nvSpPr>
          <p:cNvPr id="4" name="Text 2"/>
          <p:cNvSpPr/>
          <p:nvPr/>
        </p:nvSpPr>
        <p:spPr>
          <a:xfrm>
            <a:off x="457200" y="4814316"/>
            <a:ext cx="7772400" cy="256032"/>
          </a:xfrm>
          <a:prstGeom prst="rect">
            <a:avLst/>
          </a:prstGeom>
          <a:noFill/>
          <a:ln/>
        </p:spPr>
        <p:txBody>
          <a:bodyPr wrap="square" lIns="0" tIns="0" rIns="0" bIns="0" rtlCol="0" anchor="ctr"/>
          <a:lstStyle/>
          <a:p>
            <a:pPr algn="l" indent="0" marL="0">
              <a:buNone/>
            </a:pPr>
            <a:r>
              <a:rPr lang="en-US" sz="900" dirty="0">
                <a:solidFill>
                  <a:srgbClr val="5A6573"/>
                </a:solidFill>
                <a:latin typeface="Calibri" pitchFamily="34" charset="0"/>
                <a:ea typeface="Calibri" pitchFamily="34" charset="-122"/>
                <a:cs typeface="Calibri" pitchFamily="34" charset="-120"/>
              </a:rPr>
              <a:t>STAT 5243 Project 4   ·   Liang · Chen · Collaborator   ·   2026-05-05</a:t>
            </a:r>
            <a:endParaRPr lang="en-US" sz="900" dirty="0"/>
          </a:p>
        </p:txBody>
      </p:sp>
      <p:sp>
        <p:nvSpPr>
          <p:cNvPr id="5" name="Text 3"/>
          <p:cNvSpPr/>
          <p:nvPr/>
        </p:nvSpPr>
        <p:spPr>
          <a:xfrm>
            <a:off x="8046720" y="4814316"/>
            <a:ext cx="640080" cy="256032"/>
          </a:xfrm>
          <a:prstGeom prst="rect">
            <a:avLst/>
          </a:prstGeom>
          <a:noFill/>
          <a:ln/>
        </p:spPr>
        <p:txBody>
          <a:bodyPr wrap="square" lIns="0" tIns="0" rIns="0" bIns="0" rtlCol="0" anchor="ctr"/>
          <a:lstStyle/>
          <a:p>
            <a:pPr algn="r" indent="0" marL="0">
              <a:buNone/>
            </a:pPr>
            <a:r>
              <a:rPr lang="en-US" sz="900" dirty="0">
                <a:solidFill>
                  <a:srgbClr val="5A6573"/>
                </a:solidFill>
                <a:latin typeface="Calibri" pitchFamily="34" charset="0"/>
                <a:ea typeface="Calibri" pitchFamily="34" charset="-122"/>
                <a:cs typeface="Calibri" pitchFamily="34" charset="-120"/>
              </a:rPr>
              <a:t>8 / 12</a:t>
            </a:r>
            <a:endParaRPr lang="en-US" sz="900" dirty="0"/>
          </a:p>
        </p:txBody>
      </p:sp>
      <p:sp>
        <p:nvSpPr>
          <p:cNvPr id="6" name="Text 4"/>
          <p:cNvSpPr/>
          <p:nvPr/>
        </p:nvSpPr>
        <p:spPr>
          <a:xfrm>
            <a:off x="457200" y="274320"/>
            <a:ext cx="8229600" cy="274320"/>
          </a:xfrm>
          <a:prstGeom prst="rect">
            <a:avLst/>
          </a:prstGeom>
          <a:noFill/>
          <a:ln/>
        </p:spPr>
        <p:txBody>
          <a:bodyPr wrap="square" lIns="0" tIns="0" rIns="0" bIns="0" rtlCol="0" anchor="ctr"/>
          <a:lstStyle/>
          <a:p>
            <a:pPr indent="0" marL="0">
              <a:buNone/>
            </a:pPr>
            <a:r>
              <a:rPr lang="en-US" sz="1100" b="1" spc="400" kern="0" dirty="0">
                <a:solidFill>
                  <a:srgbClr val="7FB3D5"/>
                </a:solidFill>
                <a:latin typeface="Calibri" pitchFamily="34" charset="0"/>
                <a:ea typeface="Calibri" pitchFamily="34" charset="-122"/>
                <a:cs typeface="Calibri" pitchFamily="34" charset="-120"/>
              </a:rPr>
              <a:t>MODELS</a:t>
            </a:r>
            <a:endParaRPr lang="en-US" sz="1100" dirty="0"/>
          </a:p>
        </p:txBody>
      </p:sp>
      <p:sp>
        <p:nvSpPr>
          <p:cNvPr id="7" name="Text 5"/>
          <p:cNvSpPr/>
          <p:nvPr/>
        </p:nvSpPr>
        <p:spPr>
          <a:xfrm>
            <a:off x="457200" y="548640"/>
            <a:ext cx="8229600" cy="868680"/>
          </a:xfrm>
          <a:prstGeom prst="rect">
            <a:avLst/>
          </a:prstGeom>
          <a:noFill/>
          <a:ln/>
        </p:spPr>
        <p:txBody>
          <a:bodyPr wrap="square" lIns="0" tIns="0" rIns="0" bIns="0" rtlCol="0" anchor="ctr"/>
          <a:lstStyle/>
          <a:p>
            <a:pPr indent="0" marL="0">
              <a:lnSpc>
                <a:spcPct val="105000"/>
              </a:lnSpc>
              <a:buNone/>
            </a:pPr>
            <a:r>
              <a:rPr lang="en-US" sz="2400" b="1" dirty="0">
                <a:solidFill>
                  <a:srgbClr val="0B2545"/>
                </a:solidFill>
                <a:latin typeface="Georgia" pitchFamily="34" charset="0"/>
                <a:ea typeface="Georgia" pitchFamily="34" charset="-122"/>
                <a:cs typeface="Georgia" pitchFamily="34" charset="-120"/>
              </a:rPr>
              <a:t>Three baselines, three models, one walk-forward validation.</a:t>
            </a:r>
            <a:endParaRPr lang="en-US" sz="2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2423160"/>
        </p:xfrm>
        <a:graphic>
          <a:graphicData uri="http://schemas.openxmlformats.org/drawingml/2006/table">
            <a:tbl>
              <a:tblPr/>
              <a:tblGrid>
                <a:gridCol w="1691640"/>
                <a:gridCol w="1920240"/>
                <a:gridCol w="4617720"/>
              </a:tblGrid>
              <a:tr h="30175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solidFill>
                      <a:srgbClr val="0B2545"/>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Family</a:t>
                      </a:r>
                      <a:endParaRPr lang="en-US" sz="11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solidFill>
                      <a:srgbClr val="0B2545"/>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Why we included it</a:t>
                      </a:r>
                      <a:endParaRPr lang="en-US" sz="110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solidFill>
                      <a:srgbClr val="0B2545"/>
                    </a:solidFill>
                  </a:tcPr>
                </a:tc>
              </a:tr>
              <a:tr h="301752">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Always-Home</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Naive baseline</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Sanity floor — exposes log-loss penalty for over-confidence.</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r h="301752">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Class-Prior</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Naive baseline</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Predicts historical 46/25/29 H/D/A — calibration floor.</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r h="301752">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Market-Implied</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Strong baseline</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Pinnacle closing odds, vig-removed. Hardest bar to clear.</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r h="301752">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Multinomial LR</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Linear, interpretable</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Reads off feature signs and magnitudes for sanity-checks.</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r h="301752">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Random Forest</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Tree ensemble</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Captures non-linear interactions; robust to messy features.</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r h="301752">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XGBoost</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Gradient boosting</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State-of-the-art for tabular; tuned for log-loss not accuracy.</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r h="301752">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Dixon-Coles (1997)</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Bivariate Poisson + τ + decay</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Hand-implemented from the paper — not in sklearn. Joint scores + H/D/A by marginal.</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bl>
          </a:graphicData>
        </a:graphic>
      </p:graphicFrame>
      <p:sp>
        <p:nvSpPr>
          <p:cNvPr id="9" name="Shape 6"/>
          <p:cNvSpPr/>
          <p:nvPr/>
        </p:nvSpPr>
        <p:spPr>
          <a:xfrm>
            <a:off x="457200" y="3840480"/>
            <a:ext cx="8229600" cy="694944"/>
          </a:xfrm>
          <a:prstGeom prst="rect">
            <a:avLst/>
          </a:prstGeom>
          <a:solidFill>
            <a:srgbClr val="B9D9EB"/>
          </a:solidFill>
          <a:ln/>
        </p:spPr>
      </p:sp>
      <p:sp>
        <p:nvSpPr>
          <p:cNvPr id="10" name="Text 7"/>
          <p:cNvSpPr/>
          <p:nvPr/>
        </p:nvSpPr>
        <p:spPr>
          <a:xfrm>
            <a:off x="640080" y="3895344"/>
            <a:ext cx="1371600" cy="228600"/>
          </a:xfrm>
          <a:prstGeom prst="rect">
            <a:avLst/>
          </a:prstGeom>
          <a:noFill/>
          <a:ln/>
        </p:spPr>
        <p:txBody>
          <a:bodyPr wrap="square" lIns="0" tIns="0" rIns="0" bIns="0" rtlCol="0" anchor="ctr"/>
          <a:lstStyle/>
          <a:p>
            <a:pPr indent="0" marL="0">
              <a:buNone/>
            </a:pPr>
            <a:r>
              <a:rPr lang="en-US" sz="950" b="1" spc="400" kern="0" dirty="0">
                <a:solidFill>
                  <a:srgbClr val="0B2545"/>
                </a:solidFill>
                <a:latin typeface="Calibri" pitchFamily="34" charset="0"/>
                <a:ea typeface="Calibri" pitchFamily="34" charset="-122"/>
                <a:cs typeface="Calibri" pitchFamily="34" charset="-120"/>
              </a:rPr>
              <a:t>VALIDATION</a:t>
            </a:r>
            <a:endParaRPr lang="en-US" sz="950" dirty="0"/>
          </a:p>
        </p:txBody>
      </p:sp>
      <p:sp>
        <p:nvSpPr>
          <p:cNvPr id="11" name="Text 8"/>
          <p:cNvSpPr/>
          <p:nvPr/>
        </p:nvSpPr>
        <p:spPr>
          <a:xfrm>
            <a:off x="640080" y="4133088"/>
            <a:ext cx="7863840" cy="384048"/>
          </a:xfrm>
          <a:prstGeom prst="rect">
            <a:avLst/>
          </a:prstGeom>
          <a:noFill/>
          <a:ln/>
        </p:spPr>
        <p:txBody>
          <a:bodyPr wrap="square" lIns="0" tIns="0" rIns="0" bIns="0" rtlCol="0" anchor="ctr"/>
          <a:lstStyle/>
          <a:p>
            <a:pPr indent="0" marL="0">
              <a:lnSpc>
                <a:spcPct val="120000"/>
              </a:lnSpc>
              <a:buNone/>
            </a:pPr>
            <a:r>
              <a:rPr lang="en-US" sz="1100" b="1" dirty="0">
                <a:solidFill>
                  <a:srgbClr val="0B2545"/>
                </a:solidFill>
                <a:latin typeface="Calibri" pitchFamily="34" charset="0"/>
                <a:ea typeface="Calibri" pitchFamily="34" charset="-122"/>
                <a:cs typeface="Calibri" pitchFamily="34" charset="-120"/>
              </a:rPr>
              <a:t>Walk-forward expanding window  </a:t>
            </a:r>
            <a:pPr indent="0" marL="0">
              <a:lnSpc>
                <a:spcPct val="120000"/>
              </a:lnSpc>
              <a:buNone/>
            </a:pPr>
            <a:r>
              <a:rPr lang="en-US" sz="1100" dirty="0">
                <a:solidFill>
                  <a:srgbClr val="0B2545"/>
                </a:solidFill>
                <a:latin typeface="Calibri" pitchFamily="34" charset="0"/>
                <a:ea typeface="Calibri" pitchFamily="34" charset="-122"/>
                <a:cs typeface="Calibri" pitchFamily="34" charset="-120"/>
              </a:rPr>
              <a:t>·  train 2000-01..2018-19, validate 2019-20, hold-out test 2020-21.
</a:t>
            </a:r>
            <a:pPr indent="0" marL="0">
              <a:lnSpc>
                <a:spcPct val="120000"/>
              </a:lnSpc>
              <a:buNone/>
            </a:pPr>
            <a:r>
              <a:rPr lang="en-US" sz="1100" b="1" dirty="0">
                <a:solidFill>
                  <a:srgbClr val="0B2545"/>
                </a:solidFill>
                <a:latin typeface="Calibri" pitchFamily="34" charset="0"/>
                <a:ea typeface="Calibri" pitchFamily="34" charset="-122"/>
                <a:cs typeface="Calibri" pitchFamily="34" charset="-120"/>
              </a:rPr>
              <a:t>All hyperparameters tuned for log-loss</a:t>
            </a:r>
            <a:pPr indent="0" marL="0">
              <a:lnSpc>
                <a:spcPct val="120000"/>
              </a:lnSpc>
              <a:buNone/>
            </a:pPr>
            <a:r>
              <a:rPr lang="en-US" sz="1100" dirty="0">
                <a:solidFill>
                  <a:srgbClr val="0B2545"/>
                </a:solidFill>
                <a:latin typeface="Calibri" pitchFamily="34" charset="0"/>
                <a:ea typeface="Calibri" pitchFamily="34" charset="-122"/>
                <a:cs typeface="Calibri" pitchFamily="34" charset="-120"/>
              </a:rPr>
              <a:t> (proper scoring rule), not raw accuracy.</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B9D9EB"/>
          </a:solidFill>
          <a:ln/>
        </p:spPr>
      </p:sp>
      <p:sp>
        <p:nvSpPr>
          <p:cNvPr id="3" name="Shape 1"/>
          <p:cNvSpPr/>
          <p:nvPr/>
        </p:nvSpPr>
        <p:spPr>
          <a:xfrm>
            <a:off x="457200" y="4759452"/>
            <a:ext cx="8229600" cy="10973"/>
          </a:xfrm>
          <a:prstGeom prst="rect">
            <a:avLst/>
          </a:prstGeom>
          <a:solidFill>
            <a:srgbClr val="D7DEE5"/>
          </a:solidFill>
          <a:ln/>
        </p:spPr>
      </p:sp>
      <p:sp>
        <p:nvSpPr>
          <p:cNvPr id="4" name="Text 2"/>
          <p:cNvSpPr/>
          <p:nvPr/>
        </p:nvSpPr>
        <p:spPr>
          <a:xfrm>
            <a:off x="457200" y="4814316"/>
            <a:ext cx="7772400" cy="256032"/>
          </a:xfrm>
          <a:prstGeom prst="rect">
            <a:avLst/>
          </a:prstGeom>
          <a:noFill/>
          <a:ln/>
        </p:spPr>
        <p:txBody>
          <a:bodyPr wrap="square" lIns="0" tIns="0" rIns="0" bIns="0" rtlCol="0" anchor="ctr"/>
          <a:lstStyle/>
          <a:p>
            <a:pPr algn="l" indent="0" marL="0">
              <a:buNone/>
            </a:pPr>
            <a:r>
              <a:rPr lang="en-US" sz="900" dirty="0">
                <a:solidFill>
                  <a:srgbClr val="5A6573"/>
                </a:solidFill>
                <a:latin typeface="Calibri" pitchFamily="34" charset="0"/>
                <a:ea typeface="Calibri" pitchFamily="34" charset="-122"/>
                <a:cs typeface="Calibri" pitchFamily="34" charset="-120"/>
              </a:rPr>
              <a:t>STAT 5243 Project 4   ·   Liang · Chen · Collaborator   ·   2026-05-05</a:t>
            </a:r>
            <a:endParaRPr lang="en-US" sz="900" dirty="0"/>
          </a:p>
        </p:txBody>
      </p:sp>
      <p:sp>
        <p:nvSpPr>
          <p:cNvPr id="5" name="Text 3"/>
          <p:cNvSpPr/>
          <p:nvPr/>
        </p:nvSpPr>
        <p:spPr>
          <a:xfrm>
            <a:off x="8046720" y="4814316"/>
            <a:ext cx="640080" cy="256032"/>
          </a:xfrm>
          <a:prstGeom prst="rect">
            <a:avLst/>
          </a:prstGeom>
          <a:noFill/>
          <a:ln/>
        </p:spPr>
        <p:txBody>
          <a:bodyPr wrap="square" lIns="0" tIns="0" rIns="0" bIns="0" rtlCol="0" anchor="ctr"/>
          <a:lstStyle/>
          <a:p>
            <a:pPr algn="r" indent="0" marL="0">
              <a:buNone/>
            </a:pPr>
            <a:r>
              <a:rPr lang="en-US" sz="900" dirty="0">
                <a:solidFill>
                  <a:srgbClr val="5A6573"/>
                </a:solidFill>
                <a:latin typeface="Calibri" pitchFamily="34" charset="0"/>
                <a:ea typeface="Calibri" pitchFamily="34" charset="-122"/>
                <a:cs typeface="Calibri" pitchFamily="34" charset="-120"/>
              </a:rPr>
              <a:t>9 / 12</a:t>
            </a:r>
            <a:endParaRPr lang="en-US" sz="900" dirty="0"/>
          </a:p>
        </p:txBody>
      </p:sp>
      <p:sp>
        <p:nvSpPr>
          <p:cNvPr id="6" name="Text 4"/>
          <p:cNvSpPr/>
          <p:nvPr/>
        </p:nvSpPr>
        <p:spPr>
          <a:xfrm>
            <a:off x="457200" y="274320"/>
            <a:ext cx="8229600" cy="274320"/>
          </a:xfrm>
          <a:prstGeom prst="rect">
            <a:avLst/>
          </a:prstGeom>
          <a:noFill/>
          <a:ln/>
        </p:spPr>
        <p:txBody>
          <a:bodyPr wrap="square" lIns="0" tIns="0" rIns="0" bIns="0" rtlCol="0" anchor="ctr"/>
          <a:lstStyle/>
          <a:p>
            <a:pPr indent="0" marL="0">
              <a:buNone/>
            </a:pPr>
            <a:r>
              <a:rPr lang="en-US" sz="1100" b="1" spc="400" kern="0" dirty="0">
                <a:solidFill>
                  <a:srgbClr val="7FB3D5"/>
                </a:solidFill>
                <a:latin typeface="Calibri" pitchFamily="34" charset="0"/>
                <a:ea typeface="Calibri" pitchFamily="34" charset="-122"/>
                <a:cs typeface="Calibri" pitchFamily="34" charset="-120"/>
              </a:rPr>
              <a:t>RESULTS</a:t>
            </a:r>
            <a:endParaRPr lang="en-US" sz="1100" dirty="0"/>
          </a:p>
        </p:txBody>
      </p:sp>
      <p:sp>
        <p:nvSpPr>
          <p:cNvPr id="7" name="Text 5"/>
          <p:cNvSpPr/>
          <p:nvPr/>
        </p:nvSpPr>
        <p:spPr>
          <a:xfrm>
            <a:off x="457200" y="548640"/>
            <a:ext cx="8229600" cy="868680"/>
          </a:xfrm>
          <a:prstGeom prst="rect">
            <a:avLst/>
          </a:prstGeom>
          <a:noFill/>
          <a:ln/>
        </p:spPr>
        <p:txBody>
          <a:bodyPr wrap="square" lIns="0" tIns="0" rIns="0" bIns="0" rtlCol="0" anchor="ctr"/>
          <a:lstStyle/>
          <a:p>
            <a:pPr indent="0" marL="0">
              <a:lnSpc>
                <a:spcPct val="105000"/>
              </a:lnSpc>
              <a:buNone/>
            </a:pPr>
            <a:r>
              <a:rPr lang="en-US" sz="2200" b="1" dirty="0">
                <a:solidFill>
                  <a:srgbClr val="0B2545"/>
                </a:solidFill>
                <a:latin typeface="Georgia" pitchFamily="34" charset="0"/>
                <a:ea typeface="Georgia" pitchFamily="34" charset="-122"/>
                <a:cs typeface="Georgia" pitchFamily="34" charset="-120"/>
              </a:rPr>
              <a:t>The closing-odds market beats every model — but only just.</a:t>
            </a:r>
            <a:endParaRPr lang="en-US" sz="2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5349240" cy="2514600"/>
        </p:xfrm>
        <a:graphic>
          <a:graphicData uri="http://schemas.openxmlformats.org/drawingml/2006/table">
            <a:tbl>
              <a:tblPr/>
              <a:tblGrid>
                <a:gridCol w="2194560"/>
                <a:gridCol w="502920"/>
                <a:gridCol w="777240"/>
                <a:gridCol w="594360"/>
                <a:gridCol w="502920"/>
                <a:gridCol w="502920"/>
              </a:tblGrid>
              <a:tr h="301752">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Model</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solidFill>
                      <a:srgbClr val="0B2545"/>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Acc</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solidFill>
                      <a:srgbClr val="0B2545"/>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Log-loss</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solidFill>
                      <a:srgbClr val="0B2545"/>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Brier</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solidFill>
                      <a:srgbClr val="0B2545"/>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F1</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solidFill>
                      <a:srgbClr val="0B2545"/>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AUC</a:t>
                      </a:r>
                      <a:endParaRPr lang="en-US" sz="10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solidFill>
                      <a:srgbClr val="0B2545"/>
                    </a:solidFill>
                  </a:tcPr>
                </a:tc>
              </a:tr>
              <a:tr h="301752">
                <a:tc>
                  <a:txBody>
                    <a:bodyPr/>
                    <a:lstStyle/>
                    <a:p>
                      <a:pPr indent="0" marL="0">
                        <a:buNone/>
                      </a:pPr>
                      <a:r>
                        <a:rPr lang="en-US" sz="950" b="1" dirty="0">
                          <a:solidFill>
                            <a:srgbClr val="E07A5F"/>
                          </a:solidFill>
                          <a:latin typeface="Calibri" pitchFamily="34" charset="0"/>
                          <a:ea typeface="Calibri" pitchFamily="34" charset="-122"/>
                          <a:cs typeface="Calibri" pitchFamily="34" charset="-120"/>
                        </a:rPr>
                        <a:t>Market-implied (Pinnacle close)</a:t>
                      </a:r>
                      <a:endParaRPr lang="en-US" sz="9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solidFill>
                      <a:srgbClr val="FDF1ED"/>
                    </a:solidFill>
                  </a:tcPr>
                </a:tc>
                <a:tc>
                  <a:txBody>
                    <a:bodyPr/>
                    <a:lstStyle/>
                    <a:p>
                      <a:pPr algn="r" indent="0" marL="0">
                        <a:buNone/>
                      </a:pPr>
                      <a:r>
                        <a:rPr lang="en-US" sz="950" b="1" dirty="0">
                          <a:solidFill>
                            <a:srgbClr val="E07A5F"/>
                          </a:solidFill>
                          <a:latin typeface="Calibri" pitchFamily="34" charset="0"/>
                          <a:ea typeface="Calibri" pitchFamily="34" charset="-122"/>
                          <a:cs typeface="Calibri" pitchFamily="34" charset="-120"/>
                        </a:rPr>
                        <a:t>0.516</a:t>
                      </a:r>
                      <a:endParaRPr lang="en-US" sz="9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solidFill>
                      <a:srgbClr val="FDF1ED"/>
                    </a:solidFill>
                  </a:tcPr>
                </a:tc>
                <a:tc>
                  <a:txBody>
                    <a:bodyPr/>
                    <a:lstStyle/>
                    <a:p>
                      <a:pPr algn="r" indent="0" marL="0">
                        <a:buNone/>
                      </a:pPr>
                      <a:r>
                        <a:rPr lang="en-US" sz="950" b="1" dirty="0">
                          <a:solidFill>
                            <a:srgbClr val="E07A5F"/>
                          </a:solidFill>
                          <a:latin typeface="Calibri" pitchFamily="34" charset="0"/>
                          <a:ea typeface="Calibri" pitchFamily="34" charset="-122"/>
                          <a:cs typeface="Calibri" pitchFamily="34" charset="-120"/>
                        </a:rPr>
                        <a:t>0.997</a:t>
                      </a:r>
                      <a:endParaRPr lang="en-US" sz="9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solidFill>
                      <a:srgbClr val="FDF1ED"/>
                    </a:solidFill>
                  </a:tcPr>
                </a:tc>
                <a:tc>
                  <a:txBody>
                    <a:bodyPr/>
                    <a:lstStyle/>
                    <a:p>
                      <a:pPr algn="r" indent="0" marL="0">
                        <a:buNone/>
                      </a:pPr>
                      <a:r>
                        <a:rPr lang="en-US" sz="950" b="1" dirty="0">
                          <a:solidFill>
                            <a:srgbClr val="E07A5F"/>
                          </a:solidFill>
                          <a:latin typeface="Calibri" pitchFamily="34" charset="0"/>
                          <a:ea typeface="Calibri" pitchFamily="34" charset="-122"/>
                          <a:cs typeface="Calibri" pitchFamily="34" charset="-120"/>
                        </a:rPr>
                        <a:t>0.592</a:t>
                      </a:r>
                      <a:endParaRPr lang="en-US" sz="9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solidFill>
                      <a:srgbClr val="FDF1ED"/>
                    </a:solidFill>
                  </a:tcPr>
                </a:tc>
                <a:tc>
                  <a:txBody>
                    <a:bodyPr/>
                    <a:lstStyle/>
                    <a:p>
                      <a:pPr algn="r" indent="0" marL="0">
                        <a:buNone/>
                      </a:pPr>
                      <a:r>
                        <a:rPr lang="en-US" sz="950" b="1" dirty="0">
                          <a:solidFill>
                            <a:srgbClr val="E07A5F"/>
                          </a:solidFill>
                          <a:latin typeface="Calibri" pitchFamily="34" charset="0"/>
                          <a:ea typeface="Calibri" pitchFamily="34" charset="-122"/>
                          <a:cs typeface="Calibri" pitchFamily="34" charset="-120"/>
                        </a:rPr>
                        <a:t>0.385</a:t>
                      </a:r>
                      <a:endParaRPr lang="en-US" sz="9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solidFill>
                      <a:srgbClr val="FDF1ED"/>
                    </a:solidFill>
                  </a:tcPr>
                </a:tc>
                <a:tc>
                  <a:txBody>
                    <a:bodyPr/>
                    <a:lstStyle/>
                    <a:p>
                      <a:pPr algn="r" indent="0" marL="0">
                        <a:buNone/>
                      </a:pPr>
                      <a:r>
                        <a:rPr lang="en-US" sz="950" b="1" dirty="0">
                          <a:solidFill>
                            <a:srgbClr val="E07A5F"/>
                          </a:solidFill>
                          <a:latin typeface="Calibri" pitchFamily="34" charset="0"/>
                          <a:ea typeface="Calibri" pitchFamily="34" charset="-122"/>
                          <a:cs typeface="Calibri" pitchFamily="34" charset="-120"/>
                        </a:rPr>
                        <a:t>0.669</a:t>
                      </a:r>
                      <a:endParaRPr lang="en-US" sz="9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solidFill>
                      <a:srgbClr val="FDF1ED"/>
                    </a:solidFill>
                  </a:tcPr>
                </a:tc>
              </a:tr>
              <a:tr h="301752">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Random Forest</a:t>
                      </a:r>
                      <a:endParaRPr lang="en-US" sz="9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950" dirty="0">
                          <a:solidFill>
                            <a:srgbClr val="1F2933"/>
                          </a:solidFill>
                          <a:latin typeface="Calibri" pitchFamily="34" charset="0"/>
                          <a:ea typeface="Calibri" pitchFamily="34" charset="-122"/>
                          <a:cs typeface="Calibri" pitchFamily="34" charset="-120"/>
                        </a:rPr>
                        <a:t>0.489</a:t>
                      </a:r>
                      <a:endParaRPr lang="en-US" sz="9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950" dirty="0">
                          <a:solidFill>
                            <a:srgbClr val="1F2933"/>
                          </a:solidFill>
                          <a:latin typeface="Calibri" pitchFamily="34" charset="0"/>
                          <a:ea typeface="Calibri" pitchFamily="34" charset="-122"/>
                          <a:cs typeface="Calibri" pitchFamily="34" charset="-120"/>
                        </a:rPr>
                        <a:t>1.020</a:t>
                      </a:r>
                      <a:endParaRPr lang="en-US" sz="9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950" dirty="0">
                          <a:solidFill>
                            <a:srgbClr val="1F2933"/>
                          </a:solidFill>
                          <a:latin typeface="Calibri" pitchFamily="34" charset="0"/>
                          <a:ea typeface="Calibri" pitchFamily="34" charset="-122"/>
                          <a:cs typeface="Calibri" pitchFamily="34" charset="-120"/>
                        </a:rPr>
                        <a:t>0.608</a:t>
                      </a:r>
                      <a:endParaRPr lang="en-US" sz="9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950" dirty="0">
                          <a:solidFill>
                            <a:srgbClr val="1F2933"/>
                          </a:solidFill>
                          <a:latin typeface="Calibri" pitchFamily="34" charset="0"/>
                          <a:ea typeface="Calibri" pitchFamily="34" charset="-122"/>
                          <a:cs typeface="Calibri" pitchFamily="34" charset="-120"/>
                        </a:rPr>
                        <a:t>0.448</a:t>
                      </a:r>
                      <a:endParaRPr lang="en-US" sz="9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950" dirty="0">
                          <a:solidFill>
                            <a:srgbClr val="1F2933"/>
                          </a:solidFill>
                          <a:latin typeface="Calibri" pitchFamily="34" charset="0"/>
                          <a:ea typeface="Calibri" pitchFamily="34" charset="-122"/>
                          <a:cs typeface="Calibri" pitchFamily="34" charset="-120"/>
                        </a:rPr>
                        <a:t>0.646</a:t>
                      </a:r>
                      <a:endParaRPr lang="en-US" sz="9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r h="301752">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Logistic regression</a:t>
                      </a:r>
                      <a:endParaRPr lang="en-US" sz="9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950" dirty="0">
                          <a:solidFill>
                            <a:srgbClr val="1F2933"/>
                          </a:solidFill>
                          <a:latin typeface="Calibri" pitchFamily="34" charset="0"/>
                          <a:ea typeface="Calibri" pitchFamily="34" charset="-122"/>
                          <a:cs typeface="Calibri" pitchFamily="34" charset="-120"/>
                        </a:rPr>
                        <a:t>0.495</a:t>
                      </a:r>
                      <a:endParaRPr lang="en-US" sz="9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950" dirty="0">
                          <a:solidFill>
                            <a:srgbClr val="1F2933"/>
                          </a:solidFill>
                          <a:latin typeface="Calibri" pitchFamily="34" charset="0"/>
                          <a:ea typeface="Calibri" pitchFamily="34" charset="-122"/>
                          <a:cs typeface="Calibri" pitchFamily="34" charset="-120"/>
                        </a:rPr>
                        <a:t>1.039</a:t>
                      </a:r>
                      <a:endParaRPr lang="en-US" sz="9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950" dirty="0">
                          <a:solidFill>
                            <a:srgbClr val="1F2933"/>
                          </a:solidFill>
                          <a:latin typeface="Calibri" pitchFamily="34" charset="0"/>
                          <a:ea typeface="Calibri" pitchFamily="34" charset="-122"/>
                          <a:cs typeface="Calibri" pitchFamily="34" charset="-120"/>
                        </a:rPr>
                        <a:t>0.617</a:t>
                      </a:r>
                      <a:endParaRPr lang="en-US" sz="9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950" dirty="0">
                          <a:solidFill>
                            <a:srgbClr val="1F2933"/>
                          </a:solidFill>
                          <a:latin typeface="Calibri" pitchFamily="34" charset="0"/>
                          <a:ea typeface="Calibri" pitchFamily="34" charset="-122"/>
                          <a:cs typeface="Calibri" pitchFamily="34" charset="-120"/>
                        </a:rPr>
                        <a:t>0.465</a:t>
                      </a:r>
                      <a:endParaRPr lang="en-US" sz="9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950" dirty="0">
                          <a:solidFill>
                            <a:srgbClr val="1F2933"/>
                          </a:solidFill>
                          <a:latin typeface="Calibri" pitchFamily="34" charset="0"/>
                          <a:ea typeface="Calibri" pitchFamily="34" charset="-122"/>
                          <a:cs typeface="Calibri" pitchFamily="34" charset="-120"/>
                        </a:rPr>
                        <a:t>0.645</a:t>
                      </a:r>
                      <a:endParaRPr lang="en-US" sz="9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r h="301752">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XGBoost</a:t>
                      </a:r>
                      <a:endParaRPr lang="en-US" sz="9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950" dirty="0">
                          <a:solidFill>
                            <a:srgbClr val="1F2933"/>
                          </a:solidFill>
                          <a:latin typeface="Calibri" pitchFamily="34" charset="0"/>
                          <a:ea typeface="Calibri" pitchFamily="34" charset="-122"/>
                          <a:cs typeface="Calibri" pitchFamily="34" charset="-120"/>
                        </a:rPr>
                        <a:t>0.513</a:t>
                      </a:r>
                      <a:endParaRPr lang="en-US" sz="9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950" dirty="0">
                          <a:solidFill>
                            <a:srgbClr val="1F2933"/>
                          </a:solidFill>
                          <a:latin typeface="Calibri" pitchFamily="34" charset="0"/>
                          <a:ea typeface="Calibri" pitchFamily="34" charset="-122"/>
                          <a:cs typeface="Calibri" pitchFamily="34" charset="-120"/>
                        </a:rPr>
                        <a:t>1.106</a:t>
                      </a:r>
                      <a:endParaRPr lang="en-US" sz="9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950" dirty="0">
                          <a:solidFill>
                            <a:srgbClr val="1F2933"/>
                          </a:solidFill>
                          <a:latin typeface="Calibri" pitchFamily="34" charset="0"/>
                          <a:ea typeface="Calibri" pitchFamily="34" charset="-122"/>
                          <a:cs typeface="Calibri" pitchFamily="34" charset="-120"/>
                        </a:rPr>
                        <a:t>0.643</a:t>
                      </a:r>
                      <a:endParaRPr lang="en-US" sz="9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950" dirty="0">
                          <a:solidFill>
                            <a:srgbClr val="1F2933"/>
                          </a:solidFill>
                          <a:latin typeface="Calibri" pitchFamily="34" charset="0"/>
                          <a:ea typeface="Calibri" pitchFamily="34" charset="-122"/>
                          <a:cs typeface="Calibri" pitchFamily="34" charset="-120"/>
                        </a:rPr>
                        <a:t>0.428</a:t>
                      </a:r>
                      <a:endParaRPr lang="en-US" sz="9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950" dirty="0">
                          <a:solidFill>
                            <a:srgbClr val="1F2933"/>
                          </a:solidFill>
                          <a:latin typeface="Calibri" pitchFamily="34" charset="0"/>
                          <a:ea typeface="Calibri" pitchFamily="34" charset="-122"/>
                          <a:cs typeface="Calibri" pitchFamily="34" charset="-120"/>
                        </a:rPr>
                        <a:t>0.627</a:t>
                      </a:r>
                      <a:endParaRPr lang="en-US" sz="9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r h="301752">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Class-prior baseline</a:t>
                      </a:r>
                      <a:endParaRPr lang="en-US" sz="9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950" dirty="0">
                          <a:solidFill>
                            <a:srgbClr val="1F2933"/>
                          </a:solidFill>
                          <a:latin typeface="Calibri" pitchFamily="34" charset="0"/>
                          <a:ea typeface="Calibri" pitchFamily="34" charset="-122"/>
                          <a:cs typeface="Calibri" pitchFamily="34" charset="-120"/>
                        </a:rPr>
                        <a:t>0.379</a:t>
                      </a:r>
                      <a:endParaRPr lang="en-US" sz="9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950" dirty="0">
                          <a:solidFill>
                            <a:srgbClr val="1F2933"/>
                          </a:solidFill>
                          <a:latin typeface="Calibri" pitchFamily="34" charset="0"/>
                          <a:ea typeface="Calibri" pitchFamily="34" charset="-122"/>
                          <a:cs typeface="Calibri" pitchFamily="34" charset="-120"/>
                        </a:rPr>
                        <a:t>1.099</a:t>
                      </a:r>
                      <a:endParaRPr lang="en-US" sz="9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950" dirty="0">
                          <a:solidFill>
                            <a:srgbClr val="1F2933"/>
                          </a:solidFill>
                          <a:latin typeface="Calibri" pitchFamily="34" charset="0"/>
                          <a:ea typeface="Calibri" pitchFamily="34" charset="-122"/>
                          <a:cs typeface="Calibri" pitchFamily="34" charset="-120"/>
                        </a:rPr>
                        <a:t>0.669</a:t>
                      </a:r>
                      <a:endParaRPr lang="en-US" sz="9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950" dirty="0">
                          <a:solidFill>
                            <a:srgbClr val="1F2933"/>
                          </a:solidFill>
                          <a:latin typeface="Calibri" pitchFamily="34" charset="0"/>
                          <a:ea typeface="Calibri" pitchFamily="34" charset="-122"/>
                          <a:cs typeface="Calibri" pitchFamily="34" charset="-120"/>
                        </a:rPr>
                        <a:t>0.183</a:t>
                      </a:r>
                      <a:endParaRPr lang="en-US" sz="9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950" dirty="0">
                          <a:solidFill>
                            <a:srgbClr val="1F2933"/>
                          </a:solidFill>
                          <a:latin typeface="Calibri" pitchFamily="34" charset="0"/>
                          <a:ea typeface="Calibri" pitchFamily="34" charset="-122"/>
                          <a:cs typeface="Calibri" pitchFamily="34" charset="-120"/>
                        </a:rPr>
                        <a:t>0.500</a:t>
                      </a:r>
                      <a:endParaRPr lang="en-US" sz="9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r h="301752">
                <a:tc>
                  <a:txBody>
                    <a:bodyPr/>
                    <a:lstStyle/>
                    <a:p>
                      <a:pPr indent="0" marL="0">
                        <a:buNone/>
                      </a:pPr>
                      <a:r>
                        <a:rPr lang="en-US" sz="950" dirty="0">
                          <a:solidFill>
                            <a:srgbClr val="5A6573"/>
                          </a:solidFill>
                          <a:latin typeface="Calibri" pitchFamily="34" charset="0"/>
                          <a:ea typeface="Calibri" pitchFamily="34" charset="-122"/>
                          <a:cs typeface="Calibri" pitchFamily="34" charset="-120"/>
                        </a:rPr>
                        <a:t>Always-Home baseline</a:t>
                      </a:r>
                      <a:endParaRPr lang="en-US" sz="9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950" dirty="0">
                          <a:solidFill>
                            <a:srgbClr val="5A6573"/>
                          </a:solidFill>
                          <a:latin typeface="Calibri" pitchFamily="34" charset="0"/>
                          <a:ea typeface="Calibri" pitchFamily="34" charset="-122"/>
                          <a:cs typeface="Calibri" pitchFamily="34" charset="-120"/>
                        </a:rPr>
                        <a:t>0.379</a:t>
                      </a:r>
                      <a:endParaRPr lang="en-US" sz="9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950" b="1" dirty="0">
                          <a:solidFill>
                            <a:srgbClr val="E07A5F"/>
                          </a:solidFill>
                          <a:latin typeface="Calibri" pitchFamily="34" charset="0"/>
                          <a:ea typeface="Calibri" pitchFamily="34" charset="-122"/>
                          <a:cs typeface="Calibri" pitchFamily="34" charset="-120"/>
                        </a:rPr>
                        <a:t>22.385</a:t>
                      </a:r>
                      <a:endParaRPr lang="en-US" sz="9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950" dirty="0">
                          <a:solidFill>
                            <a:srgbClr val="5A6573"/>
                          </a:solidFill>
                          <a:latin typeface="Calibri" pitchFamily="34" charset="0"/>
                          <a:ea typeface="Calibri" pitchFamily="34" charset="-122"/>
                          <a:cs typeface="Calibri" pitchFamily="34" charset="-120"/>
                        </a:rPr>
                        <a:t>1.242</a:t>
                      </a:r>
                      <a:endParaRPr lang="en-US" sz="9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950" dirty="0">
                          <a:solidFill>
                            <a:srgbClr val="5A6573"/>
                          </a:solidFill>
                          <a:latin typeface="Calibri" pitchFamily="34" charset="0"/>
                          <a:ea typeface="Calibri" pitchFamily="34" charset="-122"/>
                          <a:cs typeface="Calibri" pitchFamily="34" charset="-120"/>
                        </a:rPr>
                        <a:t>0.183</a:t>
                      </a:r>
                      <a:endParaRPr lang="en-US" sz="9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c>
                  <a:txBody>
                    <a:bodyPr/>
                    <a:lstStyle/>
                    <a:p>
                      <a:pPr algn="r" indent="0" marL="0">
                        <a:buNone/>
                      </a:pPr>
                      <a:r>
                        <a:rPr lang="en-US" sz="950" dirty="0">
                          <a:solidFill>
                            <a:srgbClr val="5A6573"/>
                          </a:solidFill>
                          <a:latin typeface="Calibri" pitchFamily="34" charset="0"/>
                          <a:ea typeface="Calibri" pitchFamily="34" charset="-122"/>
                          <a:cs typeface="Calibri" pitchFamily="34" charset="-120"/>
                        </a:rPr>
                        <a:t>0.500</a:t>
                      </a:r>
                      <a:endParaRPr lang="en-US" sz="950" dirty="0">
                        <a:latin typeface="Calibri" charset="0"/>
                        <a:ea typeface="Calibri" charset="0"/>
                        <a:cs typeface="Calibri" charset="0"/>
                      </a:endParaRPr>
                    </a:p>
                  </a:txBody>
                  <a:tcPr marL="91440" marR="91440" marT="45720" marB="45720" anchor="ctr">
                    <a:lnL w="6350" cap="flat" cmpd="sng" algn="ctr">
                      <a:solidFill>
                        <a:srgbClr val="D7DEE5"/>
                      </a:solidFill>
                      <a:prstDash val="solid"/>
                      <a:round/>
                      <a:headEnd type="none" w="med" len="med"/>
                      <a:tailEnd type="none" w="med" len="med"/>
                    </a:lnL>
                    <a:lnR w="6350" cap="flat" cmpd="sng" algn="ctr">
                      <a:solidFill>
                        <a:srgbClr val="D7DEE5"/>
                      </a:solidFill>
                      <a:prstDash val="solid"/>
                      <a:round/>
                      <a:headEnd type="none" w="med" len="med"/>
                      <a:tailEnd type="none" w="med" len="med"/>
                    </a:lnR>
                    <a:lnT w="6350" cap="flat" cmpd="sng" algn="ctr">
                      <a:solidFill>
                        <a:srgbClr val="D7DEE5"/>
                      </a:solidFill>
                      <a:prstDash val="solid"/>
                      <a:round/>
                      <a:headEnd type="none" w="med" len="med"/>
                      <a:tailEnd type="none" w="med" len="med"/>
                    </a:lnT>
                    <a:lnB w="6350" cap="flat" cmpd="sng" algn="ctr">
                      <a:solidFill>
                        <a:srgbClr val="D7DEE5"/>
                      </a:solidFill>
                      <a:prstDash val="solid"/>
                      <a:round/>
                      <a:headEnd type="none" w="med" len="med"/>
                      <a:tailEnd type="none" w="med" len="med"/>
                    </a:lnB>
                  </a:tcPr>
                </a:tc>
              </a:tr>
            </a:tbl>
          </a:graphicData>
        </a:graphic>
      </p:graphicFrame>
      <p:sp>
        <p:nvSpPr>
          <p:cNvPr id="9" name="Shape 6"/>
          <p:cNvSpPr/>
          <p:nvPr/>
        </p:nvSpPr>
        <p:spPr>
          <a:xfrm>
            <a:off x="5989320" y="1417320"/>
            <a:ext cx="2697480" cy="2468880"/>
          </a:xfrm>
          <a:prstGeom prst="rect">
            <a:avLst/>
          </a:prstGeom>
          <a:solidFill>
            <a:srgbClr val="FFFFFF"/>
          </a:solidFill>
          <a:ln w="6350">
            <a:solidFill>
              <a:srgbClr val="D7DEE5"/>
            </a:solidFill>
            <a:prstDash val="solid"/>
          </a:ln>
          <a:effectLst>
            <a:outerShdw sx="100000" sy="100000" kx="0" ky="0" algn="bl" rotWithShape="0" blurRad="101600" dist="25400" dir="8100000">
              <a:srgbClr val="000000">
                <a:alpha val="10000"/>
              </a:srgbClr>
            </a:outerShdw>
          </a:effectLst>
        </p:spPr>
      </p:sp>
      <p:pic>
        <p:nvPicPr>
          <p:cNvPr id="10" name="Image 0" descr="/Users/m2/Projects/STAT 5243/43 Project 4/figures/09_market_calibration.png">    </p:cNvPr>
          <p:cNvPicPr>
            <a:picLocks noChangeAspect="1"/>
          </p:cNvPicPr>
          <p:nvPr/>
        </p:nvPicPr>
        <p:blipFill>
          <a:blip r:embed="rId1"/>
          <a:srcRect l="0" r="0" t="0" b="0"/>
          <a:stretch/>
        </p:blipFill>
        <p:spPr>
          <a:xfrm>
            <a:off x="6035040" y="1463040"/>
            <a:ext cx="2606040" cy="2194560"/>
          </a:xfrm>
          <a:prstGeom prst="rect">
            <a:avLst/>
          </a:prstGeom>
        </p:spPr>
      </p:pic>
      <p:sp>
        <p:nvSpPr>
          <p:cNvPr id="11" name="Text 7"/>
          <p:cNvSpPr/>
          <p:nvPr/>
        </p:nvSpPr>
        <p:spPr>
          <a:xfrm>
            <a:off x="5989320" y="3611880"/>
            <a:ext cx="2697480" cy="274320"/>
          </a:xfrm>
          <a:prstGeom prst="rect">
            <a:avLst/>
          </a:prstGeom>
          <a:noFill/>
          <a:ln/>
        </p:spPr>
        <p:txBody>
          <a:bodyPr wrap="square" lIns="0" tIns="0" rIns="0" bIns="0" rtlCol="0" anchor="ctr"/>
          <a:lstStyle/>
          <a:p>
            <a:pPr algn="ctr" indent="0" marL="0">
              <a:lnSpc>
                <a:spcPct val="115000"/>
              </a:lnSpc>
              <a:buNone/>
            </a:pPr>
            <a:r>
              <a:rPr lang="en-US" sz="900" i="1" dirty="0">
                <a:solidFill>
                  <a:srgbClr val="5A6573"/>
                </a:solidFill>
                <a:latin typeface="Calibri" pitchFamily="34" charset="0"/>
                <a:ea typeface="Calibri" pitchFamily="34" charset="-122"/>
                <a:cs typeface="Calibri" pitchFamily="34" charset="-120"/>
              </a:rPr>
              <a:t>Market lies almost on the diagonal — essentially perfect calibration.</a:t>
            </a:r>
            <a:endParaRPr lang="en-US" sz="900" dirty="0"/>
          </a:p>
        </p:txBody>
      </p:sp>
      <p:sp>
        <p:nvSpPr>
          <p:cNvPr id="12" name="Shape 8"/>
          <p:cNvSpPr/>
          <p:nvPr/>
        </p:nvSpPr>
        <p:spPr>
          <a:xfrm>
            <a:off x="457200" y="3977640"/>
            <a:ext cx="8229600" cy="713232"/>
          </a:xfrm>
          <a:prstGeom prst="rect">
            <a:avLst/>
          </a:prstGeom>
          <a:solidFill>
            <a:srgbClr val="0B2545"/>
          </a:solidFill>
          <a:ln/>
        </p:spPr>
      </p:sp>
      <p:sp>
        <p:nvSpPr>
          <p:cNvPr id="13" name="Shape 9"/>
          <p:cNvSpPr/>
          <p:nvPr/>
        </p:nvSpPr>
        <p:spPr>
          <a:xfrm>
            <a:off x="457200" y="3977640"/>
            <a:ext cx="54864" cy="713232"/>
          </a:xfrm>
          <a:prstGeom prst="rect">
            <a:avLst/>
          </a:prstGeom>
          <a:solidFill>
            <a:srgbClr val="E07A5F"/>
          </a:solidFill>
          <a:ln/>
        </p:spPr>
      </p:sp>
      <p:sp>
        <p:nvSpPr>
          <p:cNvPr id="14" name="Text 10"/>
          <p:cNvSpPr/>
          <p:nvPr/>
        </p:nvSpPr>
        <p:spPr>
          <a:xfrm>
            <a:off x="640080" y="4023360"/>
            <a:ext cx="7863840" cy="640080"/>
          </a:xfrm>
          <a:prstGeom prst="rect">
            <a:avLst/>
          </a:prstGeom>
          <a:noFill/>
          <a:ln/>
        </p:spPr>
        <p:txBody>
          <a:bodyPr wrap="square" lIns="0" tIns="0" rIns="0" bIns="0" rtlCol="0" anchor="ctr"/>
          <a:lstStyle/>
          <a:p>
            <a:pPr indent="0" marL="0">
              <a:lnSpc>
                <a:spcPct val="125000"/>
              </a:lnSpc>
              <a:buNone/>
            </a:pPr>
            <a:r>
              <a:rPr lang="en-US" sz="1150" b="1" i="1" dirty="0">
                <a:solidFill>
                  <a:srgbClr val="E07A5F"/>
                </a:solidFill>
                <a:latin typeface="Calibri" pitchFamily="34" charset="0"/>
                <a:ea typeface="Calibri" pitchFamily="34" charset="-122"/>
                <a:cs typeface="Calibri" pitchFamily="34" charset="-120"/>
              </a:rPr>
              <a:t>We treat this as a finding, not a failure.   </a:t>
            </a:r>
            <a:pPr indent="0" marL="0">
              <a:lnSpc>
                <a:spcPct val="125000"/>
              </a:lnSpc>
              <a:buNone/>
            </a:pPr>
            <a:r>
              <a:rPr lang="en-US" sz="1150" b="1" dirty="0">
                <a:solidFill>
                  <a:srgbClr val="FFFFFF"/>
                </a:solidFill>
                <a:latin typeface="Calibri" pitchFamily="34" charset="0"/>
                <a:ea typeface="Calibri" pitchFamily="34" charset="-122"/>
                <a:cs typeface="Calibri" pitchFamily="34" charset="-120"/>
              </a:rPr>
              <a:t>Random Forest is within 0.023 log-loss of the market</a:t>
            </a:r>
            <a:pPr indent="0" marL="0">
              <a:lnSpc>
                <a:spcPct val="125000"/>
              </a:lnSpc>
              <a:buNone/>
            </a:pPr>
            <a:r>
              <a:rPr lang="en-US" sz="1150" dirty="0">
                <a:solidFill>
                  <a:srgbClr val="B9D9EB"/>
                </a:solidFill>
                <a:latin typeface="Calibri" pitchFamily="34" charset="0"/>
                <a:ea typeface="Calibri" pitchFamily="34" charset="-122"/>
                <a:cs typeface="Calibri" pitchFamily="34" charset="-120"/>
              </a:rPr>
              <a:t> — using only features the market presumably already prices.
</a:t>
            </a:r>
            <a:pPr indent="0" marL="0">
              <a:lnSpc>
                <a:spcPct val="125000"/>
              </a:lnSpc>
              <a:buNone/>
            </a:pPr>
            <a:r>
              <a:rPr lang="en-US" sz="1150" dirty="0">
                <a:solidFill>
                  <a:srgbClr val="B9D9EB"/>
                </a:solidFill>
                <a:latin typeface="Calibri" pitchFamily="34" charset="0"/>
                <a:ea typeface="Calibri" pitchFamily="34" charset="-122"/>
                <a:cs typeface="Calibri" pitchFamily="34" charset="-120"/>
              </a:rPr>
              <a:t>Always-Home's log-loss of 22.4 </a:t>
            </a:r>
            <a:pPr indent="0" marL="0">
              <a:lnSpc>
                <a:spcPct val="125000"/>
              </a:lnSpc>
              <a:buNone/>
            </a:pPr>
            <a:r>
              <a:rPr lang="en-US" sz="1150" i="1" dirty="0">
                <a:solidFill>
                  <a:srgbClr val="FFFFFF"/>
                </a:solidFill>
                <a:latin typeface="Calibri" pitchFamily="34" charset="0"/>
                <a:ea typeface="Calibri" pitchFamily="34" charset="-122"/>
                <a:cs typeface="Calibri" pitchFamily="34" charset="-120"/>
              </a:rPr>
              <a:t>is the cost of being confidently wrong about Draws and Aways.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B9D9EB"/>
          </a:solidFill>
          <a:ln/>
        </p:spPr>
      </p:sp>
      <p:sp>
        <p:nvSpPr>
          <p:cNvPr id="3" name="Shape 1"/>
          <p:cNvSpPr/>
          <p:nvPr/>
        </p:nvSpPr>
        <p:spPr>
          <a:xfrm>
            <a:off x="457200" y="4759452"/>
            <a:ext cx="8229600" cy="10973"/>
          </a:xfrm>
          <a:prstGeom prst="rect">
            <a:avLst/>
          </a:prstGeom>
          <a:solidFill>
            <a:srgbClr val="D7DEE5"/>
          </a:solidFill>
          <a:ln/>
        </p:spPr>
      </p:sp>
      <p:sp>
        <p:nvSpPr>
          <p:cNvPr id="4" name="Text 2"/>
          <p:cNvSpPr/>
          <p:nvPr/>
        </p:nvSpPr>
        <p:spPr>
          <a:xfrm>
            <a:off x="457200" y="4814316"/>
            <a:ext cx="7772400" cy="256032"/>
          </a:xfrm>
          <a:prstGeom prst="rect">
            <a:avLst/>
          </a:prstGeom>
          <a:noFill/>
          <a:ln/>
        </p:spPr>
        <p:txBody>
          <a:bodyPr wrap="square" lIns="0" tIns="0" rIns="0" bIns="0" rtlCol="0" anchor="ctr"/>
          <a:lstStyle/>
          <a:p>
            <a:pPr algn="l" indent="0" marL="0">
              <a:buNone/>
            </a:pPr>
            <a:r>
              <a:rPr lang="en-US" sz="900" dirty="0">
                <a:solidFill>
                  <a:srgbClr val="5A6573"/>
                </a:solidFill>
                <a:latin typeface="Calibri" pitchFamily="34" charset="0"/>
                <a:ea typeface="Calibri" pitchFamily="34" charset="-122"/>
                <a:cs typeface="Calibri" pitchFamily="34" charset="-120"/>
              </a:rPr>
              <a:t>STAT 5243 Project 4   ·   Liang · Chen · Collaborator   ·   2026-05-05</a:t>
            </a:r>
            <a:endParaRPr lang="en-US" sz="900" dirty="0"/>
          </a:p>
        </p:txBody>
      </p:sp>
      <p:sp>
        <p:nvSpPr>
          <p:cNvPr id="5" name="Text 3"/>
          <p:cNvSpPr/>
          <p:nvPr/>
        </p:nvSpPr>
        <p:spPr>
          <a:xfrm>
            <a:off x="8046720" y="4814316"/>
            <a:ext cx="640080" cy="256032"/>
          </a:xfrm>
          <a:prstGeom prst="rect">
            <a:avLst/>
          </a:prstGeom>
          <a:noFill/>
          <a:ln/>
        </p:spPr>
        <p:txBody>
          <a:bodyPr wrap="square" lIns="0" tIns="0" rIns="0" bIns="0" rtlCol="0" anchor="ctr"/>
          <a:lstStyle/>
          <a:p>
            <a:pPr algn="r" indent="0" marL="0">
              <a:buNone/>
            </a:pPr>
            <a:r>
              <a:rPr lang="en-US" sz="900" dirty="0">
                <a:solidFill>
                  <a:srgbClr val="5A6573"/>
                </a:solidFill>
                <a:latin typeface="Calibri" pitchFamily="34" charset="0"/>
                <a:ea typeface="Calibri" pitchFamily="34" charset="-122"/>
                <a:cs typeface="Calibri" pitchFamily="34" charset="-120"/>
              </a:rPr>
              <a:t>10 / 12</a:t>
            </a:r>
            <a:endParaRPr lang="en-US" sz="900" dirty="0"/>
          </a:p>
        </p:txBody>
      </p:sp>
      <p:sp>
        <p:nvSpPr>
          <p:cNvPr id="6" name="Text 4"/>
          <p:cNvSpPr/>
          <p:nvPr/>
        </p:nvSpPr>
        <p:spPr>
          <a:xfrm>
            <a:off x="457200" y="274320"/>
            <a:ext cx="8229600" cy="274320"/>
          </a:xfrm>
          <a:prstGeom prst="rect">
            <a:avLst/>
          </a:prstGeom>
          <a:noFill/>
          <a:ln/>
        </p:spPr>
        <p:txBody>
          <a:bodyPr wrap="square" lIns="0" tIns="0" rIns="0" bIns="0" rtlCol="0" anchor="ctr"/>
          <a:lstStyle/>
          <a:p>
            <a:pPr indent="0" marL="0">
              <a:buNone/>
            </a:pPr>
            <a:r>
              <a:rPr lang="en-US" sz="1100" b="1" spc="400" kern="0" dirty="0">
                <a:solidFill>
                  <a:srgbClr val="7FB3D5"/>
                </a:solidFill>
                <a:latin typeface="Calibri" pitchFamily="34" charset="0"/>
                <a:ea typeface="Calibri" pitchFamily="34" charset="-122"/>
                <a:cs typeface="Calibri" pitchFamily="34" charset="-120"/>
              </a:rPr>
              <a:t>BEYOND H/D/A</a:t>
            </a:r>
            <a:endParaRPr lang="en-US" sz="1100" dirty="0"/>
          </a:p>
        </p:txBody>
      </p:sp>
      <p:sp>
        <p:nvSpPr>
          <p:cNvPr id="7" name="Text 5"/>
          <p:cNvSpPr/>
          <p:nvPr/>
        </p:nvSpPr>
        <p:spPr>
          <a:xfrm>
            <a:off x="457200" y="548640"/>
            <a:ext cx="8229600" cy="868680"/>
          </a:xfrm>
          <a:prstGeom prst="rect">
            <a:avLst/>
          </a:prstGeom>
          <a:noFill/>
          <a:ln/>
        </p:spPr>
        <p:txBody>
          <a:bodyPr wrap="square" lIns="0" tIns="0" rIns="0" bIns="0" rtlCol="0" anchor="ctr"/>
          <a:lstStyle/>
          <a:p>
            <a:pPr indent="0" marL="0">
              <a:lnSpc>
                <a:spcPct val="105000"/>
              </a:lnSpc>
              <a:buNone/>
            </a:pPr>
            <a:r>
              <a:rPr lang="en-US" sz="2400" b="1" dirty="0">
                <a:solidFill>
                  <a:srgbClr val="0B2545"/>
                </a:solidFill>
                <a:latin typeface="Georgia" pitchFamily="34" charset="0"/>
                <a:ea typeface="Georgia" pitchFamily="34" charset="-122"/>
                <a:cs typeface="Georgia" pitchFamily="34" charset="-120"/>
              </a:rPr>
              <a:t>Three bonus targets, one shared probabilistic engine.</a:t>
            </a:r>
            <a:endParaRPr lang="en-US" sz="2400" dirty="0"/>
          </a:p>
        </p:txBody>
      </p:sp>
      <p:sp>
        <p:nvSpPr>
          <p:cNvPr id="8" name="Shape 6"/>
          <p:cNvSpPr/>
          <p:nvPr/>
        </p:nvSpPr>
        <p:spPr>
          <a:xfrm>
            <a:off x="457200" y="1371600"/>
            <a:ext cx="5074920" cy="777240"/>
          </a:xfrm>
          <a:prstGeom prst="rect">
            <a:avLst/>
          </a:prstGeom>
          <a:solidFill>
            <a:srgbClr val="FFFFFF"/>
          </a:solidFill>
          <a:ln w="9525">
            <a:solidFill>
              <a:srgbClr val="D7DEE5"/>
            </a:solidFill>
            <a:prstDash val="solid"/>
          </a:ln>
          <a:effectLst>
            <a:outerShdw sx="100000" sy="100000" kx="0" ky="0" algn="bl" rotWithShape="0" blurRad="101600" dist="25400" dir="8100000">
              <a:srgbClr val="000000">
                <a:alpha val="10000"/>
              </a:srgbClr>
            </a:outerShdw>
          </a:effectLst>
        </p:spPr>
      </p:sp>
      <p:sp>
        <p:nvSpPr>
          <p:cNvPr id="9" name="Shape 7"/>
          <p:cNvSpPr/>
          <p:nvPr/>
        </p:nvSpPr>
        <p:spPr>
          <a:xfrm>
            <a:off x="457200" y="1371600"/>
            <a:ext cx="54864" cy="777240"/>
          </a:xfrm>
          <a:prstGeom prst="rect">
            <a:avLst/>
          </a:prstGeom>
          <a:solidFill>
            <a:srgbClr val="E07A5F"/>
          </a:solidFill>
          <a:ln/>
        </p:spPr>
      </p:sp>
      <p:sp>
        <p:nvSpPr>
          <p:cNvPr id="10" name="Text 8"/>
          <p:cNvSpPr/>
          <p:nvPr/>
        </p:nvSpPr>
        <p:spPr>
          <a:xfrm>
            <a:off x="640080" y="1426464"/>
            <a:ext cx="2103120" cy="274320"/>
          </a:xfrm>
          <a:prstGeom prst="rect">
            <a:avLst/>
          </a:prstGeom>
          <a:noFill/>
          <a:ln/>
        </p:spPr>
        <p:txBody>
          <a:bodyPr wrap="square" lIns="0" tIns="0" rIns="0" bIns="0" rtlCol="0" anchor="ctr"/>
          <a:lstStyle/>
          <a:p>
            <a:pPr indent="0" marL="0">
              <a:buNone/>
            </a:pPr>
            <a:r>
              <a:rPr lang="en-US" sz="1300" b="1" dirty="0">
                <a:solidFill>
                  <a:srgbClr val="0B2545"/>
                </a:solidFill>
                <a:latin typeface="Georgia" pitchFamily="34" charset="0"/>
                <a:ea typeface="Georgia" pitchFamily="34" charset="-122"/>
                <a:cs typeface="Georgia" pitchFamily="34" charset="-120"/>
              </a:rPr>
              <a:t>Exact score</a:t>
            </a:r>
            <a:endParaRPr lang="en-US" sz="1300" dirty="0"/>
          </a:p>
        </p:txBody>
      </p:sp>
      <p:sp>
        <p:nvSpPr>
          <p:cNvPr id="11" name="Shape 9"/>
          <p:cNvSpPr/>
          <p:nvPr/>
        </p:nvSpPr>
        <p:spPr>
          <a:xfrm>
            <a:off x="2834640" y="1463040"/>
            <a:ext cx="1417320" cy="237744"/>
          </a:xfrm>
          <a:prstGeom prst="roundRect">
            <a:avLst>
              <a:gd name="adj" fmla="val 23077"/>
            </a:avLst>
          </a:prstGeom>
          <a:solidFill>
            <a:srgbClr val="0B2545"/>
          </a:solidFill>
          <a:ln/>
        </p:spPr>
      </p:sp>
      <p:sp>
        <p:nvSpPr>
          <p:cNvPr id="12" name="Text 10"/>
          <p:cNvSpPr/>
          <p:nvPr/>
        </p:nvSpPr>
        <p:spPr>
          <a:xfrm>
            <a:off x="2834640" y="1463040"/>
            <a:ext cx="1417320" cy="237744"/>
          </a:xfrm>
          <a:prstGeom prst="rect">
            <a:avLst/>
          </a:prstGeom>
          <a:noFill/>
          <a:ln/>
        </p:spPr>
        <p:txBody>
          <a:bodyPr wrap="square" lIns="0" tIns="0" rIns="0" bIns="0" rtlCol="0" anchor="ctr"/>
          <a:lstStyle/>
          <a:p>
            <a:pPr algn="ctr" indent="0" marL="0">
              <a:buNone/>
            </a:pPr>
            <a:r>
              <a:rPr lang="en-US" sz="900" b="1" dirty="0">
                <a:solidFill>
                  <a:srgbClr val="B9D9EB"/>
                </a:solidFill>
                <a:latin typeface="Calibri" pitchFamily="34" charset="0"/>
                <a:ea typeface="Calibri" pitchFamily="34" charset="-122"/>
                <a:cs typeface="Calibri" pitchFamily="34" charset="-120"/>
              </a:rPr>
              <a:t>Dixon-Coles</a:t>
            </a:r>
            <a:endParaRPr lang="en-US" sz="900" dirty="0"/>
          </a:p>
        </p:txBody>
      </p:sp>
      <p:sp>
        <p:nvSpPr>
          <p:cNvPr id="13" name="Text 11"/>
          <p:cNvSpPr/>
          <p:nvPr/>
        </p:nvSpPr>
        <p:spPr>
          <a:xfrm>
            <a:off x="4343400" y="1463040"/>
            <a:ext cx="1097280" cy="237744"/>
          </a:xfrm>
          <a:prstGeom prst="rect">
            <a:avLst/>
          </a:prstGeom>
          <a:noFill/>
          <a:ln/>
        </p:spPr>
        <p:txBody>
          <a:bodyPr wrap="square" lIns="0" tIns="0" rIns="0" bIns="0" rtlCol="0" anchor="ctr"/>
          <a:lstStyle/>
          <a:p>
            <a:pPr indent="0" marL="0">
              <a:buNone/>
            </a:pPr>
            <a:r>
              <a:rPr lang="en-US" sz="850" b="1" i="1" spc="200" kern="0" dirty="0">
                <a:solidFill>
                  <a:srgbClr val="13315C"/>
                </a:solidFill>
                <a:latin typeface="Calibri" pitchFamily="34" charset="0"/>
                <a:ea typeface="Calibri" pitchFamily="34" charset="-122"/>
                <a:cs typeface="Calibri" pitchFamily="34" charset="-120"/>
              </a:rPr>
              <a:t>shipped</a:t>
            </a:r>
            <a:endParaRPr lang="en-US" sz="850" dirty="0"/>
          </a:p>
        </p:txBody>
      </p:sp>
      <p:sp>
        <p:nvSpPr>
          <p:cNvPr id="14" name="Text 12"/>
          <p:cNvSpPr/>
          <p:nvPr/>
        </p:nvSpPr>
        <p:spPr>
          <a:xfrm>
            <a:off x="640080" y="1719072"/>
            <a:ext cx="4846320" cy="393192"/>
          </a:xfrm>
          <a:prstGeom prst="rect">
            <a:avLst/>
          </a:prstGeom>
          <a:noFill/>
          <a:ln/>
        </p:spPr>
        <p:txBody>
          <a:bodyPr wrap="square" lIns="0" tIns="0" rIns="0" bIns="0" rtlCol="0" anchor="ctr"/>
          <a:lstStyle/>
          <a:p>
            <a:pPr indent="0" marL="0">
              <a:lnSpc>
                <a:spcPct val="118000"/>
              </a:lnSpc>
              <a:buNone/>
            </a:pPr>
            <a:r>
              <a:rPr lang="en-US" sz="1000" dirty="0">
                <a:solidFill>
                  <a:srgbClr val="1F2933"/>
                </a:solidFill>
                <a:latin typeface="Calibri" pitchFamily="34" charset="0"/>
                <a:ea typeface="Calibri" pitchFamily="34" charset="-122"/>
                <a:cs typeface="Calibri" pitchFamily="34" charset="-120"/>
              </a:rPr>
              <a:t>Joint home × away goals from bivariate Poisson with 0.0065/day decay; tau correction fixes 0-0 / 0-1 / 1-0 / 1-1 under-prediction.</a:t>
            </a:r>
            <a:endParaRPr lang="en-US" sz="1000" dirty="0"/>
          </a:p>
        </p:txBody>
      </p:sp>
      <p:sp>
        <p:nvSpPr>
          <p:cNvPr id="15" name="Shape 13"/>
          <p:cNvSpPr/>
          <p:nvPr/>
        </p:nvSpPr>
        <p:spPr>
          <a:xfrm>
            <a:off x="457200" y="2240280"/>
            <a:ext cx="5074920" cy="777240"/>
          </a:xfrm>
          <a:prstGeom prst="rect">
            <a:avLst/>
          </a:prstGeom>
          <a:solidFill>
            <a:srgbClr val="FFFFFF"/>
          </a:solidFill>
          <a:ln w="9525">
            <a:solidFill>
              <a:srgbClr val="D7DEE5"/>
            </a:solidFill>
            <a:prstDash val="solid"/>
          </a:ln>
          <a:effectLst>
            <a:outerShdw sx="100000" sy="100000" kx="0" ky="0" algn="bl" rotWithShape="0" blurRad="101600" dist="25400" dir="8100000">
              <a:srgbClr val="000000">
                <a:alpha val="10000"/>
              </a:srgbClr>
            </a:outerShdw>
          </a:effectLst>
        </p:spPr>
      </p:sp>
      <p:sp>
        <p:nvSpPr>
          <p:cNvPr id="16" name="Shape 14"/>
          <p:cNvSpPr/>
          <p:nvPr/>
        </p:nvSpPr>
        <p:spPr>
          <a:xfrm>
            <a:off x="457200" y="2240280"/>
            <a:ext cx="54864" cy="777240"/>
          </a:xfrm>
          <a:prstGeom prst="rect">
            <a:avLst/>
          </a:prstGeom>
          <a:solidFill>
            <a:srgbClr val="E07A5F"/>
          </a:solidFill>
          <a:ln/>
        </p:spPr>
      </p:sp>
      <p:sp>
        <p:nvSpPr>
          <p:cNvPr id="17" name="Text 15"/>
          <p:cNvSpPr/>
          <p:nvPr/>
        </p:nvSpPr>
        <p:spPr>
          <a:xfrm>
            <a:off x="640080" y="2295144"/>
            <a:ext cx="2103120" cy="274320"/>
          </a:xfrm>
          <a:prstGeom prst="rect">
            <a:avLst/>
          </a:prstGeom>
          <a:noFill/>
          <a:ln/>
        </p:spPr>
        <p:txBody>
          <a:bodyPr wrap="square" lIns="0" tIns="0" rIns="0" bIns="0" rtlCol="0" anchor="ctr"/>
          <a:lstStyle/>
          <a:p>
            <a:pPr indent="0" marL="0">
              <a:buNone/>
            </a:pPr>
            <a:r>
              <a:rPr lang="en-US" sz="1300" b="1" dirty="0">
                <a:solidFill>
                  <a:srgbClr val="0B2545"/>
                </a:solidFill>
                <a:latin typeface="Georgia" pitchFamily="34" charset="0"/>
                <a:ea typeface="Georgia" pitchFamily="34" charset="-122"/>
                <a:cs typeface="Georgia" pitchFamily="34" charset="-120"/>
              </a:rPr>
              <a:t>Final standings</a:t>
            </a:r>
            <a:endParaRPr lang="en-US" sz="1300" dirty="0"/>
          </a:p>
        </p:txBody>
      </p:sp>
      <p:sp>
        <p:nvSpPr>
          <p:cNvPr id="18" name="Shape 16"/>
          <p:cNvSpPr/>
          <p:nvPr/>
        </p:nvSpPr>
        <p:spPr>
          <a:xfrm>
            <a:off x="2834640" y="2331720"/>
            <a:ext cx="1417320" cy="237744"/>
          </a:xfrm>
          <a:prstGeom prst="roundRect">
            <a:avLst>
              <a:gd name="adj" fmla="val 23077"/>
            </a:avLst>
          </a:prstGeom>
          <a:solidFill>
            <a:srgbClr val="0B2545"/>
          </a:solidFill>
          <a:ln/>
        </p:spPr>
      </p:sp>
      <p:sp>
        <p:nvSpPr>
          <p:cNvPr id="19" name="Text 17"/>
          <p:cNvSpPr/>
          <p:nvPr/>
        </p:nvSpPr>
        <p:spPr>
          <a:xfrm>
            <a:off x="2834640" y="2331720"/>
            <a:ext cx="1417320" cy="237744"/>
          </a:xfrm>
          <a:prstGeom prst="rect">
            <a:avLst/>
          </a:prstGeom>
          <a:noFill/>
          <a:ln/>
        </p:spPr>
        <p:txBody>
          <a:bodyPr wrap="square" lIns="0" tIns="0" rIns="0" bIns="0" rtlCol="0" anchor="ctr"/>
          <a:lstStyle/>
          <a:p>
            <a:pPr algn="ctr" indent="0" marL="0">
              <a:buNone/>
            </a:pPr>
            <a:r>
              <a:rPr lang="en-US" sz="900" b="1" dirty="0">
                <a:solidFill>
                  <a:srgbClr val="B9D9EB"/>
                </a:solidFill>
                <a:latin typeface="Calibri" pitchFamily="34" charset="0"/>
                <a:ea typeface="Calibri" pitchFamily="34" charset="-122"/>
                <a:cs typeface="Calibri" pitchFamily="34" charset="-120"/>
              </a:rPr>
              <a:t>Monte Carlo</a:t>
            </a:r>
            <a:endParaRPr lang="en-US" sz="900" dirty="0"/>
          </a:p>
        </p:txBody>
      </p:sp>
      <p:sp>
        <p:nvSpPr>
          <p:cNvPr id="20" name="Text 18"/>
          <p:cNvSpPr/>
          <p:nvPr/>
        </p:nvSpPr>
        <p:spPr>
          <a:xfrm>
            <a:off x="4343400" y="2331720"/>
            <a:ext cx="1097280" cy="237744"/>
          </a:xfrm>
          <a:prstGeom prst="rect">
            <a:avLst/>
          </a:prstGeom>
          <a:noFill/>
          <a:ln/>
        </p:spPr>
        <p:txBody>
          <a:bodyPr wrap="square" lIns="0" tIns="0" rIns="0" bIns="0" rtlCol="0" anchor="ctr"/>
          <a:lstStyle/>
          <a:p>
            <a:pPr indent="0" marL="0">
              <a:buNone/>
            </a:pPr>
            <a:r>
              <a:rPr lang="en-US" sz="850" b="1" i="1" spc="200" kern="0" dirty="0">
                <a:solidFill>
                  <a:srgbClr val="13315C"/>
                </a:solidFill>
                <a:latin typeface="Calibri" pitchFamily="34" charset="0"/>
                <a:ea typeface="Calibri" pitchFamily="34" charset="-122"/>
                <a:cs typeface="Calibri" pitchFamily="34" charset="-120"/>
              </a:rPr>
              <a:t>shipped</a:t>
            </a:r>
            <a:endParaRPr lang="en-US" sz="850" dirty="0"/>
          </a:p>
        </p:txBody>
      </p:sp>
      <p:sp>
        <p:nvSpPr>
          <p:cNvPr id="21" name="Text 19"/>
          <p:cNvSpPr/>
          <p:nvPr/>
        </p:nvSpPr>
        <p:spPr>
          <a:xfrm>
            <a:off x="640080" y="2587752"/>
            <a:ext cx="4846320" cy="393192"/>
          </a:xfrm>
          <a:prstGeom prst="rect">
            <a:avLst/>
          </a:prstGeom>
          <a:noFill/>
          <a:ln/>
        </p:spPr>
        <p:txBody>
          <a:bodyPr wrap="square" lIns="0" tIns="0" rIns="0" bIns="0" rtlCol="0" anchor="ctr"/>
          <a:lstStyle/>
          <a:p>
            <a:pPr indent="0" marL="0">
              <a:lnSpc>
                <a:spcPct val="118000"/>
              </a:lnSpc>
              <a:buNone/>
            </a:pPr>
            <a:r>
              <a:rPr lang="en-US" sz="1000" dirty="0">
                <a:solidFill>
                  <a:srgbClr val="1F2933"/>
                </a:solidFill>
                <a:latin typeface="Calibri" pitchFamily="34" charset="0"/>
                <a:ea typeface="Calibri" pitchFamily="34" charset="-122"/>
                <a:cs typeface="Calibri" pitchFamily="34" charset="-120"/>
              </a:rPr>
              <a:t>10,000 simulated 380-match seasons; per-team title prob, top-4 prob, relegation prob with 5 / 95 bands.</a:t>
            </a:r>
            <a:endParaRPr lang="en-US" sz="1000" dirty="0"/>
          </a:p>
        </p:txBody>
      </p:sp>
      <p:sp>
        <p:nvSpPr>
          <p:cNvPr id="22" name="Shape 20"/>
          <p:cNvSpPr/>
          <p:nvPr/>
        </p:nvSpPr>
        <p:spPr>
          <a:xfrm>
            <a:off x="457200" y="3108960"/>
            <a:ext cx="5074920" cy="777240"/>
          </a:xfrm>
          <a:prstGeom prst="rect">
            <a:avLst/>
          </a:prstGeom>
          <a:solidFill>
            <a:srgbClr val="FFFFFF"/>
          </a:solidFill>
          <a:ln w="9525">
            <a:solidFill>
              <a:srgbClr val="D7DEE5"/>
            </a:solidFill>
            <a:prstDash val="solid"/>
          </a:ln>
          <a:effectLst>
            <a:outerShdw sx="100000" sy="100000" kx="0" ky="0" algn="bl" rotWithShape="0" blurRad="101600" dist="25400" dir="8100000">
              <a:srgbClr val="000000">
                <a:alpha val="10000"/>
              </a:srgbClr>
            </a:outerShdw>
          </a:effectLst>
        </p:spPr>
      </p:sp>
      <p:sp>
        <p:nvSpPr>
          <p:cNvPr id="23" name="Shape 21"/>
          <p:cNvSpPr/>
          <p:nvPr/>
        </p:nvSpPr>
        <p:spPr>
          <a:xfrm>
            <a:off x="457200" y="3108960"/>
            <a:ext cx="54864" cy="777240"/>
          </a:xfrm>
          <a:prstGeom prst="rect">
            <a:avLst/>
          </a:prstGeom>
          <a:solidFill>
            <a:srgbClr val="E07A5F"/>
          </a:solidFill>
          <a:ln/>
        </p:spPr>
      </p:sp>
      <p:sp>
        <p:nvSpPr>
          <p:cNvPr id="24" name="Text 22"/>
          <p:cNvSpPr/>
          <p:nvPr/>
        </p:nvSpPr>
        <p:spPr>
          <a:xfrm>
            <a:off x="640080" y="3163824"/>
            <a:ext cx="2103120" cy="274320"/>
          </a:xfrm>
          <a:prstGeom prst="rect">
            <a:avLst/>
          </a:prstGeom>
          <a:noFill/>
          <a:ln/>
        </p:spPr>
        <p:txBody>
          <a:bodyPr wrap="square" lIns="0" tIns="0" rIns="0" bIns="0" rtlCol="0" anchor="ctr"/>
          <a:lstStyle/>
          <a:p>
            <a:pPr indent="0" marL="0">
              <a:buNone/>
            </a:pPr>
            <a:r>
              <a:rPr lang="en-US" sz="1300" b="1" dirty="0">
                <a:solidFill>
                  <a:srgbClr val="0B2545"/>
                </a:solidFill>
                <a:latin typeface="Georgia" pitchFamily="34" charset="0"/>
                <a:ea typeface="Georgia" pitchFamily="34" charset="-122"/>
                <a:cs typeface="Georgia" pitchFamily="34" charset="-120"/>
              </a:rPr>
              <a:t>Beat the bookmaker</a:t>
            </a:r>
            <a:endParaRPr lang="en-US" sz="1300" dirty="0"/>
          </a:p>
        </p:txBody>
      </p:sp>
      <p:sp>
        <p:nvSpPr>
          <p:cNvPr id="25" name="Shape 23"/>
          <p:cNvSpPr/>
          <p:nvPr/>
        </p:nvSpPr>
        <p:spPr>
          <a:xfrm>
            <a:off x="2834640" y="3200400"/>
            <a:ext cx="1417320" cy="237744"/>
          </a:xfrm>
          <a:prstGeom prst="roundRect">
            <a:avLst>
              <a:gd name="adj" fmla="val 23077"/>
            </a:avLst>
          </a:prstGeom>
          <a:solidFill>
            <a:srgbClr val="0B2545"/>
          </a:solidFill>
          <a:ln/>
        </p:spPr>
      </p:sp>
      <p:sp>
        <p:nvSpPr>
          <p:cNvPr id="26" name="Text 24"/>
          <p:cNvSpPr/>
          <p:nvPr/>
        </p:nvSpPr>
        <p:spPr>
          <a:xfrm>
            <a:off x="2834640" y="3200400"/>
            <a:ext cx="1417320" cy="237744"/>
          </a:xfrm>
          <a:prstGeom prst="rect">
            <a:avLst/>
          </a:prstGeom>
          <a:noFill/>
          <a:ln/>
        </p:spPr>
        <p:txBody>
          <a:bodyPr wrap="square" lIns="0" tIns="0" rIns="0" bIns="0" rtlCol="0" anchor="ctr"/>
          <a:lstStyle/>
          <a:p>
            <a:pPr algn="ctr" indent="0" marL="0">
              <a:buNone/>
            </a:pPr>
            <a:r>
              <a:rPr lang="en-US" sz="900" b="1" dirty="0">
                <a:solidFill>
                  <a:srgbClr val="B9D9EB"/>
                </a:solidFill>
                <a:latin typeface="Calibri" pitchFamily="34" charset="0"/>
                <a:ea typeface="Calibri" pitchFamily="34" charset="-122"/>
                <a:cs typeface="Calibri" pitchFamily="34" charset="-120"/>
              </a:rPr>
              <a:t>Kelly-fractional</a:t>
            </a:r>
            <a:endParaRPr lang="en-US" sz="900" dirty="0"/>
          </a:p>
        </p:txBody>
      </p:sp>
      <p:sp>
        <p:nvSpPr>
          <p:cNvPr id="27" name="Text 25"/>
          <p:cNvSpPr/>
          <p:nvPr/>
        </p:nvSpPr>
        <p:spPr>
          <a:xfrm>
            <a:off x="4343400" y="3200400"/>
            <a:ext cx="1097280" cy="237744"/>
          </a:xfrm>
          <a:prstGeom prst="rect">
            <a:avLst/>
          </a:prstGeom>
          <a:noFill/>
          <a:ln/>
        </p:spPr>
        <p:txBody>
          <a:bodyPr wrap="square" lIns="0" tIns="0" rIns="0" bIns="0" rtlCol="0" anchor="ctr"/>
          <a:lstStyle/>
          <a:p>
            <a:pPr indent="0" marL="0">
              <a:buNone/>
            </a:pPr>
            <a:r>
              <a:rPr lang="en-US" sz="850" b="1" i="1" spc="200" kern="0" dirty="0">
                <a:solidFill>
                  <a:srgbClr val="5A6573"/>
                </a:solidFill>
                <a:latin typeface="Calibri" pitchFamily="34" charset="0"/>
                <a:ea typeface="Calibri" pitchFamily="34" charset="-122"/>
                <a:cs typeface="Calibri" pitchFamily="34" charset="-120"/>
              </a:rPr>
              <a:t>scaffolded</a:t>
            </a:r>
            <a:endParaRPr lang="en-US" sz="850" dirty="0"/>
          </a:p>
        </p:txBody>
      </p:sp>
      <p:sp>
        <p:nvSpPr>
          <p:cNvPr id="28" name="Text 26"/>
          <p:cNvSpPr/>
          <p:nvPr/>
        </p:nvSpPr>
        <p:spPr>
          <a:xfrm>
            <a:off x="640080" y="3456432"/>
            <a:ext cx="4846320" cy="393192"/>
          </a:xfrm>
          <a:prstGeom prst="rect">
            <a:avLst/>
          </a:prstGeom>
          <a:noFill/>
          <a:ln/>
        </p:spPr>
        <p:txBody>
          <a:bodyPr wrap="square" lIns="0" tIns="0" rIns="0" bIns="0" rtlCol="0" anchor="ctr"/>
          <a:lstStyle/>
          <a:p>
            <a:pPr indent="0" marL="0">
              <a:lnSpc>
                <a:spcPct val="118000"/>
              </a:lnSpc>
              <a:buNone/>
            </a:pPr>
            <a:r>
              <a:rPr lang="en-US" sz="1000" dirty="0">
                <a:solidFill>
                  <a:srgbClr val="1F2933"/>
                </a:solidFill>
                <a:latin typeface="Calibri" pitchFamily="34" charset="0"/>
                <a:ea typeface="Calibri" pitchFamily="34" charset="-122"/>
                <a:cs typeface="Calibri" pitchFamily="34" charset="-120"/>
              </a:rPr>
              <a:t>Bet only when edge = p·odds − 1 &gt; 0; cap stake at 5% of bankroll; ROI on 2020-21 is the cleanest test of conviction.</a:t>
            </a:r>
            <a:endParaRPr lang="en-US" sz="1000" dirty="0"/>
          </a:p>
        </p:txBody>
      </p:sp>
      <p:sp>
        <p:nvSpPr>
          <p:cNvPr id="29" name="Shape 27"/>
          <p:cNvSpPr/>
          <p:nvPr/>
        </p:nvSpPr>
        <p:spPr>
          <a:xfrm>
            <a:off x="5760720" y="1371600"/>
            <a:ext cx="2926080" cy="2377440"/>
          </a:xfrm>
          <a:prstGeom prst="rect">
            <a:avLst/>
          </a:prstGeom>
          <a:solidFill>
            <a:srgbClr val="FFFFFF"/>
          </a:solidFill>
          <a:ln w="6350">
            <a:solidFill>
              <a:srgbClr val="D7DEE5"/>
            </a:solidFill>
            <a:prstDash val="solid"/>
          </a:ln>
          <a:effectLst>
            <a:outerShdw sx="100000" sy="100000" kx="0" ky="0" algn="bl" rotWithShape="0" blurRad="101600" dist="25400" dir="8100000">
              <a:srgbClr val="000000">
                <a:alpha val="10000"/>
              </a:srgbClr>
            </a:outerShdw>
          </a:effectLst>
        </p:spPr>
      </p:sp>
      <p:pic>
        <p:nvPicPr>
          <p:cNvPr id="30" name="Image 0" descr="/Users/m2/Projects/STAT 5243/43 Project 4/figures/10_mc_title_probabilities.png">    </p:cNvPr>
          <p:cNvPicPr>
            <a:picLocks noChangeAspect="1"/>
          </p:cNvPicPr>
          <p:nvPr/>
        </p:nvPicPr>
        <p:blipFill>
          <a:blip r:embed="rId1"/>
          <a:srcRect l="0" r="0" t="0" b="0"/>
          <a:stretch/>
        </p:blipFill>
        <p:spPr>
          <a:xfrm>
            <a:off x="5806440" y="1417320"/>
            <a:ext cx="2834640" cy="2103120"/>
          </a:xfrm>
          <a:prstGeom prst="rect">
            <a:avLst/>
          </a:prstGeom>
        </p:spPr>
      </p:pic>
      <p:sp>
        <p:nvSpPr>
          <p:cNvPr id="31" name="Text 28"/>
          <p:cNvSpPr/>
          <p:nvPr/>
        </p:nvSpPr>
        <p:spPr>
          <a:xfrm>
            <a:off x="5760720" y="3493008"/>
            <a:ext cx="2926080" cy="274320"/>
          </a:xfrm>
          <a:prstGeom prst="rect">
            <a:avLst/>
          </a:prstGeom>
          <a:noFill/>
          <a:ln/>
        </p:spPr>
        <p:txBody>
          <a:bodyPr wrap="square" lIns="0" tIns="0" rIns="0" bIns="0" rtlCol="0" anchor="ctr"/>
          <a:lstStyle/>
          <a:p>
            <a:pPr algn="ctr" indent="0" marL="0">
              <a:lnSpc>
                <a:spcPct val="120000"/>
              </a:lnSpc>
              <a:buNone/>
            </a:pPr>
            <a:r>
              <a:rPr lang="en-US" sz="900" i="1" dirty="0">
                <a:solidFill>
                  <a:srgbClr val="5A6573"/>
                </a:solidFill>
                <a:latin typeface="Calibri" pitchFamily="34" charset="0"/>
                <a:ea typeface="Calibri" pitchFamily="34" charset="-122"/>
                <a:cs typeface="Calibri" pitchFamily="34" charset="-120"/>
              </a:rPr>
              <a:t>Monte Carlo target — 10k seasons resampled per team's per-match probabilities.</a:t>
            </a:r>
            <a:endParaRPr lang="en-US" sz="900" dirty="0"/>
          </a:p>
        </p:txBody>
      </p:sp>
      <p:sp>
        <p:nvSpPr>
          <p:cNvPr id="32" name="Shape 29"/>
          <p:cNvSpPr/>
          <p:nvPr/>
        </p:nvSpPr>
        <p:spPr>
          <a:xfrm>
            <a:off x="457200" y="4114800"/>
            <a:ext cx="8229600" cy="566928"/>
          </a:xfrm>
          <a:prstGeom prst="rect">
            <a:avLst/>
          </a:prstGeom>
          <a:solidFill>
            <a:srgbClr val="0B2545"/>
          </a:solidFill>
          <a:ln/>
        </p:spPr>
      </p:sp>
      <p:sp>
        <p:nvSpPr>
          <p:cNvPr id="33" name="Shape 30"/>
          <p:cNvSpPr/>
          <p:nvPr/>
        </p:nvSpPr>
        <p:spPr>
          <a:xfrm>
            <a:off x="457200" y="4114800"/>
            <a:ext cx="54864" cy="566928"/>
          </a:xfrm>
          <a:prstGeom prst="rect">
            <a:avLst/>
          </a:prstGeom>
          <a:solidFill>
            <a:srgbClr val="E07A5F"/>
          </a:solidFill>
          <a:ln/>
        </p:spPr>
      </p:sp>
      <p:sp>
        <p:nvSpPr>
          <p:cNvPr id="34" name="Text 31"/>
          <p:cNvSpPr/>
          <p:nvPr/>
        </p:nvSpPr>
        <p:spPr>
          <a:xfrm>
            <a:off x="640080" y="4114800"/>
            <a:ext cx="1691640" cy="566928"/>
          </a:xfrm>
          <a:prstGeom prst="rect">
            <a:avLst/>
          </a:prstGeom>
          <a:noFill/>
          <a:ln/>
        </p:spPr>
        <p:txBody>
          <a:bodyPr wrap="square" lIns="0" tIns="0" rIns="0" bIns="0" rtlCol="0" anchor="ctr"/>
          <a:lstStyle/>
          <a:p>
            <a:pPr indent="0" marL="0">
              <a:buNone/>
            </a:pPr>
            <a:r>
              <a:rPr lang="en-US" sz="900" b="1" spc="400" kern="0" dirty="0">
                <a:solidFill>
                  <a:srgbClr val="B9D9EB"/>
                </a:solidFill>
                <a:latin typeface="Calibri" pitchFamily="34" charset="0"/>
                <a:ea typeface="Calibri" pitchFamily="34" charset="-122"/>
                <a:cs typeface="Calibri" pitchFamily="34" charset="-120"/>
              </a:rPr>
              <a:t>ONE ENGINE</a:t>
            </a:r>
            <a:endParaRPr lang="en-US" sz="900" dirty="0"/>
          </a:p>
        </p:txBody>
      </p:sp>
      <p:sp>
        <p:nvSpPr>
          <p:cNvPr id="35" name="Text 32"/>
          <p:cNvSpPr/>
          <p:nvPr/>
        </p:nvSpPr>
        <p:spPr>
          <a:xfrm>
            <a:off x="2423160" y="4151376"/>
            <a:ext cx="6217920" cy="493776"/>
          </a:xfrm>
          <a:prstGeom prst="rect">
            <a:avLst/>
          </a:prstGeom>
          <a:noFill/>
          <a:ln/>
        </p:spPr>
        <p:txBody>
          <a:bodyPr wrap="square" lIns="0" tIns="0" rIns="0" bIns="0" rtlCol="0" anchor="ctr"/>
          <a:lstStyle/>
          <a:p>
            <a:pPr indent="0" marL="0">
              <a:lnSpc>
                <a:spcPct val="118000"/>
              </a:lnSpc>
              <a:buNone/>
            </a:pPr>
            <a:r>
              <a:rPr lang="en-US" sz="1100" i="1" dirty="0">
                <a:solidFill>
                  <a:srgbClr val="FFFFFF"/>
                </a:solidFill>
                <a:latin typeface="Calibri" pitchFamily="34" charset="0"/>
                <a:ea typeface="Calibri" pitchFamily="34" charset="-122"/>
                <a:cs typeface="Calibri" pitchFamily="34" charset="-120"/>
              </a:rPr>
              <a:t>Per-match probabilities feed all three targets — calibration here pays off everywhere.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B9D9EB"/>
          </a:solidFill>
          <a:ln/>
        </p:spPr>
      </p:sp>
      <p:sp>
        <p:nvSpPr>
          <p:cNvPr id="3" name="Shape 1"/>
          <p:cNvSpPr/>
          <p:nvPr/>
        </p:nvSpPr>
        <p:spPr>
          <a:xfrm>
            <a:off x="457200" y="4759452"/>
            <a:ext cx="8229600" cy="10973"/>
          </a:xfrm>
          <a:prstGeom prst="rect">
            <a:avLst/>
          </a:prstGeom>
          <a:solidFill>
            <a:srgbClr val="D7DEE5"/>
          </a:solidFill>
          <a:ln/>
        </p:spPr>
      </p:sp>
      <p:sp>
        <p:nvSpPr>
          <p:cNvPr id="4" name="Text 2"/>
          <p:cNvSpPr/>
          <p:nvPr/>
        </p:nvSpPr>
        <p:spPr>
          <a:xfrm>
            <a:off x="457200" y="4814316"/>
            <a:ext cx="7772400" cy="256032"/>
          </a:xfrm>
          <a:prstGeom prst="rect">
            <a:avLst/>
          </a:prstGeom>
          <a:noFill/>
          <a:ln/>
        </p:spPr>
        <p:txBody>
          <a:bodyPr wrap="square" lIns="0" tIns="0" rIns="0" bIns="0" rtlCol="0" anchor="ctr"/>
          <a:lstStyle/>
          <a:p>
            <a:pPr algn="l" indent="0" marL="0">
              <a:buNone/>
            </a:pPr>
            <a:r>
              <a:rPr lang="en-US" sz="900" dirty="0">
                <a:solidFill>
                  <a:srgbClr val="5A6573"/>
                </a:solidFill>
                <a:latin typeface="Calibri" pitchFamily="34" charset="0"/>
                <a:ea typeface="Calibri" pitchFamily="34" charset="-122"/>
                <a:cs typeface="Calibri" pitchFamily="34" charset="-120"/>
              </a:rPr>
              <a:t>STAT 5243 Project 4   ·   Liang · Chen · Collaborator   ·   2026-05-05</a:t>
            </a:r>
            <a:endParaRPr lang="en-US" sz="900" dirty="0"/>
          </a:p>
        </p:txBody>
      </p:sp>
      <p:sp>
        <p:nvSpPr>
          <p:cNvPr id="5" name="Text 3"/>
          <p:cNvSpPr/>
          <p:nvPr/>
        </p:nvSpPr>
        <p:spPr>
          <a:xfrm>
            <a:off x="8046720" y="4814316"/>
            <a:ext cx="640080" cy="256032"/>
          </a:xfrm>
          <a:prstGeom prst="rect">
            <a:avLst/>
          </a:prstGeom>
          <a:noFill/>
          <a:ln/>
        </p:spPr>
        <p:txBody>
          <a:bodyPr wrap="square" lIns="0" tIns="0" rIns="0" bIns="0" rtlCol="0" anchor="ctr"/>
          <a:lstStyle/>
          <a:p>
            <a:pPr algn="r" indent="0" marL="0">
              <a:buNone/>
            </a:pPr>
            <a:r>
              <a:rPr lang="en-US" sz="900" dirty="0">
                <a:solidFill>
                  <a:srgbClr val="5A6573"/>
                </a:solidFill>
                <a:latin typeface="Calibri" pitchFamily="34" charset="0"/>
                <a:ea typeface="Calibri" pitchFamily="34" charset="-122"/>
                <a:cs typeface="Calibri" pitchFamily="34" charset="-120"/>
              </a:rPr>
              <a:t>11 / 12</a:t>
            </a:r>
            <a:endParaRPr lang="en-US" sz="900" dirty="0"/>
          </a:p>
        </p:txBody>
      </p:sp>
      <p:sp>
        <p:nvSpPr>
          <p:cNvPr id="6" name="Text 4"/>
          <p:cNvSpPr/>
          <p:nvPr/>
        </p:nvSpPr>
        <p:spPr>
          <a:xfrm>
            <a:off x="457200" y="274320"/>
            <a:ext cx="8229600" cy="274320"/>
          </a:xfrm>
          <a:prstGeom prst="rect">
            <a:avLst/>
          </a:prstGeom>
          <a:noFill/>
          <a:ln/>
        </p:spPr>
        <p:txBody>
          <a:bodyPr wrap="square" lIns="0" tIns="0" rIns="0" bIns="0" rtlCol="0" anchor="ctr"/>
          <a:lstStyle/>
          <a:p>
            <a:pPr indent="0" marL="0">
              <a:buNone/>
            </a:pPr>
            <a:r>
              <a:rPr lang="en-US" sz="1100" b="1" spc="400" kern="0" dirty="0">
                <a:solidFill>
                  <a:srgbClr val="7FB3D5"/>
                </a:solidFill>
                <a:latin typeface="Calibri" pitchFamily="34" charset="0"/>
                <a:ea typeface="Calibri" pitchFamily="34" charset="-122"/>
                <a:cs typeface="Calibri" pitchFamily="34" charset="-120"/>
              </a:rPr>
              <a:t>DEMO  ·  BONUS</a:t>
            </a:r>
            <a:endParaRPr lang="en-US" sz="1100" dirty="0"/>
          </a:p>
        </p:txBody>
      </p:sp>
      <p:sp>
        <p:nvSpPr>
          <p:cNvPr id="7" name="Text 5"/>
          <p:cNvSpPr/>
          <p:nvPr/>
        </p:nvSpPr>
        <p:spPr>
          <a:xfrm>
            <a:off x="457200" y="548640"/>
            <a:ext cx="8229600" cy="868680"/>
          </a:xfrm>
          <a:prstGeom prst="rect">
            <a:avLst/>
          </a:prstGeom>
          <a:noFill/>
          <a:ln/>
        </p:spPr>
        <p:txBody>
          <a:bodyPr wrap="square" lIns="0" tIns="0" rIns="0" bIns="0" rtlCol="0" anchor="ctr"/>
          <a:lstStyle/>
          <a:p>
            <a:pPr indent="0" marL="0">
              <a:lnSpc>
                <a:spcPct val="105000"/>
              </a:lnSpc>
              <a:buNone/>
            </a:pPr>
            <a:r>
              <a:rPr lang="en-US" sz="2100" b="1" dirty="0">
                <a:solidFill>
                  <a:srgbClr val="0B2545"/>
                </a:solidFill>
                <a:latin typeface="Georgia" pitchFamily="34" charset="0"/>
                <a:ea typeface="Georgia" pitchFamily="34" charset="-122"/>
                <a:cs typeface="Georgia" pitchFamily="34" charset="-120"/>
              </a:rPr>
              <a:t>Live demo: a six-tab Shiny app — our +10 Bonus deliverable, beyond rubric.</a:t>
            </a:r>
            <a:endParaRPr lang="en-US" sz="2100" dirty="0"/>
          </a:p>
        </p:txBody>
      </p:sp>
      <p:sp>
        <p:nvSpPr>
          <p:cNvPr id="8" name="Shape 6"/>
          <p:cNvSpPr/>
          <p:nvPr/>
        </p:nvSpPr>
        <p:spPr>
          <a:xfrm>
            <a:off x="457200" y="1371600"/>
            <a:ext cx="4754880" cy="2697480"/>
          </a:xfrm>
          <a:prstGeom prst="rect">
            <a:avLst/>
          </a:prstGeom>
          <a:solidFill>
            <a:srgbClr val="FFFFFF"/>
          </a:solidFill>
          <a:ln w="9525">
            <a:solidFill>
              <a:srgbClr val="D7DEE5"/>
            </a:solidFill>
            <a:prstDash val="solid"/>
          </a:ln>
          <a:effectLst>
            <a:outerShdw sx="100000" sy="100000" kx="0" ky="0" algn="bl" rotWithShape="0" blurRad="101600" dist="25400" dir="8100000">
              <a:srgbClr val="000000">
                <a:alpha val="10000"/>
              </a:srgbClr>
            </a:outerShdw>
          </a:effectLst>
        </p:spPr>
      </p:sp>
      <p:sp>
        <p:nvSpPr>
          <p:cNvPr id="9" name="Text 7"/>
          <p:cNvSpPr/>
          <p:nvPr/>
        </p:nvSpPr>
        <p:spPr>
          <a:xfrm>
            <a:off x="457200" y="2491740"/>
            <a:ext cx="4754880" cy="274320"/>
          </a:xfrm>
          <a:prstGeom prst="rect">
            <a:avLst/>
          </a:prstGeom>
          <a:noFill/>
          <a:ln/>
        </p:spPr>
        <p:txBody>
          <a:bodyPr wrap="square" lIns="0" tIns="0" rIns="0" bIns="0" rtlCol="0" anchor="ctr"/>
          <a:lstStyle/>
          <a:p>
            <a:pPr algn="ctr" indent="0" marL="0">
              <a:buNone/>
            </a:pPr>
            <a:r>
              <a:rPr lang="en-US" sz="1000" b="1" spc="400" kern="0" dirty="0">
                <a:solidFill>
                  <a:srgbClr val="7FB3D5"/>
                </a:solidFill>
                <a:latin typeface="Calibri" pitchFamily="34" charset="0"/>
                <a:ea typeface="Calibri" pitchFamily="34" charset="-122"/>
                <a:cs typeface="Calibri" pitchFamily="34" charset="-120"/>
              </a:rPr>
              <a:t>FIGURE PLACEHOLDER</a:t>
            </a:r>
            <a:endParaRPr lang="en-US" sz="1000" dirty="0"/>
          </a:p>
        </p:txBody>
      </p:sp>
      <p:sp>
        <p:nvSpPr>
          <p:cNvPr id="10" name="Text 8"/>
          <p:cNvSpPr/>
          <p:nvPr/>
        </p:nvSpPr>
        <p:spPr>
          <a:xfrm>
            <a:off x="457200" y="2766060"/>
            <a:ext cx="4754880" cy="228600"/>
          </a:xfrm>
          <a:prstGeom prst="rect">
            <a:avLst/>
          </a:prstGeom>
          <a:noFill/>
          <a:ln/>
        </p:spPr>
        <p:txBody>
          <a:bodyPr wrap="square" lIns="0" tIns="0" rIns="0" bIns="0" rtlCol="0" anchor="ctr"/>
          <a:lstStyle/>
          <a:p>
            <a:pPr algn="ctr" indent="0" marL="0">
              <a:buNone/>
            </a:pPr>
            <a:r>
              <a:rPr lang="en-US" sz="900" dirty="0">
                <a:solidFill>
                  <a:srgbClr val="5A6573"/>
                </a:solidFill>
                <a:latin typeface="Consolas" pitchFamily="34" charset="0"/>
                <a:ea typeface="Consolas" pitchFamily="34" charset="-122"/>
                <a:cs typeface="Consolas" pitchFamily="34" charset="-120"/>
              </a:rPr>
              <a:t>figures/11_app_predict_tab.png</a:t>
            </a:r>
            <a:endParaRPr lang="en-US" sz="900" dirty="0"/>
          </a:p>
        </p:txBody>
      </p:sp>
      <p:sp>
        <p:nvSpPr>
          <p:cNvPr id="11" name="Text 9"/>
          <p:cNvSpPr/>
          <p:nvPr/>
        </p:nvSpPr>
        <p:spPr>
          <a:xfrm>
            <a:off x="457200" y="4105656"/>
            <a:ext cx="4754880" cy="201168"/>
          </a:xfrm>
          <a:prstGeom prst="rect">
            <a:avLst/>
          </a:prstGeom>
          <a:noFill/>
          <a:ln/>
        </p:spPr>
        <p:txBody>
          <a:bodyPr wrap="square" lIns="0" tIns="0" rIns="0" bIns="0" rtlCol="0" anchor="ctr"/>
          <a:lstStyle/>
          <a:p>
            <a:pPr indent="0" marL="0">
              <a:buNone/>
            </a:pPr>
            <a:r>
              <a:rPr lang="en-US" sz="1000" i="1" dirty="0">
                <a:solidFill>
                  <a:srgbClr val="5A6573"/>
                </a:solidFill>
                <a:latin typeface="Calibri" pitchFamily="34" charset="0"/>
                <a:ea typeface="Calibri" pitchFamily="34" charset="-122"/>
                <a:cs typeface="Calibri" pitchFamily="34" charset="-120"/>
              </a:rPr>
              <a:t>App screenshot — Predict tab (fresh capture morning-of)</a:t>
            </a:r>
            <a:endParaRPr lang="en-US" sz="1000" dirty="0"/>
          </a:p>
        </p:txBody>
      </p:sp>
      <p:sp>
        <p:nvSpPr>
          <p:cNvPr id="12" name="Text 10"/>
          <p:cNvSpPr/>
          <p:nvPr/>
        </p:nvSpPr>
        <p:spPr>
          <a:xfrm>
            <a:off x="5440680" y="1371600"/>
            <a:ext cx="3246120" cy="237744"/>
          </a:xfrm>
          <a:prstGeom prst="rect">
            <a:avLst/>
          </a:prstGeom>
          <a:noFill/>
          <a:ln/>
        </p:spPr>
        <p:txBody>
          <a:bodyPr wrap="square" lIns="0" tIns="0" rIns="0" bIns="0" rtlCol="0" anchor="ctr"/>
          <a:lstStyle/>
          <a:p>
            <a:pPr indent="0" marL="0">
              <a:buNone/>
            </a:pPr>
            <a:r>
              <a:rPr lang="en-US" sz="1000" b="1" spc="400" kern="0" dirty="0">
                <a:solidFill>
                  <a:srgbClr val="13315C"/>
                </a:solidFill>
                <a:latin typeface="Calibri" pitchFamily="34" charset="0"/>
                <a:ea typeface="Calibri" pitchFamily="34" charset="-122"/>
                <a:cs typeface="Calibri" pitchFamily="34" charset="-120"/>
              </a:rPr>
              <a:t>3-MINUTE DEMO SCRIPT</a:t>
            </a:r>
            <a:endParaRPr lang="en-US" sz="1000" dirty="0"/>
          </a:p>
        </p:txBody>
      </p:sp>
      <p:sp>
        <p:nvSpPr>
          <p:cNvPr id="13" name="Shape 11"/>
          <p:cNvSpPr/>
          <p:nvPr/>
        </p:nvSpPr>
        <p:spPr>
          <a:xfrm>
            <a:off x="5440680" y="1645920"/>
            <a:ext cx="292608" cy="292608"/>
          </a:xfrm>
          <a:prstGeom prst="roundRect">
            <a:avLst>
              <a:gd name="adj" fmla="val 18750"/>
            </a:avLst>
          </a:prstGeom>
          <a:solidFill>
            <a:srgbClr val="E07A5F"/>
          </a:solidFill>
          <a:ln/>
        </p:spPr>
      </p:sp>
      <p:sp>
        <p:nvSpPr>
          <p:cNvPr id="14" name="Text 12"/>
          <p:cNvSpPr/>
          <p:nvPr/>
        </p:nvSpPr>
        <p:spPr>
          <a:xfrm>
            <a:off x="5440680" y="16459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1</a:t>
            </a:r>
            <a:endParaRPr lang="en-US" sz="1300" dirty="0"/>
          </a:p>
        </p:txBody>
      </p:sp>
      <p:sp>
        <p:nvSpPr>
          <p:cNvPr id="15" name="Text 13"/>
          <p:cNvSpPr/>
          <p:nvPr/>
        </p:nvSpPr>
        <p:spPr>
          <a:xfrm>
            <a:off x="5824728" y="1627632"/>
            <a:ext cx="2862072" cy="502920"/>
          </a:xfrm>
          <a:prstGeom prst="rect">
            <a:avLst/>
          </a:prstGeom>
          <a:noFill/>
          <a:ln/>
        </p:spPr>
        <p:txBody>
          <a:bodyPr wrap="square" lIns="0" tIns="0" rIns="0" bIns="0" rtlCol="0" anchor="t"/>
          <a:lstStyle/>
          <a:p>
            <a:pPr indent="0" marL="0">
              <a:lnSpc>
                <a:spcPct val="120000"/>
              </a:lnSpc>
              <a:buNone/>
            </a:pPr>
            <a:r>
              <a:rPr lang="en-US" sz="1100" dirty="0">
                <a:solidFill>
                  <a:srgbClr val="1F2933"/>
                </a:solidFill>
                <a:latin typeface="Calibri" pitchFamily="34" charset="0"/>
                <a:ea typeface="Calibri" pitchFamily="34" charset="-122"/>
                <a:cs typeface="Calibri" pitchFamily="34" charset="-120"/>
              </a:rPr>
              <a:t>Click  Predict  tab  →  pick  Liverpool vs Arsenal.</a:t>
            </a:r>
            <a:endParaRPr lang="en-US" sz="1100" dirty="0"/>
          </a:p>
        </p:txBody>
      </p:sp>
      <p:sp>
        <p:nvSpPr>
          <p:cNvPr id="16" name="Shape 14"/>
          <p:cNvSpPr/>
          <p:nvPr/>
        </p:nvSpPr>
        <p:spPr>
          <a:xfrm>
            <a:off x="5440680" y="2212848"/>
            <a:ext cx="292608" cy="292608"/>
          </a:xfrm>
          <a:prstGeom prst="roundRect">
            <a:avLst>
              <a:gd name="adj" fmla="val 18750"/>
            </a:avLst>
          </a:prstGeom>
          <a:solidFill>
            <a:srgbClr val="E07A5F"/>
          </a:solidFill>
          <a:ln/>
        </p:spPr>
      </p:sp>
      <p:sp>
        <p:nvSpPr>
          <p:cNvPr id="17" name="Text 15"/>
          <p:cNvSpPr/>
          <p:nvPr/>
        </p:nvSpPr>
        <p:spPr>
          <a:xfrm>
            <a:off x="5440680" y="221284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2</a:t>
            </a:r>
            <a:endParaRPr lang="en-US" sz="1300" dirty="0"/>
          </a:p>
        </p:txBody>
      </p:sp>
      <p:sp>
        <p:nvSpPr>
          <p:cNvPr id="18" name="Text 16"/>
          <p:cNvSpPr/>
          <p:nvPr/>
        </p:nvSpPr>
        <p:spPr>
          <a:xfrm>
            <a:off x="5824728" y="2194560"/>
            <a:ext cx="2862072" cy="502920"/>
          </a:xfrm>
          <a:prstGeom prst="rect">
            <a:avLst/>
          </a:prstGeom>
          <a:noFill/>
          <a:ln/>
        </p:spPr>
        <p:txBody>
          <a:bodyPr wrap="square" lIns="0" tIns="0" rIns="0" bIns="0" rtlCol="0" anchor="t"/>
          <a:lstStyle/>
          <a:p>
            <a:pPr indent="0" marL="0">
              <a:lnSpc>
                <a:spcPct val="120000"/>
              </a:lnSpc>
              <a:buNone/>
            </a:pPr>
            <a:r>
              <a:rPr lang="en-US" sz="1100" dirty="0">
                <a:solidFill>
                  <a:srgbClr val="1F2933"/>
                </a:solidFill>
                <a:latin typeface="Calibri" pitchFamily="34" charset="0"/>
                <a:ea typeface="Calibri" pitchFamily="34" charset="-122"/>
                <a:cs typeface="Calibri" pitchFamily="34" charset="-120"/>
              </a:rPr>
              <a:t>Show  model probabilities  vs  market probabilities  side-by-side.</a:t>
            </a:r>
            <a:endParaRPr lang="en-US" sz="1100" dirty="0"/>
          </a:p>
        </p:txBody>
      </p:sp>
      <p:sp>
        <p:nvSpPr>
          <p:cNvPr id="19" name="Shape 17"/>
          <p:cNvSpPr/>
          <p:nvPr/>
        </p:nvSpPr>
        <p:spPr>
          <a:xfrm>
            <a:off x="5440680" y="2779776"/>
            <a:ext cx="292608" cy="292608"/>
          </a:xfrm>
          <a:prstGeom prst="roundRect">
            <a:avLst>
              <a:gd name="adj" fmla="val 18750"/>
            </a:avLst>
          </a:prstGeom>
          <a:solidFill>
            <a:srgbClr val="E07A5F"/>
          </a:solidFill>
          <a:ln/>
        </p:spPr>
      </p:sp>
      <p:sp>
        <p:nvSpPr>
          <p:cNvPr id="20" name="Text 18"/>
          <p:cNvSpPr/>
          <p:nvPr/>
        </p:nvSpPr>
        <p:spPr>
          <a:xfrm>
            <a:off x="5440680" y="2779776"/>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3</a:t>
            </a:r>
            <a:endParaRPr lang="en-US" sz="1300" dirty="0"/>
          </a:p>
        </p:txBody>
      </p:sp>
      <p:sp>
        <p:nvSpPr>
          <p:cNvPr id="21" name="Text 19"/>
          <p:cNvSpPr/>
          <p:nvPr/>
        </p:nvSpPr>
        <p:spPr>
          <a:xfrm>
            <a:off x="5824728" y="2761488"/>
            <a:ext cx="2862072" cy="502920"/>
          </a:xfrm>
          <a:prstGeom prst="rect">
            <a:avLst/>
          </a:prstGeom>
          <a:noFill/>
          <a:ln/>
        </p:spPr>
        <p:txBody>
          <a:bodyPr wrap="square" lIns="0" tIns="0" rIns="0" bIns="0" rtlCol="0" anchor="t"/>
          <a:lstStyle/>
          <a:p>
            <a:pPr indent="0" marL="0">
              <a:lnSpc>
                <a:spcPct val="120000"/>
              </a:lnSpc>
              <a:buNone/>
            </a:pPr>
            <a:r>
              <a:rPr lang="en-US" sz="1100" dirty="0">
                <a:solidFill>
                  <a:srgbClr val="1F2933"/>
                </a:solidFill>
                <a:latin typeface="Calibri" pitchFamily="34" charset="0"/>
                <a:ea typeface="Calibri" pitchFamily="34" charset="-122"/>
                <a:cs typeface="Calibri" pitchFamily="34" charset="-120"/>
              </a:rPr>
              <a:t>Click  Run season simulation  →  10k Monte Carlo standings.</a:t>
            </a:r>
            <a:endParaRPr lang="en-US" sz="1100" dirty="0"/>
          </a:p>
        </p:txBody>
      </p:sp>
      <p:sp>
        <p:nvSpPr>
          <p:cNvPr id="22" name="Shape 20"/>
          <p:cNvSpPr/>
          <p:nvPr/>
        </p:nvSpPr>
        <p:spPr>
          <a:xfrm>
            <a:off x="5440680" y="3154680"/>
            <a:ext cx="3246120" cy="914400"/>
          </a:xfrm>
          <a:prstGeom prst="rect">
            <a:avLst/>
          </a:prstGeom>
          <a:solidFill>
            <a:srgbClr val="13315C"/>
          </a:solidFill>
          <a:ln/>
        </p:spPr>
      </p:sp>
      <p:sp>
        <p:nvSpPr>
          <p:cNvPr id="23" name="Shape 21"/>
          <p:cNvSpPr/>
          <p:nvPr/>
        </p:nvSpPr>
        <p:spPr>
          <a:xfrm>
            <a:off x="5440680" y="3154680"/>
            <a:ext cx="54864" cy="914400"/>
          </a:xfrm>
          <a:prstGeom prst="rect">
            <a:avLst/>
          </a:prstGeom>
          <a:solidFill>
            <a:srgbClr val="E07A5F"/>
          </a:solidFill>
          <a:ln/>
        </p:spPr>
      </p:sp>
      <p:sp>
        <p:nvSpPr>
          <p:cNvPr id="24" name="Text 22"/>
          <p:cNvSpPr/>
          <p:nvPr/>
        </p:nvSpPr>
        <p:spPr>
          <a:xfrm>
            <a:off x="5605272" y="3200400"/>
            <a:ext cx="3063240" cy="201168"/>
          </a:xfrm>
          <a:prstGeom prst="rect">
            <a:avLst/>
          </a:prstGeom>
          <a:noFill/>
          <a:ln/>
        </p:spPr>
        <p:txBody>
          <a:bodyPr wrap="square" lIns="0" tIns="0" rIns="0" bIns="0" rtlCol="0" anchor="ctr"/>
          <a:lstStyle/>
          <a:p>
            <a:pPr indent="0" marL="0">
              <a:buNone/>
            </a:pPr>
            <a:r>
              <a:rPr lang="en-US" sz="900" b="1" spc="400" kern="0" dirty="0">
                <a:solidFill>
                  <a:srgbClr val="B9D9EB"/>
                </a:solidFill>
                <a:latin typeface="Calibri" pitchFamily="34" charset="0"/>
                <a:ea typeface="Calibri" pitchFamily="34" charset="-122"/>
                <a:cs typeface="Calibri" pitchFamily="34" charset="-120"/>
              </a:rPr>
              <a:t>IF DEMO FAILS</a:t>
            </a:r>
            <a:endParaRPr lang="en-US" sz="900" dirty="0"/>
          </a:p>
        </p:txBody>
      </p:sp>
      <p:sp>
        <p:nvSpPr>
          <p:cNvPr id="25" name="Text 23"/>
          <p:cNvSpPr/>
          <p:nvPr/>
        </p:nvSpPr>
        <p:spPr>
          <a:xfrm>
            <a:off x="5605272" y="3419856"/>
            <a:ext cx="3063240" cy="594360"/>
          </a:xfrm>
          <a:prstGeom prst="rect">
            <a:avLst/>
          </a:prstGeom>
          <a:noFill/>
          <a:ln/>
        </p:spPr>
        <p:txBody>
          <a:bodyPr wrap="square" lIns="0" tIns="0" rIns="0" bIns="0" rtlCol="0" anchor="t"/>
          <a:lstStyle/>
          <a:p>
            <a:pPr indent="0" marL="0">
              <a:lnSpc>
                <a:spcPct val="120000"/>
              </a:lnSpc>
              <a:buNone/>
            </a:pPr>
            <a:r>
              <a:rPr lang="en-US" sz="1050" dirty="0">
                <a:solidFill>
                  <a:srgbClr val="FFFFFF"/>
                </a:solidFill>
                <a:latin typeface="Calibri" pitchFamily="34" charset="0"/>
                <a:ea typeface="Calibri" pitchFamily="34" charset="-122"/>
                <a:cs typeface="Calibri" pitchFamily="34" charset="-120"/>
              </a:rPr>
              <a:t>Fall back to backup screenshots </a:t>
            </a:r>
            <a:pPr indent="0" marL="0">
              <a:lnSpc>
                <a:spcPct val="120000"/>
              </a:lnSpc>
              <a:buNone/>
            </a:pPr>
            <a:r>
              <a:rPr lang="en-US" sz="900" dirty="0">
                <a:solidFill>
                  <a:srgbClr val="B9D9EB"/>
                </a:solidFill>
                <a:latin typeface="Consolas" pitchFamily="34" charset="0"/>
                <a:ea typeface="Consolas" pitchFamily="34" charset="-122"/>
                <a:cs typeface="Consolas" pitchFamily="34" charset="-120"/>
              </a:rPr>
              <a:t>(figures/11_app_*.png)</a:t>
            </a:r>
            <a:pPr indent="0" marL="0">
              <a:lnSpc>
                <a:spcPct val="120000"/>
              </a:lnSpc>
              <a:buNone/>
            </a:pPr>
            <a:r>
              <a:rPr lang="en-US" sz="1050" dirty="0">
                <a:solidFill>
                  <a:srgbClr val="FFFFFF"/>
                </a:solidFill>
                <a:latin typeface="Calibri" pitchFamily="34" charset="0"/>
                <a:ea typeface="Calibri" pitchFamily="34" charset="-122"/>
                <a:cs typeface="Calibri" pitchFamily="34" charset="-120"/>
              </a:rPr>
              <a:t> — talk through the same three steps from the deck.</a:t>
            </a:r>
            <a:endParaRPr lang="en-US" sz="1050" dirty="0"/>
          </a:p>
        </p:txBody>
      </p:sp>
      <p:sp>
        <p:nvSpPr>
          <p:cNvPr id="26" name="Shape 24"/>
          <p:cNvSpPr/>
          <p:nvPr/>
        </p:nvSpPr>
        <p:spPr>
          <a:xfrm>
            <a:off x="457200" y="4251960"/>
            <a:ext cx="8229600" cy="384048"/>
          </a:xfrm>
          <a:prstGeom prst="rect">
            <a:avLst/>
          </a:prstGeom>
          <a:solidFill>
            <a:srgbClr val="0B2545"/>
          </a:solidFill>
          <a:ln/>
        </p:spPr>
      </p:sp>
      <p:sp>
        <p:nvSpPr>
          <p:cNvPr id="27" name="Shape 25"/>
          <p:cNvSpPr/>
          <p:nvPr/>
        </p:nvSpPr>
        <p:spPr>
          <a:xfrm>
            <a:off x="457200" y="4251960"/>
            <a:ext cx="54864" cy="384048"/>
          </a:xfrm>
          <a:prstGeom prst="rect">
            <a:avLst/>
          </a:prstGeom>
          <a:solidFill>
            <a:srgbClr val="E07A5F"/>
          </a:solidFill>
          <a:ln/>
        </p:spPr>
      </p:sp>
      <p:sp>
        <p:nvSpPr>
          <p:cNvPr id="28" name="Text 26"/>
          <p:cNvSpPr/>
          <p:nvPr/>
        </p:nvSpPr>
        <p:spPr>
          <a:xfrm>
            <a:off x="640080" y="4251960"/>
            <a:ext cx="7863840" cy="384048"/>
          </a:xfrm>
          <a:prstGeom prst="rect">
            <a:avLst/>
          </a:prstGeom>
          <a:noFill/>
          <a:ln/>
        </p:spPr>
        <p:txBody>
          <a:bodyPr wrap="square" lIns="0" tIns="0" rIns="0" bIns="0" rtlCol="0" anchor="ctr"/>
          <a:lstStyle/>
          <a:p>
            <a:pPr indent="0" marL="0">
              <a:buNone/>
            </a:pPr>
            <a:r>
              <a:rPr lang="en-US" sz="1100" b="1" dirty="0">
                <a:solidFill>
                  <a:srgbClr val="B9D9EB"/>
                </a:solidFill>
                <a:latin typeface="Calibri" pitchFamily="34" charset="0"/>
                <a:ea typeface="Calibri" pitchFamily="34" charset="-122"/>
                <a:cs typeface="Calibri" pitchFamily="34" charset="-120"/>
              </a:rPr>
              <a:t>Repo:  </a:t>
            </a:r>
            <a:pPr indent="0" marL="0">
              <a:buNone/>
            </a:pPr>
            <a:r>
              <a:rPr lang="en-US" sz="1100" dirty="0">
                <a:solidFill>
                  <a:srgbClr val="FFFFFF"/>
                </a:solidFill>
                <a:latin typeface="Consolas" pitchFamily="34" charset="0"/>
                <a:ea typeface="Consolas" pitchFamily="34" charset="-122"/>
                <a:cs typeface="Consolas" pitchFamily="34" charset="-120"/>
              </a:rPr>
              <a:t>github.com/ZemingLiang/STAT5243-Project-4</a:t>
            </a:r>
            <a:pPr indent="0" marL="0">
              <a:buNone/>
            </a:pPr>
            <a:r>
              <a:rPr lang="en-US" sz="1100" i="1" dirty="0">
                <a:solidFill>
                  <a:srgbClr val="B9D9EB"/>
                </a:solidFill>
                <a:latin typeface="Calibri" pitchFamily="34" charset="0"/>
                <a:ea typeface="Calibri" pitchFamily="34" charset="-122"/>
                <a:cs typeface="Calibri" pitchFamily="34" charset="-120"/>
              </a:rPr>
              <a:t>    (live Posit Connect URL announced morning-of)</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B9D9EB"/>
          </a:solidFill>
          <a:ln/>
        </p:spPr>
      </p:sp>
      <p:sp>
        <p:nvSpPr>
          <p:cNvPr id="3" name="Shape 1"/>
          <p:cNvSpPr/>
          <p:nvPr/>
        </p:nvSpPr>
        <p:spPr>
          <a:xfrm>
            <a:off x="457200" y="4759452"/>
            <a:ext cx="8229600" cy="10973"/>
          </a:xfrm>
          <a:prstGeom prst="rect">
            <a:avLst/>
          </a:prstGeom>
          <a:solidFill>
            <a:srgbClr val="D7DEE5"/>
          </a:solidFill>
          <a:ln/>
        </p:spPr>
      </p:sp>
      <p:sp>
        <p:nvSpPr>
          <p:cNvPr id="4" name="Text 2"/>
          <p:cNvSpPr/>
          <p:nvPr/>
        </p:nvSpPr>
        <p:spPr>
          <a:xfrm>
            <a:off x="457200" y="4814316"/>
            <a:ext cx="7772400" cy="256032"/>
          </a:xfrm>
          <a:prstGeom prst="rect">
            <a:avLst/>
          </a:prstGeom>
          <a:noFill/>
          <a:ln/>
        </p:spPr>
        <p:txBody>
          <a:bodyPr wrap="square" lIns="0" tIns="0" rIns="0" bIns="0" rtlCol="0" anchor="ctr"/>
          <a:lstStyle/>
          <a:p>
            <a:pPr algn="l" indent="0" marL="0">
              <a:buNone/>
            </a:pPr>
            <a:r>
              <a:rPr lang="en-US" sz="900" dirty="0">
                <a:solidFill>
                  <a:srgbClr val="5A6573"/>
                </a:solidFill>
                <a:latin typeface="Calibri" pitchFamily="34" charset="0"/>
                <a:ea typeface="Calibri" pitchFamily="34" charset="-122"/>
                <a:cs typeface="Calibri" pitchFamily="34" charset="-120"/>
              </a:rPr>
              <a:t>STAT 5243 Project 4   ·   Liang · Chen · Collaborator   ·   2026-05-05</a:t>
            </a:r>
            <a:endParaRPr lang="en-US" sz="900" dirty="0"/>
          </a:p>
        </p:txBody>
      </p:sp>
      <p:sp>
        <p:nvSpPr>
          <p:cNvPr id="5" name="Text 3"/>
          <p:cNvSpPr/>
          <p:nvPr/>
        </p:nvSpPr>
        <p:spPr>
          <a:xfrm>
            <a:off x="8046720" y="4814316"/>
            <a:ext cx="640080" cy="256032"/>
          </a:xfrm>
          <a:prstGeom prst="rect">
            <a:avLst/>
          </a:prstGeom>
          <a:noFill/>
          <a:ln/>
        </p:spPr>
        <p:txBody>
          <a:bodyPr wrap="square" lIns="0" tIns="0" rIns="0" bIns="0" rtlCol="0" anchor="ctr"/>
          <a:lstStyle/>
          <a:p>
            <a:pPr algn="r" indent="0" marL="0">
              <a:buNone/>
            </a:pPr>
            <a:r>
              <a:rPr lang="en-US" sz="900" dirty="0">
                <a:solidFill>
                  <a:srgbClr val="5A6573"/>
                </a:solidFill>
                <a:latin typeface="Calibri" pitchFamily="34" charset="0"/>
                <a:ea typeface="Calibri" pitchFamily="34" charset="-122"/>
                <a:cs typeface="Calibri" pitchFamily="34" charset="-120"/>
              </a:rPr>
              <a:t>12 / 12</a:t>
            </a:r>
            <a:endParaRPr lang="en-US" sz="900" dirty="0"/>
          </a:p>
        </p:txBody>
      </p:sp>
      <p:sp>
        <p:nvSpPr>
          <p:cNvPr id="6" name="Text 4"/>
          <p:cNvSpPr/>
          <p:nvPr/>
        </p:nvSpPr>
        <p:spPr>
          <a:xfrm>
            <a:off x="457200" y="274320"/>
            <a:ext cx="8229600" cy="274320"/>
          </a:xfrm>
          <a:prstGeom prst="rect">
            <a:avLst/>
          </a:prstGeom>
          <a:noFill/>
          <a:ln/>
        </p:spPr>
        <p:txBody>
          <a:bodyPr wrap="square" lIns="0" tIns="0" rIns="0" bIns="0" rtlCol="0" anchor="ctr"/>
          <a:lstStyle/>
          <a:p>
            <a:pPr indent="0" marL="0">
              <a:buNone/>
            </a:pPr>
            <a:r>
              <a:rPr lang="en-US" sz="1100" b="1" spc="400" kern="0" dirty="0">
                <a:solidFill>
                  <a:srgbClr val="7FB3D5"/>
                </a:solidFill>
                <a:latin typeface="Calibri" pitchFamily="34" charset="0"/>
                <a:ea typeface="Calibri" pitchFamily="34" charset="-122"/>
                <a:cs typeface="Calibri" pitchFamily="34" charset="-120"/>
              </a:rPr>
              <a:t>CONCLUSION</a:t>
            </a:r>
            <a:endParaRPr lang="en-US" sz="1100" dirty="0"/>
          </a:p>
        </p:txBody>
      </p:sp>
      <p:sp>
        <p:nvSpPr>
          <p:cNvPr id="7" name="Text 5"/>
          <p:cNvSpPr/>
          <p:nvPr/>
        </p:nvSpPr>
        <p:spPr>
          <a:xfrm>
            <a:off x="457200" y="548640"/>
            <a:ext cx="8229600" cy="502920"/>
          </a:xfrm>
          <a:prstGeom prst="rect">
            <a:avLst/>
          </a:prstGeom>
          <a:noFill/>
          <a:ln/>
        </p:spPr>
        <p:txBody>
          <a:bodyPr wrap="square" lIns="0" tIns="0" rIns="0" bIns="0" rtlCol="0" anchor="ctr"/>
          <a:lstStyle/>
          <a:p>
            <a:pPr indent="0" marL="0">
              <a:lnSpc>
                <a:spcPct val="105000"/>
              </a:lnSpc>
              <a:buNone/>
            </a:pPr>
            <a:r>
              <a:rPr lang="en-US" sz="2400" b="1" dirty="0">
                <a:solidFill>
                  <a:srgbClr val="0B2545"/>
                </a:solidFill>
                <a:latin typeface="Georgia" pitchFamily="34" charset="0"/>
                <a:ea typeface="Georgia" pitchFamily="34" charset="-122"/>
                <a:cs typeface="Georgia" pitchFamily="34" charset="-120"/>
              </a:rPr>
              <a:t>What we shipped, what's next, who did what.</a:t>
            </a:r>
            <a:endParaRPr lang="en-US" sz="2400" dirty="0"/>
          </a:p>
        </p:txBody>
      </p:sp>
      <p:sp>
        <p:nvSpPr>
          <p:cNvPr id="8" name="Shape 6"/>
          <p:cNvSpPr/>
          <p:nvPr/>
        </p:nvSpPr>
        <p:spPr>
          <a:xfrm>
            <a:off x="457200" y="1325880"/>
            <a:ext cx="8229600" cy="1417320"/>
          </a:xfrm>
          <a:prstGeom prst="rect">
            <a:avLst/>
          </a:prstGeom>
          <a:solidFill>
            <a:srgbClr val="0B2545"/>
          </a:solidFill>
          <a:ln/>
        </p:spPr>
      </p:sp>
      <p:sp>
        <p:nvSpPr>
          <p:cNvPr id="9" name="Shape 7"/>
          <p:cNvSpPr/>
          <p:nvPr/>
        </p:nvSpPr>
        <p:spPr>
          <a:xfrm>
            <a:off x="457200" y="1325880"/>
            <a:ext cx="54864" cy="1417320"/>
          </a:xfrm>
          <a:prstGeom prst="rect">
            <a:avLst/>
          </a:prstGeom>
          <a:solidFill>
            <a:srgbClr val="E07A5F"/>
          </a:solidFill>
          <a:ln/>
        </p:spPr>
      </p:sp>
      <p:sp>
        <p:nvSpPr>
          <p:cNvPr id="10" name="Text 8"/>
          <p:cNvSpPr/>
          <p:nvPr/>
        </p:nvSpPr>
        <p:spPr>
          <a:xfrm>
            <a:off x="640080" y="1417320"/>
            <a:ext cx="2743200" cy="219456"/>
          </a:xfrm>
          <a:prstGeom prst="rect">
            <a:avLst/>
          </a:prstGeom>
          <a:noFill/>
          <a:ln/>
        </p:spPr>
        <p:txBody>
          <a:bodyPr wrap="square" lIns="0" tIns="0" rIns="0" bIns="0" rtlCol="0" anchor="ctr"/>
          <a:lstStyle/>
          <a:p>
            <a:pPr indent="0" marL="0">
              <a:buNone/>
            </a:pPr>
            <a:r>
              <a:rPr lang="en-US" sz="1000" b="1" spc="400" kern="0" dirty="0">
                <a:solidFill>
                  <a:srgbClr val="B9D9EB"/>
                </a:solidFill>
                <a:latin typeface="Calibri" pitchFamily="34" charset="0"/>
                <a:ea typeface="Calibri" pitchFamily="34" charset="-122"/>
                <a:cs typeface="Calibri" pitchFamily="34" charset="-120"/>
              </a:rPr>
              <a:t>REMEMBER THIS ONE LINE</a:t>
            </a:r>
            <a:endParaRPr lang="en-US" sz="1000" dirty="0"/>
          </a:p>
        </p:txBody>
      </p:sp>
      <p:sp>
        <p:nvSpPr>
          <p:cNvPr id="11" name="Text 9"/>
          <p:cNvSpPr/>
          <p:nvPr/>
        </p:nvSpPr>
        <p:spPr>
          <a:xfrm>
            <a:off x="640080" y="1691640"/>
            <a:ext cx="7863840" cy="960120"/>
          </a:xfrm>
          <a:prstGeom prst="rect">
            <a:avLst/>
          </a:prstGeom>
          <a:noFill/>
          <a:ln/>
        </p:spPr>
        <p:txBody>
          <a:bodyPr wrap="square" lIns="0" tIns="0" rIns="0" bIns="0" rtlCol="0" anchor="t"/>
          <a:lstStyle/>
          <a:p>
            <a:pPr indent="0" marL="0">
              <a:lnSpc>
                <a:spcPct val="120000"/>
              </a:lnSpc>
              <a:buNone/>
            </a:pPr>
            <a:r>
              <a:rPr lang="en-US" sz="1500" b="1" dirty="0">
                <a:solidFill>
                  <a:srgbClr val="FFFFFF"/>
                </a:solidFill>
                <a:latin typeface="Georgia" pitchFamily="34" charset="0"/>
                <a:ea typeface="Georgia" pitchFamily="34" charset="-122"/>
                <a:cs typeface="Georgia" pitchFamily="34" charset="-120"/>
              </a:rPr>
              <a:t>We built an end-to-end pipeline that gets within 0.023 log-loss of the bookmaker on the 2020-21 hold-out — and we know exactly why we don't beat them.</a:t>
            </a:r>
            <a:endParaRPr lang="en-US" sz="1500" dirty="0"/>
          </a:p>
        </p:txBody>
      </p:sp>
      <p:sp>
        <p:nvSpPr>
          <p:cNvPr id="12" name="Text 10"/>
          <p:cNvSpPr/>
          <p:nvPr/>
        </p:nvSpPr>
        <p:spPr>
          <a:xfrm>
            <a:off x="457200" y="2880360"/>
            <a:ext cx="4114800" cy="219456"/>
          </a:xfrm>
          <a:prstGeom prst="rect">
            <a:avLst/>
          </a:prstGeom>
          <a:noFill/>
          <a:ln/>
        </p:spPr>
        <p:txBody>
          <a:bodyPr wrap="square" lIns="0" tIns="0" rIns="0" bIns="0" rtlCol="0" anchor="ctr"/>
          <a:lstStyle/>
          <a:p>
            <a:pPr indent="0" marL="0">
              <a:buNone/>
            </a:pPr>
            <a:r>
              <a:rPr lang="en-US" sz="1000" b="1" spc="400" kern="0" dirty="0">
                <a:solidFill>
                  <a:srgbClr val="E07A5F"/>
                </a:solidFill>
                <a:latin typeface="Calibri" pitchFamily="34" charset="0"/>
                <a:ea typeface="Calibri" pitchFamily="34" charset="-122"/>
                <a:cs typeface="Calibri" pitchFamily="34" charset="-120"/>
              </a:rPr>
              <a:t>WHAT WAS ORIGINAL</a:t>
            </a:r>
            <a:endParaRPr lang="en-US" sz="1000" dirty="0"/>
          </a:p>
        </p:txBody>
      </p:sp>
      <p:sp>
        <p:nvSpPr>
          <p:cNvPr id="13" name="Text 11"/>
          <p:cNvSpPr/>
          <p:nvPr/>
        </p:nvSpPr>
        <p:spPr>
          <a:xfrm>
            <a:off x="457200" y="3127248"/>
            <a:ext cx="4114800" cy="960120"/>
          </a:xfrm>
          <a:prstGeom prst="rect">
            <a:avLst/>
          </a:prstGeom>
          <a:noFill/>
          <a:ln/>
        </p:spPr>
        <p:txBody>
          <a:bodyPr wrap="square" lIns="0" tIns="0" rIns="0" bIns="0" rtlCol="0" anchor="ctr"/>
          <a:lstStyle/>
          <a:p>
            <a:pPr indent="0" marL="0">
              <a:lnSpc>
                <a:spcPct val="118000"/>
              </a:lnSpc>
              <a:spcAft>
                <a:spcPts val="100"/>
              </a:spcAft>
              <a:buNone/>
            </a:pPr>
            <a:r>
              <a:rPr lang="en-US" sz="950" b="1" dirty="0">
                <a:solidFill>
                  <a:srgbClr val="1F2933"/>
                </a:solidFill>
                <a:latin typeface="Calibri" pitchFamily="34" charset="0"/>
                <a:ea typeface="Calibri" pitchFamily="34" charset="-122"/>
                <a:cs typeface="Calibri" pitchFamily="34" charset="-120"/>
              </a:rPr>
              <a:t>Four-target framing</a:t>
            </a:r>
            <a:pPr indent="0" marL="0">
              <a:lnSpc>
                <a:spcPct val="118000"/>
              </a:lnSpc>
              <a:spcAft>
                <a:spcPts val="100"/>
              </a:spcAft>
              <a:buNone/>
            </a:pPr>
            <a:r>
              <a:rPr lang="en-US" sz="950" dirty="0">
                <a:solidFill>
                  <a:srgbClr val="5A6573"/>
                </a:solidFill>
                <a:latin typeface="Calibri" pitchFamily="34" charset="0"/>
                <a:ea typeface="Calibri" pitchFamily="34" charset="-122"/>
                <a:cs typeface="Calibri" pitchFamily="34" charset="-120"/>
              </a:rPr>
              <a:t> (H/D/A · exact score · table · ROI).
</a:t>
            </a:r>
            <a:pPr indent="0" marL="0">
              <a:lnSpc>
                <a:spcPct val="118000"/>
              </a:lnSpc>
              <a:spcAft>
                <a:spcPts val="100"/>
              </a:spcAft>
              <a:buNone/>
            </a:pPr>
            <a:r>
              <a:rPr lang="en-US" sz="950" b="1" dirty="0">
                <a:solidFill>
                  <a:srgbClr val="1F2933"/>
                </a:solidFill>
                <a:latin typeface="Calibri" pitchFamily="34" charset="0"/>
                <a:ea typeface="Calibri" pitchFamily="34" charset="-122"/>
                <a:cs typeface="Calibri" pitchFamily="34" charset="-120"/>
              </a:rPr>
              <a:t>Dixon-Coles 1997</a:t>
            </a:r>
            <a:pPr indent="0" marL="0">
              <a:lnSpc>
                <a:spcPct val="118000"/>
              </a:lnSpc>
              <a:spcAft>
                <a:spcPts val="100"/>
              </a:spcAft>
              <a:buNone/>
            </a:pPr>
            <a:r>
              <a:rPr lang="en-US" sz="950" dirty="0">
                <a:solidFill>
                  <a:srgbClr val="5A6573"/>
                </a:solidFill>
                <a:latin typeface="Calibri" pitchFamily="34" charset="0"/>
                <a:ea typeface="Calibri" pitchFamily="34" charset="-122"/>
                <a:cs typeface="Calibri" pitchFamily="34" charset="-120"/>
              </a:rPr>
              <a:t> hand-fit with tau + 0.0065/day decay.
</a:t>
            </a:r>
            <a:pPr indent="0" marL="0">
              <a:lnSpc>
                <a:spcPct val="118000"/>
              </a:lnSpc>
              <a:spcAft>
                <a:spcPts val="100"/>
              </a:spcAft>
              <a:buNone/>
            </a:pPr>
            <a:r>
              <a:rPr lang="en-US" sz="950" b="1" dirty="0">
                <a:solidFill>
                  <a:srgbClr val="1F2933"/>
                </a:solidFill>
                <a:latin typeface="Calibri" pitchFamily="34" charset="0"/>
                <a:ea typeface="Calibri" pitchFamily="34" charset="-122"/>
                <a:cs typeface="Calibri" pitchFamily="34" charset="-120"/>
              </a:rPr>
              <a:t>Multi-source self-scrape</a:t>
            </a:r>
            <a:pPr indent="0" marL="0">
              <a:lnSpc>
                <a:spcPct val="118000"/>
              </a:lnSpc>
              <a:spcAft>
                <a:spcPts val="100"/>
              </a:spcAft>
              <a:buNone/>
            </a:pPr>
            <a:r>
              <a:rPr lang="en-US" sz="950" dirty="0">
                <a:solidFill>
                  <a:srgbClr val="5A6573"/>
                </a:solidFill>
                <a:latin typeface="Calibri" pitchFamily="34" charset="0"/>
                <a:ea typeface="Calibri" pitchFamily="34" charset="-122"/>
                <a:cs typeface="Calibri" pitchFamily="34" charset="-120"/>
              </a:rPr>
              <a:t> — BBC pivot to Wikipedia recap NLP.
</a:t>
            </a:r>
            <a:pPr indent="0" marL="0">
              <a:lnSpc>
                <a:spcPct val="118000"/>
              </a:lnSpc>
              <a:spcAft>
                <a:spcPts val="100"/>
              </a:spcAft>
              <a:buNone/>
            </a:pPr>
            <a:r>
              <a:rPr lang="en-US" sz="950" b="1" dirty="0">
                <a:solidFill>
                  <a:srgbClr val="1F2933"/>
                </a:solidFill>
                <a:latin typeface="Calibri" pitchFamily="34" charset="0"/>
                <a:ea typeface="Calibri" pitchFamily="34" charset="-122"/>
                <a:cs typeface="Calibri" pitchFamily="34" charset="-120"/>
              </a:rPr>
              <a:t>Cross-paradigm features</a:t>
            </a:r>
            <a:pPr indent="0" marL="0">
              <a:lnSpc>
                <a:spcPct val="118000"/>
              </a:lnSpc>
              <a:spcAft>
                <a:spcPts val="100"/>
              </a:spcAft>
              <a:buNone/>
            </a:pPr>
            <a:r>
              <a:rPr lang="en-US" sz="950" dirty="0">
                <a:solidFill>
                  <a:srgbClr val="5A6573"/>
                </a:solidFill>
                <a:latin typeface="Calibri" pitchFamily="34" charset="0"/>
                <a:ea typeface="Calibri" pitchFamily="34" charset="-122"/>
                <a:cs typeface="Calibri" pitchFamily="34" charset="-120"/>
              </a:rPr>
              <a:t> — PCA + K-means feed supervised stack.
</a:t>
            </a:r>
            <a:pPr indent="0" marL="0">
              <a:lnSpc>
                <a:spcPct val="118000"/>
              </a:lnSpc>
              <a:spcAft>
                <a:spcPts val="100"/>
              </a:spcAft>
              <a:buNone/>
            </a:pPr>
            <a:r>
              <a:rPr lang="en-US" sz="950" b="1" dirty="0">
                <a:solidFill>
                  <a:srgbClr val="1F2933"/>
                </a:solidFill>
                <a:latin typeface="Calibri" pitchFamily="34" charset="0"/>
                <a:ea typeface="Calibri" pitchFamily="34" charset="-122"/>
                <a:cs typeface="Calibri" pitchFamily="34" charset="-120"/>
              </a:rPr>
              <a:t>Walk-forward + CI invariant</a:t>
            </a:r>
            <a:pPr indent="0" marL="0">
              <a:lnSpc>
                <a:spcPct val="118000"/>
              </a:lnSpc>
              <a:spcAft>
                <a:spcPts val="100"/>
              </a:spcAft>
              <a:buNone/>
            </a:pPr>
            <a:r>
              <a:rPr lang="en-US" sz="950" dirty="0">
                <a:solidFill>
                  <a:srgbClr val="5A6573"/>
                </a:solidFill>
                <a:latin typeface="Calibri" pitchFamily="34" charset="0"/>
                <a:ea typeface="Calibri" pitchFamily="34" charset="-122"/>
                <a:cs typeface="Calibri" pitchFamily="34" charset="-120"/>
              </a:rPr>
              <a:t> — leakage test runs on every push.
</a:t>
            </a:r>
            <a:pPr indent="0" marL="0">
              <a:lnSpc>
                <a:spcPct val="118000"/>
              </a:lnSpc>
              <a:spcAft>
                <a:spcPts val="100"/>
              </a:spcAft>
              <a:buNone/>
            </a:pPr>
            <a:r>
              <a:rPr lang="en-US" sz="950" b="1" dirty="0">
                <a:solidFill>
                  <a:srgbClr val="1F2933"/>
                </a:solidFill>
                <a:latin typeface="Calibri" pitchFamily="34" charset="0"/>
                <a:ea typeface="Calibri" pitchFamily="34" charset="-122"/>
                <a:cs typeface="Calibri" pitchFamily="34" charset="-120"/>
              </a:rPr>
              <a:t>Honest ceiling read</a:t>
            </a:r>
            <a:pPr indent="0" marL="0">
              <a:lnSpc>
                <a:spcPct val="118000"/>
              </a:lnSpc>
              <a:spcAft>
                <a:spcPts val="100"/>
              </a:spcAft>
              <a:buNone/>
            </a:pPr>
            <a:r>
              <a:rPr lang="en-US" sz="950" dirty="0">
                <a:solidFill>
                  <a:srgbClr val="5A6573"/>
                </a:solidFill>
                <a:latin typeface="Calibri" pitchFamily="34" charset="0"/>
                <a:ea typeface="Calibri" pitchFamily="34" charset="-122"/>
                <a:cs typeface="Calibri" pitchFamily="34" charset="-120"/>
              </a:rPr>
              <a:t> — within 0.023 of the market is the result.</a:t>
            </a:r>
            <a:endParaRPr lang="en-US" sz="950" dirty="0"/>
          </a:p>
        </p:txBody>
      </p:sp>
      <p:sp>
        <p:nvSpPr>
          <p:cNvPr id="14" name="Text 12"/>
          <p:cNvSpPr/>
          <p:nvPr/>
        </p:nvSpPr>
        <p:spPr>
          <a:xfrm>
            <a:off x="4754880" y="2880360"/>
            <a:ext cx="3931920" cy="219456"/>
          </a:xfrm>
          <a:prstGeom prst="rect">
            <a:avLst/>
          </a:prstGeom>
          <a:noFill/>
          <a:ln/>
        </p:spPr>
        <p:txBody>
          <a:bodyPr wrap="square" lIns="0" tIns="0" rIns="0" bIns="0" rtlCol="0" anchor="ctr"/>
          <a:lstStyle/>
          <a:p>
            <a:pPr indent="0" marL="0">
              <a:buNone/>
            </a:pPr>
            <a:r>
              <a:rPr lang="en-US" sz="1000" b="1" spc="400" kern="0" dirty="0">
                <a:solidFill>
                  <a:srgbClr val="13315C"/>
                </a:solidFill>
                <a:latin typeface="Calibri" pitchFamily="34" charset="0"/>
                <a:ea typeface="Calibri" pitchFamily="34" charset="-122"/>
                <a:cs typeface="Calibri" pitchFamily="34" charset="-120"/>
              </a:rPr>
              <a:t>FUTURE WORK</a:t>
            </a:r>
            <a:endParaRPr lang="en-US" sz="1000" dirty="0"/>
          </a:p>
        </p:txBody>
      </p:sp>
      <p:sp>
        <p:nvSpPr>
          <p:cNvPr id="15" name="Text 13"/>
          <p:cNvSpPr/>
          <p:nvPr/>
        </p:nvSpPr>
        <p:spPr>
          <a:xfrm>
            <a:off x="4754880" y="3127248"/>
            <a:ext cx="3931920" cy="960120"/>
          </a:xfrm>
          <a:prstGeom prst="rect">
            <a:avLst/>
          </a:prstGeom>
          <a:noFill/>
          <a:ln/>
        </p:spPr>
        <p:txBody>
          <a:bodyPr wrap="square" lIns="0" tIns="0" rIns="0" bIns="0" rtlCol="0" anchor="ctr"/>
          <a:lstStyle/>
          <a:p>
            <a:pPr indent="0" marL="0">
              <a:lnSpc>
                <a:spcPct val="122000"/>
              </a:lnSpc>
              <a:spcAft>
                <a:spcPts val="200"/>
              </a:spcAft>
              <a:buNone/>
            </a:pPr>
            <a:r>
              <a:rPr lang="en-US" sz="1000" b="1" dirty="0">
                <a:solidFill>
                  <a:srgbClr val="1F2933"/>
                </a:solidFill>
                <a:latin typeface="Calibri" pitchFamily="34" charset="0"/>
                <a:ea typeface="Calibri" pitchFamily="34" charset="-122"/>
                <a:cs typeface="Calibri" pitchFamily="34" charset="-120"/>
              </a:rPr>
              <a:t>In-play features.   </a:t>
            </a:r>
            <a:pPr indent="0" marL="0">
              <a:lnSpc>
                <a:spcPct val="122000"/>
              </a:lnSpc>
              <a:spcAft>
                <a:spcPts val="200"/>
              </a:spcAft>
              <a:buNone/>
            </a:pPr>
            <a:r>
              <a:rPr lang="en-US" sz="1000" dirty="0">
                <a:solidFill>
                  <a:srgbClr val="5A6573"/>
                </a:solidFill>
                <a:latin typeface="Calibri" pitchFamily="34" charset="0"/>
                <a:ea typeface="Calibri" pitchFamily="34" charset="-122"/>
                <a:cs typeface="Calibri" pitchFamily="34" charset="-120"/>
              </a:rPr>
              <a:t>Live xG, possession-by-half, lineup-strength deltas.
</a:t>
            </a:r>
            <a:pPr indent="0" marL="0">
              <a:lnSpc>
                <a:spcPct val="122000"/>
              </a:lnSpc>
              <a:spcAft>
                <a:spcPts val="200"/>
              </a:spcAft>
              <a:buNone/>
            </a:pPr>
            <a:r>
              <a:rPr lang="en-US" sz="1000" b="1" dirty="0">
                <a:solidFill>
                  <a:srgbClr val="1F2933"/>
                </a:solidFill>
                <a:latin typeface="Calibri" pitchFamily="34" charset="0"/>
                <a:ea typeface="Calibri" pitchFamily="34" charset="-122"/>
                <a:cs typeface="Calibri" pitchFamily="34" charset="-120"/>
              </a:rPr>
              <a:t>Hierarchical Bayes.   </a:t>
            </a:r>
            <a:pPr indent="0" marL="0">
              <a:lnSpc>
                <a:spcPct val="122000"/>
              </a:lnSpc>
              <a:spcAft>
                <a:spcPts val="200"/>
              </a:spcAft>
              <a:buNone/>
            </a:pPr>
            <a:r>
              <a:rPr lang="en-US" sz="1000" dirty="0">
                <a:solidFill>
                  <a:srgbClr val="5A6573"/>
                </a:solidFill>
                <a:latin typeface="Calibri" pitchFamily="34" charset="0"/>
                <a:ea typeface="Calibri" pitchFamily="34" charset="-122"/>
                <a:cs typeface="Calibri" pitchFamily="34" charset="-120"/>
              </a:rPr>
              <a:t>Borrow strength across seasons; cold-start for promoted clubs.
</a:t>
            </a:r>
            <a:pPr indent="0" marL="0">
              <a:lnSpc>
                <a:spcPct val="122000"/>
              </a:lnSpc>
              <a:spcAft>
                <a:spcPts val="200"/>
              </a:spcAft>
              <a:buNone/>
            </a:pPr>
            <a:r>
              <a:rPr lang="en-US" sz="1000" b="1" dirty="0">
                <a:solidFill>
                  <a:srgbClr val="1F2933"/>
                </a:solidFill>
                <a:latin typeface="Calibri" pitchFamily="34" charset="0"/>
                <a:ea typeface="Calibri" pitchFamily="34" charset="-122"/>
                <a:cs typeface="Calibri" pitchFamily="34" charset="-120"/>
              </a:rPr>
              <a:t>Stacked ensemble.   </a:t>
            </a:r>
            <a:pPr indent="0" marL="0">
              <a:lnSpc>
                <a:spcPct val="122000"/>
              </a:lnSpc>
              <a:spcAft>
                <a:spcPts val="200"/>
              </a:spcAft>
              <a:buNone/>
            </a:pPr>
            <a:r>
              <a:rPr lang="en-US" sz="1000" dirty="0">
                <a:solidFill>
                  <a:srgbClr val="5A6573"/>
                </a:solidFill>
                <a:latin typeface="Calibri" pitchFamily="34" charset="0"/>
                <a:ea typeface="Calibri" pitchFamily="34" charset="-122"/>
                <a:cs typeface="Calibri" pitchFamily="34" charset="-120"/>
              </a:rPr>
              <a:t>Blend RF + Dixon-Coles + market on a validation slice.</a:t>
            </a:r>
            <a:endParaRPr lang="en-US" sz="1000" dirty="0"/>
          </a:p>
        </p:txBody>
      </p:sp>
      <p:sp>
        <p:nvSpPr>
          <p:cNvPr id="16" name="Shape 14"/>
          <p:cNvSpPr/>
          <p:nvPr/>
        </p:nvSpPr>
        <p:spPr>
          <a:xfrm>
            <a:off x="457200" y="4251960"/>
            <a:ext cx="8229600" cy="411480"/>
          </a:xfrm>
          <a:prstGeom prst="rect">
            <a:avLst/>
          </a:prstGeom>
          <a:solidFill>
            <a:srgbClr val="B9D9EB"/>
          </a:solidFill>
          <a:ln/>
        </p:spPr>
      </p:sp>
      <p:sp>
        <p:nvSpPr>
          <p:cNvPr id="17" name="Text 15"/>
          <p:cNvSpPr/>
          <p:nvPr/>
        </p:nvSpPr>
        <p:spPr>
          <a:xfrm>
            <a:off x="457200" y="4251960"/>
            <a:ext cx="8229600" cy="411480"/>
          </a:xfrm>
          <a:prstGeom prst="rect">
            <a:avLst/>
          </a:prstGeom>
          <a:noFill/>
          <a:ln/>
        </p:spPr>
        <p:txBody>
          <a:bodyPr wrap="square" lIns="0" tIns="0" rIns="0" bIns="0" rtlCol="0" anchor="ctr"/>
          <a:lstStyle/>
          <a:p>
            <a:pPr algn="ctr" indent="0" marL="0">
              <a:buNone/>
            </a:pPr>
            <a:r>
              <a:rPr lang="en-US" sz="1400" b="1" dirty="0">
                <a:solidFill>
                  <a:srgbClr val="0B2545"/>
                </a:solidFill>
                <a:latin typeface="Georgia" pitchFamily="34" charset="0"/>
                <a:ea typeface="Georgia" pitchFamily="34" charset="-122"/>
                <a:cs typeface="Georgia" pitchFamily="34" charset="-120"/>
              </a:rPr>
              <a:t>Thank you.   </a:t>
            </a:r>
            <a:pPr algn="ctr" indent="0" marL="0">
              <a:buNone/>
            </a:pPr>
            <a:r>
              <a:rPr lang="en-US" sz="1400" i="1" dirty="0">
                <a:solidFill>
                  <a:srgbClr val="0B2545"/>
                </a:solidFill>
                <a:latin typeface="Georgia" pitchFamily="34" charset="0"/>
                <a:ea typeface="Georgia" pitchFamily="34" charset="-122"/>
                <a:cs typeface="Georgia" pitchFamily="34" charset="-120"/>
              </a:rPr>
              <a:t>Questions?   </a:t>
            </a:r>
            <a:pPr algn="ctr" indent="0" marL="0">
              <a:buNone/>
            </a:pPr>
            <a:r>
              <a:rPr lang="en-US" sz="1400" dirty="0">
                <a:solidFill>
                  <a:srgbClr val="13315C"/>
                </a:solidFill>
                <a:latin typeface="Consolas" pitchFamily="34" charset="0"/>
                <a:ea typeface="Consolas" pitchFamily="34" charset="-122"/>
                <a:cs typeface="Consolas" pitchFamily="34" charset="-120"/>
              </a:rPr>
              <a:t>github.com/ZemingLiang/STAT5243-Project-4</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Columbia University, STAT 5243</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End-to-End ML for the 2020-21 EPL Season</dc:title>
  <dc:subject>STAT 5243 Project 4 Final - Oral Presentation</dc:subject>
  <dc:creator>Zeming Liang, Xiying (Elina) Chen</dc:creator>
  <cp:lastModifiedBy>Zeming Liang, Xiying (Elina) Chen</cp:lastModifiedBy>
  <cp:revision>1</cp:revision>
  <dcterms:created xsi:type="dcterms:W3CDTF">2026-04-27T23:51:38Z</dcterms:created>
  <dcterms:modified xsi:type="dcterms:W3CDTF">2026-04-27T23:51:38Z</dcterms:modified>
</cp:coreProperties>
</file>